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4"/>
  </p:sldMasterIdLst>
  <p:notesMasterIdLst>
    <p:notesMasterId r:id="rId29"/>
  </p:notesMasterIdLst>
  <p:sldIdLst>
    <p:sldId id="256" r:id="rId5"/>
    <p:sldId id="298" r:id="rId6"/>
    <p:sldId id="331" r:id="rId7"/>
    <p:sldId id="300" r:id="rId8"/>
    <p:sldId id="301" r:id="rId9"/>
    <p:sldId id="302" r:id="rId10"/>
    <p:sldId id="303" r:id="rId11"/>
    <p:sldId id="317" r:id="rId12"/>
    <p:sldId id="315" r:id="rId13"/>
    <p:sldId id="316" r:id="rId14"/>
    <p:sldId id="319" r:id="rId15"/>
    <p:sldId id="322" r:id="rId16"/>
    <p:sldId id="323" r:id="rId17"/>
    <p:sldId id="304" r:id="rId18"/>
    <p:sldId id="324" r:id="rId19"/>
    <p:sldId id="305" r:id="rId20"/>
    <p:sldId id="306" r:id="rId21"/>
    <p:sldId id="307" r:id="rId22"/>
    <p:sldId id="308" r:id="rId23"/>
    <p:sldId id="310" r:id="rId24"/>
    <p:sldId id="311" r:id="rId25"/>
    <p:sldId id="329" r:id="rId26"/>
    <p:sldId id="312" r:id="rId27"/>
    <p:sldId id="333" r:id="rId2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B5D6DF6-DBA2-4EB3-BA22-380D2EB4F81E}">
          <p14:sldIdLst>
            <p14:sldId id="256"/>
            <p14:sldId id="298"/>
            <p14:sldId id="331"/>
            <p14:sldId id="300"/>
            <p14:sldId id="301"/>
            <p14:sldId id="302"/>
            <p14:sldId id="303"/>
            <p14:sldId id="317"/>
            <p14:sldId id="315"/>
            <p14:sldId id="316"/>
            <p14:sldId id="319"/>
            <p14:sldId id="322"/>
            <p14:sldId id="323"/>
            <p14:sldId id="304"/>
            <p14:sldId id="324"/>
            <p14:sldId id="305"/>
            <p14:sldId id="306"/>
            <p14:sldId id="307"/>
            <p14:sldId id="308"/>
            <p14:sldId id="310"/>
            <p14:sldId id="311"/>
            <p14:sldId id="329"/>
            <p14:sldId id="312"/>
            <p14:sldId id="33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9" autoAdjust="0"/>
    <p:restoredTop sz="96283" autoAdjust="0"/>
  </p:normalViewPr>
  <p:slideViewPr>
    <p:cSldViewPr snapToGrid="0">
      <p:cViewPr varScale="1">
        <p:scale>
          <a:sx n="82" d="100"/>
          <a:sy n="82" d="100"/>
        </p:scale>
        <p:origin x="192" y="84"/>
      </p:cViewPr>
      <p:guideLst>
        <p:guide orient="horz" pos="2160"/>
        <p:guide pos="3840"/>
      </p:guideLst>
    </p:cSldViewPr>
  </p:slideViewPr>
  <p:outlineViewPr>
    <p:cViewPr>
      <p:scale>
        <a:sx n="33" d="100"/>
        <a:sy n="33" d="100"/>
      </p:scale>
      <p:origin x="0" y="0"/>
    </p:cViewPr>
  </p:outlin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E8693-B0AC-4176-A30F-576DD1640CAC}" type="datetimeFigureOut">
              <a:rPr lang="it-IT" smtClean="0"/>
              <a:pPr/>
              <a:t>03/11/2019</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296E4-F426-4522-9653-9A4067BC24BE}" type="slidenum">
              <a:rPr lang="it-IT" smtClean="0"/>
              <a:pPr/>
              <a:t>‹#›</a:t>
            </a:fld>
            <a:endParaRPr lang="it-IT"/>
          </a:p>
        </p:txBody>
      </p:sp>
    </p:spTree>
    <p:extLst>
      <p:ext uri="{BB962C8B-B14F-4D97-AF65-F5344CB8AC3E}">
        <p14:creationId xmlns:p14="http://schemas.microsoft.com/office/powerpoint/2010/main" val="225118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2</a:t>
            </a:fld>
            <a:endParaRPr lang="it-IT"/>
          </a:p>
        </p:txBody>
      </p:sp>
    </p:spTree>
    <p:extLst>
      <p:ext uri="{BB962C8B-B14F-4D97-AF65-F5344CB8AC3E}">
        <p14:creationId xmlns:p14="http://schemas.microsoft.com/office/powerpoint/2010/main" val="327823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Prem Narain Sukhatme</a:t>
            </a:r>
          </a:p>
        </p:txBody>
      </p:sp>
      <p:sp>
        <p:nvSpPr>
          <p:cNvPr id="4" name="Slide Number Placeholder 3"/>
          <p:cNvSpPr>
            <a:spLocks noGrp="1"/>
          </p:cNvSpPr>
          <p:nvPr>
            <p:ph type="sldNum" sz="quarter" idx="10"/>
          </p:nvPr>
        </p:nvSpPr>
        <p:spPr/>
        <p:txBody>
          <a:bodyPr/>
          <a:lstStyle/>
          <a:p>
            <a:fld id="{3A8296E4-F426-4522-9653-9A4067BC24BE}" type="slidenum">
              <a:rPr lang="it-IT" smtClean="0"/>
              <a:pPr/>
              <a:t>4</a:t>
            </a:fld>
            <a:endParaRPr lang="it-IT"/>
          </a:p>
        </p:txBody>
      </p:sp>
    </p:spTree>
    <p:extLst>
      <p:ext uri="{BB962C8B-B14F-4D97-AF65-F5344CB8AC3E}">
        <p14:creationId xmlns:p14="http://schemas.microsoft.com/office/powerpoint/2010/main" val="2708676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5</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2000, Millennium Development Goal</a:t>
            </a:r>
            <a:r>
              <a:rPr lang="en-US" dirty="0"/>
              <a:t>.</a:t>
            </a:r>
            <a:r>
              <a:rPr lang="en-US" baseline="0" dirty="0"/>
              <a:t> </a:t>
            </a:r>
            <a:r>
              <a:rPr lang="en-US" dirty="0"/>
              <a:t>Reducing</a:t>
            </a:r>
            <a:r>
              <a:rPr lang="en-US" baseline="0" dirty="0"/>
              <a:t> by half the proportion of hunger people MDG target 1 (</a:t>
            </a:r>
            <a:r>
              <a:rPr lang="en-US" b="1" dirty="0"/>
              <a:t>0.1 %    </a:t>
            </a:r>
            <a:r>
              <a:rPr lang="en-US" dirty="0"/>
              <a:t>(2015)</a:t>
            </a:r>
            <a:r>
              <a:rPr lang="en-US" baseline="0" dirty="0"/>
              <a:t>    </a:t>
            </a:r>
            <a:r>
              <a:rPr lang="en-US" b="1" baseline="0" dirty="0"/>
              <a:t>0.05%</a:t>
            </a:r>
            <a:r>
              <a:rPr lang="en-US" baseline="0" dirty="0"/>
              <a:t>) = easier, because the number of hungry and the total number of population are increasing simultaneously and therefore the percentage won’t increase dramatically.</a:t>
            </a:r>
          </a:p>
          <a:p>
            <a:r>
              <a:rPr lang="en-US" b="1" baseline="0" dirty="0"/>
              <a:t>1996, World Food Summit</a:t>
            </a:r>
            <a:r>
              <a:rPr lang="en-US" baseline="0" dirty="0"/>
              <a:t>. Reducing the number of hungry to half  (</a:t>
            </a:r>
            <a:r>
              <a:rPr lang="en-US" b="1" baseline="0" dirty="0"/>
              <a:t>1000 000       </a:t>
            </a:r>
            <a:r>
              <a:rPr lang="en-US" baseline="0" dirty="0"/>
              <a:t>(2015)   </a:t>
            </a:r>
            <a:r>
              <a:rPr lang="en-US" b="1" baseline="0" dirty="0"/>
              <a:t>500 000</a:t>
            </a:r>
            <a:r>
              <a:rPr lang="en-US" baseline="0" dirty="0"/>
              <a:t>)  = more difficult as the population grows the number of hungry grows while the original number is fixed.  </a:t>
            </a:r>
          </a:p>
          <a:p>
            <a:r>
              <a:rPr lang="en-US" baseline="0" dirty="0"/>
              <a:t>But as the population grows it would be difficult to arrive to half of the original number </a:t>
            </a:r>
            <a:endParaRPr lang="en-US" dirty="0"/>
          </a:p>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6</a:t>
            </a:fld>
            <a:endParaRPr lang="it-IT"/>
          </a:p>
        </p:txBody>
      </p:sp>
    </p:spTree>
    <p:extLst>
      <p:ext uri="{BB962C8B-B14F-4D97-AF65-F5344CB8AC3E}">
        <p14:creationId xmlns:p14="http://schemas.microsoft.com/office/powerpoint/2010/main" val="2867879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Traditionally, the FAO approach to food security has been based on the assumption that the most important aspect to be monitored is the inadequacy in the quantity of the diet. According to this dietary energy approach, an individual is considered to be undernourished if the level of his/her habitual dietary energy intake is below the minimum dietary energy requirement assumed to be appropriated by nutritionists. </a:t>
            </a:r>
          </a:p>
          <a:p>
            <a:endParaRPr lang="en-US" dirty="0"/>
          </a:p>
          <a:p>
            <a:r>
              <a:rPr lang="en-US" dirty="0"/>
              <a:t>Two information are consequently essential in the dietary energy approach to the measurement of food security: </a:t>
            </a:r>
            <a:r>
              <a:rPr lang="en-US" b="1" dirty="0">
                <a:solidFill>
                  <a:srgbClr val="FF0000"/>
                </a:solidFill>
              </a:rPr>
              <a:t>dietary energy intakes and dietary energy requirements</a:t>
            </a:r>
            <a:r>
              <a:rPr lang="en-US" dirty="0"/>
              <a:t>. If it was possible to measure both individual habitual dietary energy intakes and requirements, then the prevalence of food inadequacy could be easily computed by counting how many individuals consume less than their requirements on habitual basis and divide by the total population . Nevertheless, this information is practically unobservable through normal socioeconomic data collection methods. As a matter of fact, if it is true that intake surveys can provide estimates of habitual dietary energy intakes, the best information available </a:t>
            </a:r>
            <a:r>
              <a:rPr lang="en-US" b="1" dirty="0"/>
              <a:t>concerning dietary energy requirements is </a:t>
            </a:r>
            <a:r>
              <a:rPr lang="en-US" dirty="0"/>
              <a:t>given by normative tables recommended by international expert groups referring to average individuals classified by sex and age. </a:t>
            </a:r>
          </a:p>
          <a:p>
            <a:endParaRPr lang="en-US" dirty="0"/>
          </a:p>
          <a:p>
            <a:r>
              <a:rPr lang="en-US" dirty="0"/>
              <a:t>As</a:t>
            </a:r>
            <a:r>
              <a:rPr lang="en-US" baseline="0" dirty="0"/>
              <a:t> a matter of fact, energy requirements depend on several factors. At the level of the individual, it is a relatively straightforward procedure to include the effects of </a:t>
            </a:r>
            <a:r>
              <a:rPr lang="en-US" b="1" baseline="0" dirty="0"/>
              <a:t>age, sex, body size and physical activity</a:t>
            </a:r>
            <a:r>
              <a:rPr lang="en-US" baseline="0" dirty="0"/>
              <a:t>. Until recently, however, there has been controversy regarding certain influences that are not so well understood – notably, the possibility of the metabolic efficiency of energy utilization in an individual varying systematically in response to changes in energy intake. Since the time of The Fifth World Food Survey the consensus has been that, even if such intra-individual variation does occur, its magnitude is small in comparison with that of other sources of variation (James and Schofield, 1990). The approach adopted for the present survey therefore, is not to make any correction for such an effect but to assume that, if any such variation exists, it was taken into account along with the random sources of variance, such as short-term day-to-day changes, by averaging over a suitably long time so as to correspond to the “habitual” concept.</a:t>
            </a:r>
          </a:p>
          <a:p>
            <a:endParaRPr lang="en-US" baseline="0" dirty="0"/>
          </a:p>
          <a:p>
            <a:r>
              <a:rPr lang="en-US" baseline="0" dirty="0"/>
              <a:t>The human body requires dietary energy intake for its energy expenditure, the principal component of which are: </a:t>
            </a:r>
            <a:r>
              <a:rPr lang="en-US" baseline="0" dirty="0" err="1"/>
              <a:t>i</a:t>
            </a:r>
            <a:r>
              <a:rPr lang="en-US" b="1" baseline="0" dirty="0"/>
              <a:t>) the basal metabolic rate (BMR</a:t>
            </a:r>
            <a:r>
              <a:rPr lang="en-US" baseline="0" dirty="0"/>
              <a:t>), i.e. the energy expended for the </a:t>
            </a:r>
            <a:r>
              <a:rPr lang="en-US" b="1" baseline="0" dirty="0"/>
              <a:t>functioning of the organism </a:t>
            </a:r>
            <a:r>
              <a:rPr lang="en-US" baseline="0" dirty="0"/>
              <a:t>when the individual is in a state of complete rest; ii) the </a:t>
            </a:r>
            <a:r>
              <a:rPr lang="en-US" b="1" baseline="0" dirty="0"/>
              <a:t>energy needed for digesting and metabolizing food and storing tissues during growth</a:t>
            </a:r>
            <a:r>
              <a:rPr lang="en-US" baseline="0" dirty="0"/>
              <a:t>; iii) the energy expended in </a:t>
            </a:r>
            <a:r>
              <a:rPr lang="en-US" b="1" baseline="0" dirty="0"/>
              <a:t>physical activities</a:t>
            </a:r>
            <a:r>
              <a:rPr lang="en-US" baseline="0" dirty="0"/>
              <a:t>, both productive work and non-work (leisure) activities. Some additional energy is required by children to </a:t>
            </a:r>
            <a:r>
              <a:rPr lang="en-US" b="1" baseline="0" dirty="0"/>
              <a:t>allow for physical growth </a:t>
            </a:r>
            <a:r>
              <a:rPr lang="en-US" baseline="0" dirty="0"/>
              <a:t>and by </a:t>
            </a:r>
            <a:r>
              <a:rPr lang="en-US" b="1" baseline="0" dirty="0"/>
              <a:t>pregnant and lactating women </a:t>
            </a:r>
            <a:r>
              <a:rPr lang="en-US" baseline="0" dirty="0"/>
              <a:t>for the deposition of </a:t>
            </a:r>
            <a:r>
              <a:rPr lang="en-US" baseline="0" dirty="0" err="1"/>
              <a:t>foetal</a:t>
            </a:r>
            <a:r>
              <a:rPr lang="en-US" baseline="0" dirty="0"/>
              <a:t> tissue and the secretion of milk.</a:t>
            </a:r>
          </a:p>
          <a:p>
            <a:endParaRPr lang="en-US" baseline="0" dirty="0"/>
          </a:p>
          <a:p>
            <a:r>
              <a:rPr lang="en-US" baseline="0" dirty="0"/>
              <a:t>An individual is considered to be in a </a:t>
            </a:r>
            <a:r>
              <a:rPr lang="en-US" b="1" baseline="0" dirty="0"/>
              <a:t>steady state or in a state of energy balance </a:t>
            </a:r>
            <a:r>
              <a:rPr lang="en-US" baseline="0" dirty="0"/>
              <a:t>if his or her total </a:t>
            </a:r>
            <a:r>
              <a:rPr lang="en-US" b="1" baseline="0" dirty="0"/>
              <a:t>energy intake </a:t>
            </a:r>
            <a:r>
              <a:rPr lang="en-US" baseline="0" dirty="0"/>
              <a:t>equals his or her </a:t>
            </a:r>
            <a:r>
              <a:rPr lang="en-US" b="1" baseline="0" dirty="0"/>
              <a:t>total energy expenditure</a:t>
            </a:r>
            <a:r>
              <a:rPr lang="en-US" baseline="0" dirty="0"/>
              <a:t>. The concept of a steady </a:t>
            </a:r>
            <a:r>
              <a:rPr lang="en-US" b="1" baseline="0" dirty="0"/>
              <a:t>state or state of energy balance </a:t>
            </a:r>
            <a:r>
              <a:rPr lang="en-US" baseline="0" dirty="0"/>
              <a:t>is </a:t>
            </a:r>
            <a:r>
              <a:rPr lang="en-US" b="1" baseline="0" dirty="0"/>
              <a:t>notional</a:t>
            </a:r>
            <a:r>
              <a:rPr lang="en-US" baseline="0" dirty="0"/>
              <a:t> – </a:t>
            </a:r>
            <a:r>
              <a:rPr lang="en-US" b="1" baseline="0" dirty="0"/>
              <a:t>no one is ever in an absolutely steady stat</a:t>
            </a:r>
            <a:r>
              <a:rPr lang="en-US" baseline="0" dirty="0"/>
              <a:t>e (FAO/WHO/UNU, 1985, p.20). However, while on a day-to-day basis there is often no fine matching between intake and expenditure, </a:t>
            </a:r>
            <a:r>
              <a:rPr lang="en-US" b="1" baseline="0" dirty="0"/>
              <a:t>over a longer period an individual is (on average) expected to achieve an energy balance </a:t>
            </a:r>
            <a:r>
              <a:rPr lang="en-US" baseline="0" dirty="0"/>
              <a:t>(James and Schofield, 1990, p.39). </a:t>
            </a:r>
          </a:p>
          <a:p>
            <a:endParaRPr lang="en-US" baseline="0" dirty="0"/>
          </a:p>
          <a:p>
            <a:endParaRPr lang="en-US" dirty="0"/>
          </a:p>
          <a:p>
            <a:r>
              <a:rPr lang="en-US" dirty="0"/>
              <a:t>The existence of a range of requirements for each individual with a given sex and age generates the impossibility to understand whether the individual consumes according to his/her needs or not. As a result</a:t>
            </a:r>
            <a:r>
              <a:rPr lang="en-US" b="1" dirty="0"/>
              <a:t>, the counting exercise is simply impossible</a:t>
            </a:r>
            <a:r>
              <a:rPr lang="en-US" dirty="0"/>
              <a:t>. Nevertheless, we know that </a:t>
            </a:r>
            <a:r>
              <a:rPr lang="en-US" b="1" dirty="0"/>
              <a:t>dietary energy intakes and requirements are correlated </a:t>
            </a:r>
            <a:r>
              <a:rPr lang="en-US" dirty="0"/>
              <a:t>as individuals tend, in the long term, to </a:t>
            </a:r>
            <a:r>
              <a:rPr lang="en-US" b="1" dirty="0"/>
              <a:t>adjust their intakes to their requirements</a:t>
            </a:r>
            <a:r>
              <a:rPr lang="en-US" dirty="0"/>
              <a:t>, thus to consume according to their needs (FAO, 1996, p. 117). Because of this dependency between dietary energy intakes and requirements the problem of the estimation (and not the measurement) </a:t>
            </a:r>
            <a:r>
              <a:rPr lang="en-US" b="1" dirty="0"/>
              <a:t>of the </a:t>
            </a:r>
            <a:r>
              <a:rPr lang="en-US" b="1" dirty="0" err="1"/>
              <a:t>PoU</a:t>
            </a:r>
            <a:r>
              <a:rPr lang="en-US" b="1" dirty="0"/>
              <a:t> can be addressed within a probability distribution.</a:t>
            </a:r>
          </a:p>
          <a:p>
            <a:endParaRPr lang="en-US" dirty="0"/>
          </a:p>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8</a:t>
            </a:fld>
            <a:endParaRPr lang="it-IT"/>
          </a:p>
        </p:txBody>
      </p:sp>
    </p:spTree>
    <p:extLst>
      <p:ext uri="{BB962C8B-B14F-4D97-AF65-F5344CB8AC3E}">
        <p14:creationId xmlns:p14="http://schemas.microsoft.com/office/powerpoint/2010/main" val="1855133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10</a:t>
            </a:fld>
            <a:endParaRPr lang="it-IT"/>
          </a:p>
        </p:txBody>
      </p:sp>
    </p:spTree>
    <p:extLst>
      <p:ext uri="{BB962C8B-B14F-4D97-AF65-F5344CB8AC3E}">
        <p14:creationId xmlns:p14="http://schemas.microsoft.com/office/powerpoint/2010/main" val="3778695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11</a:t>
            </a:fld>
            <a:endParaRPr lang="it-IT"/>
          </a:p>
        </p:txBody>
      </p:sp>
    </p:spTree>
    <p:extLst>
      <p:ext uri="{BB962C8B-B14F-4D97-AF65-F5344CB8AC3E}">
        <p14:creationId xmlns:p14="http://schemas.microsoft.com/office/powerpoint/2010/main" val="1984084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12</a:t>
            </a:fld>
            <a:endParaRPr lang="it-IT"/>
          </a:p>
        </p:txBody>
      </p:sp>
    </p:spTree>
    <p:extLst>
      <p:ext uri="{BB962C8B-B14F-4D97-AF65-F5344CB8AC3E}">
        <p14:creationId xmlns:p14="http://schemas.microsoft.com/office/powerpoint/2010/main" val="2959062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discussed, the FAO Statistics</a:t>
            </a:r>
            <a:r>
              <a:rPr lang="en-US" baseline="0" dirty="0"/>
              <a:t> Division estimate the </a:t>
            </a:r>
            <a:r>
              <a:rPr lang="en-US" baseline="0" dirty="0" err="1"/>
              <a:t>PoU</a:t>
            </a:r>
            <a:r>
              <a:rPr lang="en-US" baseline="0" dirty="0"/>
              <a:t> using an aggregate probability distribution framework. Under this framework, the </a:t>
            </a:r>
            <a:r>
              <a:rPr lang="en-US" baseline="0" dirty="0" err="1"/>
              <a:t>PoU</a:t>
            </a:r>
            <a:r>
              <a:rPr lang="en-US" baseline="0" dirty="0"/>
              <a:t> indicator is defined as the probability that a randomly selected individual from the reference population is found to consume less than his/her calorie requirement for an active and healthy life.</a:t>
            </a:r>
            <a:endParaRPr lang="en-US" dirty="0"/>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More specifically, the distribution of the habitual dietary energy intake of a hypothetical average individual, representative of the population of analysis, is modelled through a </a:t>
            </a:r>
            <a:r>
              <a:rPr lang="en-US" sz="1200" b="1" kern="1200" dirty="0">
                <a:solidFill>
                  <a:schemeClr val="tx1"/>
                </a:solidFill>
                <a:effectLst/>
                <a:latin typeface="+mn-lt"/>
                <a:ea typeface="+mn-ea"/>
                <a:cs typeface="+mn-cs"/>
              </a:rPr>
              <a:t>parametric probability density function (pdf</a:t>
            </a:r>
            <a:r>
              <a:rPr lang="en-US" sz="1200" kern="1200" dirty="0">
                <a:solidFill>
                  <a:schemeClr val="tx1"/>
                </a:solidFill>
                <a:effectLst/>
                <a:latin typeface="+mn-lt"/>
                <a:ea typeface="+mn-ea"/>
                <a:cs typeface="+mn-cs"/>
              </a:rPr>
              <a:t>). Once the pdf is characterized by the level of the </a:t>
            </a:r>
            <a:r>
              <a:rPr lang="en-US" sz="1200" b="1" kern="1200" dirty="0">
                <a:solidFill>
                  <a:schemeClr val="tx1"/>
                </a:solidFill>
                <a:effectLst/>
                <a:latin typeface="+mn-lt"/>
                <a:ea typeface="+mn-ea"/>
                <a:cs typeface="+mn-cs"/>
              </a:rPr>
              <a:t>mean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dispersion and asymmetry</a:t>
            </a:r>
            <a:r>
              <a:rPr lang="en-US" sz="1200" kern="1200" dirty="0">
                <a:solidFill>
                  <a:schemeClr val="tx1"/>
                </a:solidFill>
                <a:effectLst/>
                <a:latin typeface="+mn-lt"/>
                <a:ea typeface="+mn-ea"/>
                <a:cs typeface="+mn-cs"/>
              </a:rPr>
              <a:t>, the </a:t>
            </a:r>
            <a:r>
              <a:rPr lang="en-US" sz="1200" kern="1200" dirty="0" err="1">
                <a:solidFill>
                  <a:schemeClr val="tx1"/>
                </a:solidFill>
                <a:effectLst/>
                <a:latin typeface="+mn-lt"/>
                <a:ea typeface="+mn-ea"/>
                <a:cs typeface="+mn-cs"/>
              </a:rPr>
              <a:t>PoU</a:t>
            </a:r>
            <a:r>
              <a:rPr lang="en-US" sz="1200" kern="1200" dirty="0">
                <a:solidFill>
                  <a:schemeClr val="tx1"/>
                </a:solidFill>
                <a:effectLst/>
                <a:latin typeface="+mn-lt"/>
                <a:ea typeface="+mn-ea"/>
                <a:cs typeface="+mn-cs"/>
              </a:rPr>
              <a:t> is obtained as the </a:t>
            </a:r>
            <a:r>
              <a:rPr lang="en-US" sz="1200" b="1" kern="1200" dirty="0">
                <a:solidFill>
                  <a:schemeClr val="tx1"/>
                </a:solidFill>
                <a:effectLst/>
                <a:latin typeface="+mn-lt"/>
                <a:ea typeface="+mn-ea"/>
                <a:cs typeface="+mn-cs"/>
              </a:rPr>
              <a:t>cumulative probability that daily habitual dietary energy intakes (x) are below the lower bound of the range of a normal distribution of dietary energy requirements for that representative (hypothetical average) individual (MDER).</a:t>
            </a:r>
          </a:p>
          <a:p>
            <a:endParaRPr lang="en-US" sz="1200" kern="1200" dirty="0">
              <a:solidFill>
                <a:schemeClr val="tx1"/>
              </a:solidFill>
              <a:effectLst/>
              <a:latin typeface="+mn-lt"/>
              <a:ea typeface="+mn-ea"/>
              <a:cs typeface="+mn-cs"/>
            </a:endParaRPr>
          </a:p>
          <a:p>
            <a:r>
              <a:rPr lang="en-US" sz="1200" b="0" i="0" u="none" strike="noStrike" kern="1200" baseline="0" dirty="0">
                <a:solidFill>
                  <a:schemeClr val="tx1"/>
                </a:solidFill>
                <a:latin typeface="+mn-lt"/>
                <a:ea typeface="+mn-ea"/>
                <a:cs typeface="+mn-cs"/>
              </a:rPr>
              <a:t>The parameters needed for the calculation of the indicator are: the mean level of dietary energy consumption (</a:t>
            </a:r>
            <a:r>
              <a:rPr lang="en-US" sz="1200" b="1" i="0" u="none" strike="noStrike" kern="1200" baseline="0" dirty="0">
                <a:solidFill>
                  <a:schemeClr val="tx1"/>
                </a:solidFill>
                <a:latin typeface="+mn-lt"/>
                <a:ea typeface="+mn-ea"/>
                <a:cs typeface="+mn-cs"/>
              </a:rPr>
              <a:t>DEC); </a:t>
            </a:r>
            <a:r>
              <a:rPr lang="en-US" sz="1200" b="0" i="0" u="none" strike="noStrike" kern="1200" baseline="0" dirty="0">
                <a:solidFill>
                  <a:schemeClr val="tx1"/>
                </a:solidFill>
                <a:latin typeface="+mn-lt"/>
                <a:ea typeface="+mn-ea"/>
                <a:cs typeface="+mn-cs"/>
              </a:rPr>
              <a:t>a cut-off point defined as the Minimum Dietary Energy Requirement </a:t>
            </a:r>
            <a:r>
              <a:rPr lang="en-US" sz="1200" b="1" i="0" u="none" strike="noStrike" kern="1200" baseline="0" dirty="0">
                <a:solidFill>
                  <a:schemeClr val="tx1"/>
                </a:solidFill>
                <a:latin typeface="+mn-lt"/>
                <a:ea typeface="+mn-ea"/>
                <a:cs typeface="+mn-cs"/>
              </a:rPr>
              <a:t>(MDER</a:t>
            </a:r>
            <a:r>
              <a:rPr lang="en-US" sz="1200" b="0" i="0" u="none" strike="noStrike" kern="1200" baseline="0" dirty="0">
                <a:solidFill>
                  <a:schemeClr val="tx1"/>
                </a:solidFill>
                <a:latin typeface="+mn-lt"/>
                <a:ea typeface="+mn-ea"/>
                <a:cs typeface="+mn-cs"/>
              </a:rPr>
              <a:t>); the coefficient of variation </a:t>
            </a:r>
            <a:r>
              <a:rPr lang="en-US" sz="1200" b="1" i="0" u="none" strike="noStrike" kern="1200" baseline="0" dirty="0">
                <a:solidFill>
                  <a:schemeClr val="tx1"/>
                </a:solidFill>
                <a:latin typeface="+mn-lt"/>
                <a:ea typeface="+mn-ea"/>
                <a:cs typeface="+mn-cs"/>
              </a:rPr>
              <a:t>(CV) </a:t>
            </a:r>
            <a:r>
              <a:rPr lang="en-US" sz="1200" b="0" i="0" u="none" strike="noStrike" kern="1200" baseline="0" dirty="0">
                <a:solidFill>
                  <a:schemeClr val="tx1"/>
                </a:solidFill>
                <a:latin typeface="+mn-lt"/>
                <a:ea typeface="+mn-ea"/>
                <a:cs typeface="+mn-cs"/>
              </a:rPr>
              <a:t>as a parameter accounting </a:t>
            </a:r>
            <a:r>
              <a:rPr lang="en-US" sz="1200" b="1" i="0" u="none" strike="noStrike" kern="1200" baseline="0" dirty="0">
                <a:solidFill>
                  <a:schemeClr val="tx1"/>
                </a:solidFill>
                <a:latin typeface="+mn-lt"/>
                <a:ea typeface="+mn-ea"/>
                <a:cs typeface="+mn-cs"/>
              </a:rPr>
              <a:t>for inequality in food consumption</a:t>
            </a:r>
            <a:r>
              <a:rPr lang="en-US" sz="1200" b="0" i="0" u="none" strike="noStrike" kern="1200" baseline="0" dirty="0">
                <a:solidFill>
                  <a:schemeClr val="tx1"/>
                </a:solidFill>
                <a:latin typeface="+mn-lt"/>
                <a:ea typeface="+mn-ea"/>
                <a:cs typeface="+mn-cs"/>
              </a:rPr>
              <a:t>; and </a:t>
            </a:r>
            <a:r>
              <a:rPr lang="en-US" sz="1200" b="1" i="0" u="none" strike="noStrike" kern="1200" baseline="0" dirty="0">
                <a:solidFill>
                  <a:schemeClr val="tx1"/>
                </a:solidFill>
                <a:latin typeface="+mn-lt"/>
                <a:ea typeface="+mn-ea"/>
                <a:cs typeface="+mn-cs"/>
              </a:rPr>
              <a:t>a skewness (SK) parameter accounting for asymmetry </a:t>
            </a:r>
            <a:r>
              <a:rPr lang="en-US" sz="1200" b="0" i="0" u="none" strike="noStrike" kern="1200" baseline="0" dirty="0">
                <a:solidFill>
                  <a:schemeClr val="tx1"/>
                </a:solidFill>
                <a:latin typeface="+mn-lt"/>
                <a:ea typeface="+mn-ea"/>
                <a:cs typeface="+mn-cs"/>
              </a:rPr>
              <a:t>in the distribution. </a:t>
            </a:r>
          </a:p>
          <a:p>
            <a:endParaRPr lang="en-US" sz="1200" b="0" i="0" u="none" strike="noStrike" kern="1200" baseline="0" dirty="0">
              <a:solidFill>
                <a:schemeClr val="tx1"/>
              </a:solidFill>
              <a:latin typeface="+mn-lt"/>
              <a:ea typeface="+mn-ea"/>
              <a:cs typeface="+mn-cs"/>
            </a:endParaRPr>
          </a:p>
          <a:p>
            <a:r>
              <a:rPr lang="en-US" sz="1200" kern="1200" dirty="0">
                <a:solidFill>
                  <a:schemeClr val="tx1"/>
                </a:solidFill>
                <a:effectLst/>
                <a:latin typeface="+mn-lt"/>
                <a:ea typeface="+mn-ea"/>
                <a:cs typeface="+mn-cs"/>
              </a:rPr>
              <a:t>The prevalence of undernourishment corresponds to the surface that is below the probability density function of intakes and the threshold that represents the </a:t>
            </a:r>
            <a:r>
              <a:rPr lang="en-US" sz="1200" b="1" kern="1200" dirty="0">
                <a:solidFill>
                  <a:schemeClr val="tx1"/>
                </a:solidFill>
                <a:effectLst/>
                <a:latin typeface="+mn-lt"/>
                <a:ea typeface="+mn-ea"/>
                <a:cs typeface="+mn-cs"/>
              </a:rPr>
              <a:t>minimum amount of calories necessary for a hypothetical average individual representative of the population</a:t>
            </a:r>
            <a:r>
              <a:rPr lang="en-US" sz="1200" kern="1200" dirty="0">
                <a:solidFill>
                  <a:schemeClr val="tx1"/>
                </a:solidFill>
                <a:effectLst/>
                <a:latin typeface="+mn-lt"/>
                <a:ea typeface="+mn-ea"/>
                <a:cs typeface="+mn-cs"/>
              </a:rPr>
              <a:t> to be in </a:t>
            </a:r>
            <a:r>
              <a:rPr lang="en-US" sz="1200" b="1" kern="1200" dirty="0">
                <a:solidFill>
                  <a:schemeClr val="tx1"/>
                </a:solidFill>
                <a:effectLst/>
                <a:latin typeface="+mn-lt"/>
                <a:ea typeface="+mn-ea"/>
                <a:cs typeface="+mn-cs"/>
              </a:rPr>
              <a:t>good health and maintain a level of activity socially acceptable</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will now focuses on the fundamentals elements of the </a:t>
            </a:r>
            <a:r>
              <a:rPr lang="en-US" sz="1200" kern="1200" dirty="0" err="1">
                <a:solidFill>
                  <a:schemeClr val="tx1"/>
                </a:solidFill>
                <a:effectLst/>
                <a:latin typeface="+mn-lt"/>
                <a:ea typeface="+mn-ea"/>
                <a:cs typeface="+mn-cs"/>
              </a:rPr>
              <a:t>PoU</a:t>
            </a:r>
            <a:r>
              <a:rPr lang="en-US" sz="1200" kern="1200" dirty="0">
                <a:solidFill>
                  <a:schemeClr val="tx1"/>
                </a:solidFill>
                <a:effectLst/>
                <a:latin typeface="+mn-lt"/>
                <a:ea typeface="+mn-ea"/>
                <a:cs typeface="+mn-cs"/>
              </a:rPr>
              <a:t>, namely:</a:t>
            </a:r>
          </a:p>
          <a:p>
            <a:pPr marL="228600" lvl="0" indent="-228600">
              <a:buFont typeface="+mj-lt"/>
              <a:buAutoNum type="arabicPeriod"/>
            </a:pPr>
            <a:r>
              <a:rPr lang="en-US" sz="1200" kern="1200" dirty="0">
                <a:solidFill>
                  <a:schemeClr val="tx1"/>
                </a:solidFill>
                <a:effectLst/>
                <a:latin typeface="+mn-lt"/>
                <a:ea typeface="+mn-ea"/>
                <a:cs typeface="+mn-cs"/>
              </a:rPr>
              <a:t>The choice of the </a:t>
            </a:r>
            <a:r>
              <a:rPr lang="en-US" sz="1200" b="1" kern="1200" dirty="0">
                <a:solidFill>
                  <a:schemeClr val="tx1"/>
                </a:solidFill>
                <a:effectLst/>
                <a:latin typeface="+mn-lt"/>
                <a:ea typeface="+mn-ea"/>
                <a:cs typeface="+mn-cs"/>
              </a:rPr>
              <a:t>functional form of the distribution of the dietary energy intake</a:t>
            </a:r>
            <a:r>
              <a:rPr lang="en-US" sz="1200" kern="1200" dirty="0">
                <a:solidFill>
                  <a:schemeClr val="tx1"/>
                </a:solidFill>
                <a:effectLst/>
                <a:latin typeface="+mn-lt"/>
                <a:ea typeface="+mn-ea"/>
                <a:cs typeface="+mn-cs"/>
              </a:rPr>
              <a:t>, and the estimation of its </a:t>
            </a:r>
            <a:r>
              <a:rPr lang="en-US" sz="1200" b="1" kern="1200" dirty="0">
                <a:solidFill>
                  <a:schemeClr val="tx1"/>
                </a:solidFill>
                <a:effectLst/>
                <a:latin typeface="+mn-lt"/>
                <a:ea typeface="+mn-ea"/>
                <a:cs typeface="+mn-cs"/>
              </a:rPr>
              <a:t>asymmetry by the skewness (SK)</a:t>
            </a:r>
          </a:p>
          <a:p>
            <a:pPr marL="228600" lvl="0" indent="-228600">
              <a:buFont typeface="+mj-lt"/>
              <a:buAutoNum type="arabicPeriod"/>
            </a:pPr>
            <a:r>
              <a:rPr lang="en-US" sz="1200" kern="1200" dirty="0">
                <a:solidFill>
                  <a:schemeClr val="tx1"/>
                </a:solidFill>
                <a:effectLst/>
                <a:latin typeface="+mn-lt"/>
                <a:ea typeface="+mn-ea"/>
                <a:cs typeface="+mn-cs"/>
              </a:rPr>
              <a:t>The source of food consumption data and the estimation of </a:t>
            </a:r>
            <a:r>
              <a:rPr lang="en-US" sz="1200" b="1" kern="1200" dirty="0">
                <a:solidFill>
                  <a:schemeClr val="tx1"/>
                </a:solidFill>
                <a:effectLst/>
                <a:latin typeface="+mn-lt"/>
                <a:ea typeface="+mn-ea"/>
                <a:cs typeface="+mn-cs"/>
              </a:rPr>
              <a:t>the average dietary energy consumption (DEC</a:t>
            </a:r>
            <a:r>
              <a:rPr lang="en-US" sz="1200" kern="1200" dirty="0">
                <a:solidFill>
                  <a:schemeClr val="tx1"/>
                </a:solidFill>
                <a:effectLst/>
                <a:latin typeface="+mn-lt"/>
                <a:ea typeface="+mn-ea"/>
                <a:cs typeface="+mn-cs"/>
              </a:rPr>
              <a:t>)</a:t>
            </a:r>
          </a:p>
          <a:p>
            <a:pPr marL="228600" lvl="0" indent="-228600">
              <a:buFont typeface="+mj-lt"/>
              <a:buAutoNum type="arabicPeriod"/>
            </a:pPr>
            <a:r>
              <a:rPr lang="en-US" sz="1200" kern="1200" dirty="0">
                <a:solidFill>
                  <a:schemeClr val="tx1"/>
                </a:solidFill>
                <a:effectLst/>
                <a:latin typeface="+mn-lt"/>
                <a:ea typeface="+mn-ea"/>
                <a:cs typeface="+mn-cs"/>
              </a:rPr>
              <a:t>The measurement of inequality in access to food by the </a:t>
            </a:r>
            <a:r>
              <a:rPr lang="en-US" sz="1200" b="1" kern="1200" dirty="0">
                <a:solidFill>
                  <a:schemeClr val="tx1"/>
                </a:solidFill>
                <a:effectLst/>
                <a:latin typeface="+mn-lt"/>
                <a:ea typeface="+mn-ea"/>
                <a:cs typeface="+mn-cs"/>
              </a:rPr>
              <a:t>coefficient of Variation (CV)</a:t>
            </a:r>
          </a:p>
          <a:p>
            <a:pPr marL="228600" lvl="0" indent="-228600">
              <a:buFont typeface="+mj-lt"/>
              <a:buAutoNum type="arabicPeriod"/>
            </a:pPr>
            <a:r>
              <a:rPr lang="en-US" sz="1200" kern="1200" dirty="0">
                <a:solidFill>
                  <a:schemeClr val="tx1"/>
                </a:solidFill>
                <a:effectLst/>
                <a:latin typeface="+mn-lt"/>
                <a:ea typeface="+mn-ea"/>
                <a:cs typeface="+mn-cs"/>
              </a:rPr>
              <a:t>The measurement of the </a:t>
            </a:r>
            <a:r>
              <a:rPr lang="en-US" sz="1200" b="1" kern="1200" dirty="0">
                <a:solidFill>
                  <a:schemeClr val="tx1"/>
                </a:solidFill>
                <a:effectLst/>
                <a:latin typeface="+mn-lt"/>
                <a:ea typeface="+mn-ea"/>
                <a:cs typeface="+mn-cs"/>
              </a:rPr>
              <a:t>Minimum Dietary Energy Requirement (MDER</a:t>
            </a:r>
            <a:r>
              <a:rPr lang="en-US" sz="1200" kern="1200" dirty="0">
                <a:solidFill>
                  <a:schemeClr val="tx1"/>
                </a:solidFill>
                <a:effectLst/>
                <a:latin typeface="+mn-lt"/>
                <a:ea typeface="+mn-ea"/>
                <a:cs typeface="+mn-cs"/>
              </a:rPr>
              <a:t>), thus the threshold.</a:t>
            </a:r>
          </a:p>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14</a:t>
            </a:fld>
            <a:endParaRPr lang="it-IT"/>
          </a:p>
        </p:txBody>
      </p:sp>
    </p:spTree>
    <p:extLst>
      <p:ext uri="{BB962C8B-B14F-4D97-AF65-F5344CB8AC3E}">
        <p14:creationId xmlns:p14="http://schemas.microsoft.com/office/powerpoint/2010/main" val="288945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15</a:t>
            </a:fld>
            <a:endParaRPr lang="it-IT"/>
          </a:p>
        </p:txBody>
      </p:sp>
    </p:spTree>
    <p:extLst>
      <p:ext uri="{BB962C8B-B14F-4D97-AF65-F5344CB8AC3E}">
        <p14:creationId xmlns:p14="http://schemas.microsoft.com/office/powerpoint/2010/main" val="4022004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16</a:t>
            </a:fld>
            <a:endParaRPr lang="it-IT"/>
          </a:p>
        </p:txBody>
      </p:sp>
    </p:spTree>
    <p:extLst>
      <p:ext uri="{BB962C8B-B14F-4D97-AF65-F5344CB8AC3E}">
        <p14:creationId xmlns:p14="http://schemas.microsoft.com/office/powerpoint/2010/main" val="730263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17</a:t>
            </a:fld>
            <a:endParaRPr lang="it-IT"/>
          </a:p>
        </p:txBody>
      </p:sp>
    </p:spTree>
    <p:extLst>
      <p:ext uri="{BB962C8B-B14F-4D97-AF65-F5344CB8AC3E}">
        <p14:creationId xmlns:p14="http://schemas.microsoft.com/office/powerpoint/2010/main" val="1020978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18</a:t>
            </a:fld>
            <a:endParaRPr lang="it-IT"/>
          </a:p>
        </p:txBody>
      </p:sp>
    </p:spTree>
    <p:extLst>
      <p:ext uri="{BB962C8B-B14F-4D97-AF65-F5344CB8AC3E}">
        <p14:creationId xmlns:p14="http://schemas.microsoft.com/office/powerpoint/2010/main" val="1001154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21</a:t>
            </a:fld>
            <a:endParaRPr lang="it-IT"/>
          </a:p>
        </p:txBody>
      </p:sp>
    </p:spTree>
    <p:extLst>
      <p:ext uri="{BB962C8B-B14F-4D97-AF65-F5344CB8AC3E}">
        <p14:creationId xmlns:p14="http://schemas.microsoft.com/office/powerpoint/2010/main" val="185607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0" algn="just">
              <a:buNone/>
            </a:pPr>
            <a:r>
              <a:rPr lang="en-TT" sz="2800" dirty="0" err="1"/>
              <a:t>Headcounting</a:t>
            </a:r>
            <a:r>
              <a:rPr lang="en-TT" sz="2800" dirty="0"/>
              <a:t> would be data demanding and methodologically problematic: </a:t>
            </a:r>
          </a:p>
          <a:p>
            <a:pPr marL="0" lvl="1" indent="0" algn="just">
              <a:buNone/>
            </a:pPr>
            <a:endParaRPr lang="en-TT" sz="2800" dirty="0"/>
          </a:p>
          <a:p>
            <a:pPr marL="0" lvl="1" indent="0" algn="just">
              <a:buNone/>
            </a:pPr>
            <a:r>
              <a:rPr lang="en-TT" sz="2800" dirty="0"/>
              <a:t>At the individual level</a:t>
            </a:r>
          </a:p>
          <a:p>
            <a:pPr lvl="1"/>
            <a:r>
              <a:rPr lang="en-TT" sz="2800" dirty="0"/>
              <a:t>Measuring requirements for each individual of a large population is infeasible since complex and costly laboratory protocols are needed;</a:t>
            </a:r>
          </a:p>
          <a:p>
            <a:pPr lvl="1"/>
            <a:r>
              <a:rPr lang="en-TT" sz="2800" dirty="0"/>
              <a:t>The energy requirements were defined for groups of individuals and so they cannot be used to specify the energy requirement of an individual;</a:t>
            </a:r>
          </a:p>
          <a:p>
            <a:pPr lvl="1"/>
            <a:r>
              <a:rPr lang="en-TT" sz="2800" dirty="0"/>
              <a:t>Due to the day-to-day variation of food intake we can rarely observed the individual’s long-term habitual dietary energy intake.</a:t>
            </a:r>
            <a:endParaRPr lang="en-US" sz="2800" dirty="0">
              <a:latin typeface="Cambria" panose="02040503050406030204" pitchFamily="18" charset="0"/>
            </a:endParaRPr>
          </a:p>
          <a:p>
            <a:endParaRPr lang="en-US" dirty="0"/>
          </a:p>
          <a:p>
            <a:pPr marL="0" lvl="1" indent="0" algn="just">
              <a:buNone/>
            </a:pPr>
            <a:r>
              <a:rPr lang="en-TT" sz="2800" dirty="0"/>
              <a:t>At the household level</a:t>
            </a:r>
          </a:p>
          <a:p>
            <a:pPr lvl="1"/>
            <a:r>
              <a:rPr lang="en-TT" sz="2800" dirty="0"/>
              <a:t>Survey tools capture food consumption during a short period of time (e.g. 7 or 14 days) so dietary energy of individual households do not reflect the habitual dietary energy consumption</a:t>
            </a:r>
            <a:r>
              <a:rPr lang="en-US" sz="2800" dirty="0">
                <a:latin typeface="Cambria" panose="02040503050406030204" pitchFamily="18" charset="0"/>
              </a:rPr>
              <a:t>;</a:t>
            </a:r>
            <a:endParaRPr lang="en-TT" sz="2800" dirty="0"/>
          </a:p>
          <a:p>
            <a:pPr lvl="1"/>
            <a:r>
              <a:rPr lang="en-TT" sz="2800" dirty="0"/>
              <a:t>The dietary energy consumed by each individual household in the reference period would likely be biased, especially if HCES collect information on food acquisition rather than consumption;</a:t>
            </a:r>
          </a:p>
          <a:p>
            <a:pPr lvl="1"/>
            <a:r>
              <a:rPr lang="en-TT" sz="2800" dirty="0"/>
              <a:t>Even if the household average dietary energy consumption meets the household average energy requirements due to the possibility of non self-selection of food within the household there is no assurance that food is distributed according to the household members dietary energy requirements.</a:t>
            </a:r>
          </a:p>
          <a:p>
            <a:endParaRPr lang="en-US" dirty="0"/>
          </a:p>
        </p:txBody>
      </p:sp>
      <p:sp>
        <p:nvSpPr>
          <p:cNvPr id="4" name="Slide Number Placeholder 3"/>
          <p:cNvSpPr>
            <a:spLocks noGrp="1"/>
          </p:cNvSpPr>
          <p:nvPr>
            <p:ph type="sldNum" sz="quarter" idx="10"/>
          </p:nvPr>
        </p:nvSpPr>
        <p:spPr/>
        <p:txBody>
          <a:bodyPr/>
          <a:lstStyle/>
          <a:p>
            <a:fld id="{3A8296E4-F426-4522-9653-9A4067BC24BE}" type="slidenum">
              <a:rPr lang="it-IT" smtClean="0"/>
              <a:pPr/>
              <a:t>23</a:t>
            </a:fld>
            <a:endParaRPr lang="it-IT"/>
          </a:p>
        </p:txBody>
      </p:sp>
    </p:spTree>
    <p:extLst>
      <p:ext uri="{BB962C8B-B14F-4D97-AF65-F5344CB8AC3E}">
        <p14:creationId xmlns:p14="http://schemas.microsoft.com/office/powerpoint/2010/main" val="121020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88776" y="1122363"/>
            <a:ext cx="8579224" cy="2387600"/>
          </a:xfrm>
        </p:spPr>
        <p:txBody>
          <a:bodyPr anchor="b"/>
          <a:lstStyle>
            <a:lvl1pPr algn="ctr">
              <a:defRPr sz="6000">
                <a:solidFill>
                  <a:schemeClr val="accent1"/>
                </a:solidFill>
              </a:defRPr>
            </a:lvl1pPr>
          </a:lstStyle>
          <a:p>
            <a:r>
              <a:rPr lang="en-US" dirty="0"/>
              <a:t>Click to edit Master title style</a:t>
            </a:r>
            <a:endParaRPr lang="it-IT" dirty="0"/>
          </a:p>
        </p:txBody>
      </p:sp>
      <p:sp>
        <p:nvSpPr>
          <p:cNvPr id="3" name="Subtitle 2"/>
          <p:cNvSpPr>
            <a:spLocks noGrp="1"/>
          </p:cNvSpPr>
          <p:nvPr>
            <p:ph type="subTitle" idx="1"/>
          </p:nvPr>
        </p:nvSpPr>
        <p:spPr>
          <a:xfrm>
            <a:off x="2088776" y="3602038"/>
            <a:ext cx="8579224"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it-IT" dirty="0"/>
          </a:p>
        </p:txBody>
      </p:sp>
      <p:sp>
        <p:nvSpPr>
          <p:cNvPr id="4" name="Date Placeholder 3"/>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279201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5" name="Footer Placeholder 4"/>
          <p:cNvSpPr>
            <a:spLocks noGrp="1"/>
          </p:cNvSpPr>
          <p:nvPr>
            <p:ph type="ftr" sz="quarter" idx="11"/>
          </p:nvPr>
        </p:nvSpPr>
        <p:spPr/>
        <p:txBody>
          <a:bodyPr/>
          <a:lstStyle/>
          <a:p>
            <a:endParaRPr lang="it-IT" dirty="0"/>
          </a:p>
        </p:txBody>
      </p:sp>
      <p:sp>
        <p:nvSpPr>
          <p:cNvPr id="6" name="Slide Number Placeholder 5"/>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1463505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88776" y="1709738"/>
            <a:ext cx="9258674" cy="2852737"/>
          </a:xfrm>
        </p:spPr>
        <p:txBody>
          <a:bodyPr anchor="b"/>
          <a:lstStyle>
            <a:lvl1pPr>
              <a:defRPr sz="6000"/>
            </a:lvl1pPr>
          </a:lstStyle>
          <a:p>
            <a:r>
              <a:rPr lang="en-US"/>
              <a:t>Click to edit Master title style</a:t>
            </a:r>
            <a:endParaRPr lang="it-IT"/>
          </a:p>
        </p:txBody>
      </p:sp>
      <p:sp>
        <p:nvSpPr>
          <p:cNvPr id="3" name="Text Placeholder 2"/>
          <p:cNvSpPr>
            <a:spLocks noGrp="1"/>
          </p:cNvSpPr>
          <p:nvPr>
            <p:ph type="body" idx="1"/>
          </p:nvPr>
        </p:nvSpPr>
        <p:spPr>
          <a:xfrm>
            <a:off x="2088776" y="4589463"/>
            <a:ext cx="9258674"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3874083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Content Placeholder 2"/>
          <p:cNvSpPr>
            <a:spLocks noGrp="1"/>
          </p:cNvSpPr>
          <p:nvPr>
            <p:ph sz="half" idx="1"/>
          </p:nvPr>
        </p:nvSpPr>
        <p:spPr>
          <a:xfrm>
            <a:off x="2088776" y="1825625"/>
            <a:ext cx="3931024"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Date Placeholder 4"/>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3055655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6"/>
            <a:ext cx="9266612" cy="1316038"/>
          </a:xfrm>
        </p:spPr>
        <p:txBody>
          <a:bodyPr/>
          <a:lstStyle/>
          <a:p>
            <a:r>
              <a:rPr lang="en-US"/>
              <a:t>Click to edit Master title style</a:t>
            </a:r>
            <a:endParaRPr lang="it-IT"/>
          </a:p>
        </p:txBody>
      </p:sp>
      <p:sp>
        <p:nvSpPr>
          <p:cNvPr id="3" name="Text Placeholder 2"/>
          <p:cNvSpPr>
            <a:spLocks noGrp="1"/>
          </p:cNvSpPr>
          <p:nvPr>
            <p:ph type="body" idx="1"/>
          </p:nvPr>
        </p:nvSpPr>
        <p:spPr>
          <a:xfrm>
            <a:off x="2088776" y="1681163"/>
            <a:ext cx="390879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088776" y="2505075"/>
            <a:ext cx="3908799"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7" name="Date Placeholder 6"/>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4143281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Date Placeholder 2"/>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3229776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3515794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8776" y="457200"/>
            <a:ext cx="2683249" cy="1524000"/>
          </a:xfrm>
        </p:spPr>
        <p:txBody>
          <a:bodyPr anchor="b"/>
          <a:lstStyle>
            <a:lvl1pPr>
              <a:defRPr sz="3200"/>
            </a:lvl1pPr>
          </a:lstStyle>
          <a:p>
            <a:r>
              <a:rPr lang="en-US" dirty="0"/>
              <a:t>Click to edit Master title style</a:t>
            </a:r>
            <a:endParaRPr lang="it-IT"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Text Placeholder 3"/>
          <p:cNvSpPr>
            <a:spLocks noGrp="1"/>
          </p:cNvSpPr>
          <p:nvPr>
            <p:ph type="body" sz="half" idx="2"/>
          </p:nvPr>
        </p:nvSpPr>
        <p:spPr>
          <a:xfrm>
            <a:off x="2088776" y="2057400"/>
            <a:ext cx="268324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3370338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8776" y="457200"/>
            <a:ext cx="2683249" cy="1600200"/>
          </a:xfrm>
        </p:spPr>
        <p:txBody>
          <a:bodyPr anchor="b"/>
          <a:lstStyle>
            <a:lvl1pPr>
              <a:defRPr sz="3200"/>
            </a:lvl1pPr>
          </a:lstStyle>
          <a:p>
            <a:r>
              <a:rPr lang="en-US"/>
              <a:t>Click to edit Master title style</a:t>
            </a:r>
            <a:endParaRPr lang="it-IT"/>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Text Placeholder 3"/>
          <p:cNvSpPr>
            <a:spLocks noGrp="1"/>
          </p:cNvSpPr>
          <p:nvPr>
            <p:ph type="body" sz="half" idx="2"/>
          </p:nvPr>
        </p:nvSpPr>
        <p:spPr>
          <a:xfrm>
            <a:off x="2088776" y="2057400"/>
            <a:ext cx="268324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4095093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t-IT"/>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2400230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it-IT"/>
          </a:p>
        </p:txBody>
      </p:sp>
      <p:sp>
        <p:nvSpPr>
          <p:cNvPr id="3" name="Vertical Text Placeholder 2"/>
          <p:cNvSpPr>
            <a:spLocks noGrp="1"/>
          </p:cNvSpPr>
          <p:nvPr>
            <p:ph type="body" orient="vert" idx="1"/>
          </p:nvPr>
        </p:nvSpPr>
        <p:spPr>
          <a:xfrm>
            <a:off x="2088776" y="365125"/>
            <a:ext cx="648372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4" name="Date Placeholder 3"/>
          <p:cNvSpPr>
            <a:spLocks noGrp="1"/>
          </p:cNvSpPr>
          <p:nvPr>
            <p:ph type="dt" sz="half" idx="10"/>
          </p:nvPr>
        </p:nvSpPr>
        <p:spPr/>
        <p:txBody>
          <a:bodyPr/>
          <a:lstStyle/>
          <a:p>
            <a:fld id="{1032E0D9-C4D8-4B29-9FA3-DAFC7200622C}" type="datetimeFigureOut">
              <a:rPr lang="it-IT" smtClean="0"/>
              <a:pPr/>
              <a:t>03/11/2019</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1EAD98A-B986-4DE9-9307-38AF0675AE30}" type="slidenum">
              <a:rPr lang="it-IT" smtClean="0"/>
              <a:pPr/>
              <a:t>‹#›</a:t>
            </a:fld>
            <a:endParaRPr lang="it-IT"/>
          </a:p>
        </p:txBody>
      </p:sp>
    </p:spTree>
    <p:extLst>
      <p:ext uri="{BB962C8B-B14F-4D97-AF65-F5344CB8AC3E}">
        <p14:creationId xmlns:p14="http://schemas.microsoft.com/office/powerpoint/2010/main" val="317545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3.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8776" y="365125"/>
            <a:ext cx="9265024" cy="1325563"/>
          </a:xfrm>
          <a:prstGeom prst="rect">
            <a:avLst/>
          </a:prstGeom>
        </p:spPr>
        <p:txBody>
          <a:bodyPr vert="horz" lIns="91440" tIns="45720" rIns="91440" bIns="45720" rtlCol="0" anchor="ctr">
            <a:normAutofit/>
          </a:bodyPr>
          <a:lstStyle/>
          <a:p>
            <a:r>
              <a:rPr lang="en-US" dirty="0"/>
              <a:t>Click to edit Master title style</a:t>
            </a:r>
            <a:endParaRPr lang="it-IT" dirty="0"/>
          </a:p>
        </p:txBody>
      </p:sp>
      <p:sp>
        <p:nvSpPr>
          <p:cNvPr id="3" name="Text Placeholder 2"/>
          <p:cNvSpPr>
            <a:spLocks noGrp="1"/>
          </p:cNvSpPr>
          <p:nvPr>
            <p:ph type="body" idx="1"/>
          </p:nvPr>
        </p:nvSpPr>
        <p:spPr>
          <a:xfrm>
            <a:off x="2088776" y="1825625"/>
            <a:ext cx="9265024"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it-IT" dirty="0"/>
          </a:p>
        </p:txBody>
      </p:sp>
      <p:sp>
        <p:nvSpPr>
          <p:cNvPr id="4" name="Date Placeholder 3"/>
          <p:cNvSpPr>
            <a:spLocks noGrp="1"/>
          </p:cNvSpPr>
          <p:nvPr>
            <p:ph type="dt" sz="half" idx="2"/>
          </p:nvPr>
        </p:nvSpPr>
        <p:spPr>
          <a:xfrm>
            <a:off x="2088776" y="6356350"/>
            <a:ext cx="149262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32E0D9-C4D8-4B29-9FA3-DAFC7200622C}" type="datetimeFigureOut">
              <a:rPr lang="it-IT" smtClean="0"/>
              <a:pPr/>
              <a:t>03/11/2019</a:t>
            </a:fld>
            <a:endParaRPr lang="it-IT"/>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EAD98A-B986-4DE9-9307-38AF0675AE30}" type="slidenum">
              <a:rPr lang="it-IT" smtClean="0"/>
              <a:pPr/>
              <a:t>‹#›</a:t>
            </a:fld>
            <a:endParaRPr lang="it-IT"/>
          </a:p>
        </p:txBody>
      </p:sp>
      <p:sp>
        <p:nvSpPr>
          <p:cNvPr id="7" name="Rectangle 6"/>
          <p:cNvSpPr/>
          <p:nvPr userDrawn="1"/>
        </p:nvSpPr>
        <p:spPr>
          <a:xfrm>
            <a:off x="-893" y="0"/>
            <a:ext cx="1928664" cy="6858000"/>
          </a:xfrm>
          <a:prstGeom prst="rect">
            <a:avLst/>
          </a:prstGeom>
          <a:solidFill>
            <a:srgbClr val="4F77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93" y="0"/>
            <a:ext cx="19286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magine 2"/>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37029" y="5096218"/>
            <a:ext cx="2000936" cy="1772816"/>
          </a:xfrm>
          <a:prstGeom prst="rect">
            <a:avLst/>
          </a:prstGeom>
        </p:spPr>
      </p:pic>
      <p:sp>
        <p:nvSpPr>
          <p:cNvPr id="10" name="TextBox 9"/>
          <p:cNvSpPr txBox="1"/>
          <p:nvPr userDrawn="1"/>
        </p:nvSpPr>
        <p:spPr>
          <a:xfrm>
            <a:off x="98344" y="365125"/>
            <a:ext cx="1730189" cy="1815882"/>
          </a:xfrm>
          <a:prstGeom prst="rect">
            <a:avLst/>
          </a:prstGeom>
          <a:noFill/>
        </p:spPr>
        <p:txBody>
          <a:bodyPr wrap="square" rtlCol="0">
            <a:spAutoFit/>
          </a:bodyPr>
          <a:lstStyle/>
          <a:p>
            <a:pPr algn="ctr"/>
            <a:r>
              <a:rPr lang="it-IT" sz="1400" b="1" dirty="0">
                <a:solidFill>
                  <a:schemeClr val="bg1"/>
                </a:solidFill>
              </a:rPr>
              <a:t>Prevalence</a:t>
            </a:r>
          </a:p>
          <a:p>
            <a:pPr algn="ctr"/>
            <a:r>
              <a:rPr lang="it-IT" sz="1400" b="1" dirty="0">
                <a:solidFill>
                  <a:schemeClr val="bg1"/>
                </a:solidFill>
              </a:rPr>
              <a:t>of</a:t>
            </a:r>
          </a:p>
          <a:p>
            <a:pPr algn="ctr"/>
            <a:r>
              <a:rPr lang="it-IT" sz="1400" b="1" dirty="0">
                <a:solidFill>
                  <a:schemeClr val="bg1"/>
                </a:solidFill>
              </a:rPr>
              <a:t>Undernourishment (PoU)</a:t>
            </a:r>
          </a:p>
          <a:p>
            <a:pPr algn="ctr"/>
            <a:r>
              <a:rPr lang="it-IT" sz="1400" b="1" dirty="0">
                <a:solidFill>
                  <a:schemeClr val="bg1"/>
                </a:solidFill>
              </a:rPr>
              <a:t>_________________</a:t>
            </a:r>
          </a:p>
          <a:p>
            <a:pPr algn="ctr"/>
            <a:endParaRPr lang="it-IT" sz="1400" b="1" dirty="0">
              <a:solidFill>
                <a:schemeClr val="bg1"/>
              </a:solidFill>
            </a:endParaRPr>
          </a:p>
          <a:p>
            <a:pPr algn="ctr"/>
            <a:r>
              <a:rPr lang="it-IT" sz="1400" b="1" dirty="0">
                <a:solidFill>
                  <a:schemeClr val="bg1"/>
                </a:solidFill>
              </a:rPr>
              <a:t>SDG target indicator 2.1.1</a:t>
            </a:r>
          </a:p>
        </p:txBody>
      </p:sp>
      <p:pic>
        <p:nvPicPr>
          <p:cNvPr id="11" name="Picture 10"/>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9694" y="2181007"/>
            <a:ext cx="1768839" cy="1768839"/>
          </a:xfrm>
          <a:prstGeom prst="rect">
            <a:avLst/>
          </a:prstGeom>
        </p:spPr>
      </p:pic>
      <p:pic>
        <p:nvPicPr>
          <p:cNvPr id="12" name="Picture 11"/>
          <p:cNvPicPr>
            <a:picLocks noChangeAspect="1"/>
          </p:cNvPicPr>
          <p:nvPr userDrawn="1">
            <p:custDataLst>
              <p:tags r:id="rId13"/>
            </p:custDataLst>
          </p:nvPr>
        </p:nvPicPr>
        <p:blipFill>
          <a:blip r:embed="rId16" cstate="print"/>
          <a:stretch>
            <a:fillRect/>
          </a:stretch>
        </p:blipFill>
        <p:spPr>
          <a:xfrm>
            <a:off x="539832" y="2719887"/>
            <a:ext cx="808561" cy="691077"/>
          </a:xfrm>
          <a:prstGeom prst="rect">
            <a:avLst/>
          </a:prstGeom>
        </p:spPr>
      </p:pic>
    </p:spTree>
    <p:extLst>
      <p:ext uri="{BB962C8B-B14F-4D97-AF65-F5344CB8AC3E}">
        <p14:creationId xmlns:p14="http://schemas.microsoft.com/office/powerpoint/2010/main" val="1312401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6058" y="1122363"/>
            <a:ext cx="8511941" cy="2387600"/>
          </a:xfrm>
        </p:spPr>
        <p:txBody>
          <a:bodyPr>
            <a:normAutofit/>
          </a:bodyPr>
          <a:lstStyle/>
          <a:p>
            <a:r>
              <a:rPr lang="mn-MN" b="1" dirty="0">
                <a:solidFill>
                  <a:schemeClr val="accent1">
                    <a:lumMod val="50000"/>
                  </a:schemeClr>
                </a:solidFill>
              </a:rPr>
              <a:t>Хоол тэжээлийн дутагдлын тархалт </a:t>
            </a:r>
            <a:r>
              <a:rPr lang="it-IT" b="1" dirty="0">
                <a:solidFill>
                  <a:schemeClr val="accent1">
                    <a:lumMod val="50000"/>
                  </a:schemeClr>
                </a:solidFill>
              </a:rPr>
              <a:t>(PoU)</a:t>
            </a:r>
          </a:p>
        </p:txBody>
      </p:sp>
      <p:sp>
        <p:nvSpPr>
          <p:cNvPr id="3" name="Subtitle 2"/>
          <p:cNvSpPr>
            <a:spLocks noGrp="1"/>
          </p:cNvSpPr>
          <p:nvPr>
            <p:ph type="subTitle" idx="1"/>
          </p:nvPr>
        </p:nvSpPr>
        <p:spPr>
          <a:xfrm>
            <a:off x="2156058" y="3602038"/>
            <a:ext cx="8511942" cy="1655762"/>
          </a:xfrm>
        </p:spPr>
        <p:txBody>
          <a:bodyPr/>
          <a:lstStyle/>
          <a:p>
            <a:r>
              <a:rPr lang="en-US" dirty="0">
                <a:solidFill>
                  <a:schemeClr val="accent1">
                    <a:lumMod val="50000"/>
                  </a:schemeClr>
                </a:solidFill>
              </a:rPr>
              <a:t>(</a:t>
            </a:r>
            <a:r>
              <a:rPr lang="mn-MN" dirty="0">
                <a:solidFill>
                  <a:schemeClr val="accent1">
                    <a:lumMod val="50000"/>
                  </a:schemeClr>
                </a:solidFill>
              </a:rPr>
              <a:t>Тогтвортой хөгжлийн зорилго, үзүүлэлт, </a:t>
            </a:r>
            <a:r>
              <a:rPr lang="it-IT" dirty="0">
                <a:solidFill>
                  <a:schemeClr val="accent1">
                    <a:lumMod val="50000"/>
                  </a:schemeClr>
                </a:solidFill>
              </a:rPr>
              <a:t>2.1.1)</a:t>
            </a:r>
          </a:p>
        </p:txBody>
      </p:sp>
    </p:spTree>
    <p:extLst>
      <p:ext uri="{BB962C8B-B14F-4D97-AF65-F5344CB8AC3E}">
        <p14:creationId xmlns:p14="http://schemas.microsoft.com/office/powerpoint/2010/main" val="1972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124495"/>
            <a:ext cx="9265024" cy="1120106"/>
          </a:xfrm>
        </p:spPr>
        <p:txBody>
          <a:bodyPr>
            <a:normAutofit/>
          </a:bodyPr>
          <a:lstStyle/>
          <a:p>
            <a:r>
              <a:rPr lang="mn-MN" sz="4000" b="1" u="sng" dirty="0">
                <a:solidFill>
                  <a:schemeClr val="accent1">
                    <a:lumMod val="50000"/>
                  </a:schemeClr>
                </a:solidFill>
              </a:rPr>
              <a:t>Зорилго</a:t>
            </a:r>
            <a:endParaRPr lang="it-IT" sz="4000" b="1" u="sng" dirty="0">
              <a:solidFill>
                <a:schemeClr val="accent1">
                  <a:lumMod val="50000"/>
                </a:schemeClr>
              </a:solidFill>
            </a:endParaRPr>
          </a:p>
        </p:txBody>
      </p:sp>
      <p:sp>
        <p:nvSpPr>
          <p:cNvPr id="3" name="Content Placeholder 2"/>
          <p:cNvSpPr>
            <a:spLocks noGrp="1"/>
          </p:cNvSpPr>
          <p:nvPr>
            <p:ph idx="1"/>
          </p:nvPr>
        </p:nvSpPr>
        <p:spPr>
          <a:xfrm>
            <a:off x="2069526" y="1305861"/>
            <a:ext cx="9673296" cy="4351338"/>
          </a:xfrm>
        </p:spPr>
        <p:txBody>
          <a:bodyPr>
            <a:normAutofit/>
          </a:bodyPr>
          <a:lstStyle/>
          <a:p>
            <a:pPr algn="just"/>
            <a:r>
              <a:rPr lang="mn-MN" dirty="0">
                <a:solidFill>
                  <a:schemeClr val="accent1">
                    <a:lumMod val="50000"/>
                  </a:schemeClr>
                </a:solidFill>
              </a:rPr>
              <a:t>Хоол тэжээлийн дутагдлын тархалтыг тодорхойлох, түүний ач холбогдол,  үүсэл, гарлыг тайлбарлах;</a:t>
            </a:r>
          </a:p>
          <a:p>
            <a:pPr algn="just"/>
            <a:endParaRPr lang="mn-MN" dirty="0"/>
          </a:p>
          <a:p>
            <a:pPr algn="just"/>
            <a:r>
              <a:rPr lang="en-US" dirty="0" err="1">
                <a:solidFill>
                  <a:schemeClr val="accent1">
                    <a:lumMod val="50000"/>
                  </a:schemeClr>
                </a:solidFill>
              </a:rPr>
              <a:t>PoU</a:t>
            </a:r>
            <a:r>
              <a:rPr lang="en-US" dirty="0">
                <a:solidFill>
                  <a:schemeClr val="accent1">
                    <a:lumMod val="50000"/>
                  </a:schemeClr>
                </a:solidFill>
              </a:rPr>
              <a:t>-</a:t>
            </a:r>
            <a:r>
              <a:rPr lang="mn-MN" dirty="0">
                <a:solidFill>
                  <a:schemeClr val="accent1">
                    <a:lumMod val="50000"/>
                  </a:schemeClr>
                </a:solidFill>
              </a:rPr>
              <a:t>гийн үндсэн шинж чанаруудыг ойлгуулах;</a:t>
            </a:r>
          </a:p>
          <a:p>
            <a:pPr algn="just"/>
            <a:endParaRPr lang="mn-MN" dirty="0">
              <a:solidFill>
                <a:schemeClr val="accent1">
                  <a:lumMod val="50000"/>
                </a:schemeClr>
              </a:solidFill>
            </a:endParaRPr>
          </a:p>
          <a:p>
            <a:pPr algn="just"/>
            <a:r>
              <a:rPr lang="en-US" dirty="0" err="1">
                <a:solidFill>
                  <a:schemeClr val="accent1">
                    <a:lumMod val="50000"/>
                  </a:schemeClr>
                </a:solidFill>
              </a:rPr>
              <a:t>PoU</a:t>
            </a:r>
            <a:r>
              <a:rPr lang="mn-MN" dirty="0">
                <a:solidFill>
                  <a:schemeClr val="accent1">
                    <a:lumMod val="50000"/>
                  </a:schemeClr>
                </a:solidFill>
              </a:rPr>
              <a:t>-гийн хэмжих болон хэмжихгүй үзүүлэлтүүдийг тайлбарлах; </a:t>
            </a:r>
            <a:endParaRPr lang="it-IT" dirty="0">
              <a:solidFill>
                <a:schemeClr val="accent1">
                  <a:lumMod val="50000"/>
                </a:schemeClr>
              </a:solidFill>
            </a:endParaRPr>
          </a:p>
        </p:txBody>
      </p:sp>
    </p:spTree>
    <p:extLst>
      <p:ext uri="{BB962C8B-B14F-4D97-AF65-F5344CB8AC3E}">
        <p14:creationId xmlns:p14="http://schemas.microsoft.com/office/powerpoint/2010/main" val="3794967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6076" y="152401"/>
            <a:ext cx="9265024" cy="1003300"/>
          </a:xfrm>
        </p:spPr>
        <p:txBody>
          <a:bodyPr>
            <a:normAutofit/>
          </a:bodyPr>
          <a:lstStyle/>
          <a:p>
            <a:r>
              <a:rPr lang="it-IT" sz="4000" b="1" u="sng" dirty="0">
                <a:solidFill>
                  <a:schemeClr val="accent1">
                    <a:lumMod val="50000"/>
                  </a:schemeClr>
                </a:solidFill>
              </a:rPr>
              <a:t>PoU </a:t>
            </a:r>
            <a:r>
              <a:rPr lang="mn-MN" sz="4000" b="1" u="sng" dirty="0">
                <a:solidFill>
                  <a:schemeClr val="accent1">
                    <a:lumMod val="50000"/>
                  </a:schemeClr>
                </a:solidFill>
              </a:rPr>
              <a:t>үзүүлэлт</a:t>
            </a:r>
            <a:r>
              <a:rPr lang="it-IT" sz="4000" b="1" dirty="0">
                <a:solidFill>
                  <a:schemeClr val="accent1">
                    <a:lumMod val="50000"/>
                  </a:schemeClr>
                </a:solidFill>
              </a:rPr>
              <a:t>:</a:t>
            </a:r>
            <a:endParaRPr lang="en-US" sz="4000" b="1" dirty="0">
              <a:solidFill>
                <a:schemeClr val="accent1">
                  <a:lumMod val="50000"/>
                </a:schemeClr>
              </a:solidFill>
            </a:endParaRPr>
          </a:p>
        </p:txBody>
      </p:sp>
      <p:sp>
        <p:nvSpPr>
          <p:cNvPr id="3" name="Content Placeholder 2"/>
          <p:cNvSpPr>
            <a:spLocks noGrp="1"/>
          </p:cNvSpPr>
          <p:nvPr>
            <p:ph idx="1"/>
          </p:nvPr>
        </p:nvSpPr>
        <p:spPr>
          <a:xfrm>
            <a:off x="2050275" y="1284882"/>
            <a:ext cx="9692546" cy="4555197"/>
          </a:xfrm>
        </p:spPr>
        <p:txBody>
          <a:bodyPr>
            <a:normAutofit/>
          </a:bodyPr>
          <a:lstStyle/>
          <a:p>
            <a:pPr marL="0" indent="0" algn="just">
              <a:buNone/>
            </a:pPr>
            <a:r>
              <a:rPr lang="mn-MN" sz="2400" b="1" dirty="0">
                <a:solidFill>
                  <a:schemeClr val="accent1">
                    <a:lumMod val="50000"/>
                  </a:schemeClr>
                </a:solidFill>
              </a:rPr>
              <a:t>Зорилт</a:t>
            </a:r>
            <a:r>
              <a:rPr lang="en-GB" sz="2400" b="1" dirty="0">
                <a:solidFill>
                  <a:schemeClr val="accent1">
                    <a:lumMod val="50000"/>
                  </a:schemeClr>
                </a:solidFill>
              </a:rPr>
              <a:t> 2.1</a:t>
            </a:r>
            <a:endParaRPr lang="en-GB" sz="2400" dirty="0">
              <a:solidFill>
                <a:schemeClr val="accent1">
                  <a:lumMod val="50000"/>
                </a:schemeClr>
              </a:solidFill>
            </a:endParaRPr>
          </a:p>
          <a:p>
            <a:pPr marL="0" indent="0" algn="just">
              <a:buNone/>
            </a:pPr>
            <a:r>
              <a:rPr lang="mn-MN" sz="2400" dirty="0">
                <a:solidFill>
                  <a:schemeClr val="accent1">
                    <a:lumMod val="50000"/>
                  </a:schemeClr>
                </a:solidFill>
              </a:rPr>
              <a:t>          2030 он гэхэд </a:t>
            </a:r>
            <a:r>
              <a:rPr lang="mn-MN" sz="2400" b="1" dirty="0">
                <a:solidFill>
                  <a:schemeClr val="accent1">
                    <a:lumMod val="50000"/>
                  </a:schemeClr>
                </a:solidFill>
              </a:rPr>
              <a:t>ядуурлыг эцэс болгож</a:t>
            </a:r>
            <a:r>
              <a:rPr lang="mn-MN" sz="2400" dirty="0">
                <a:solidFill>
                  <a:schemeClr val="accent1">
                    <a:lumMod val="50000"/>
                  </a:schemeClr>
                </a:solidFill>
              </a:rPr>
              <a:t>, хүн бүрийг, ялангуяа ядуу болон эмзэг бүлгийн хүмүүс, түүний дотор </a:t>
            </a:r>
            <a:r>
              <a:rPr lang="mn-MN" sz="2400" b="1" dirty="0">
                <a:solidFill>
                  <a:schemeClr val="accent1">
                    <a:lumMod val="50000"/>
                  </a:schemeClr>
                </a:solidFill>
              </a:rPr>
              <a:t>нялхсыг эрүүл, шим тэжээллэг, хүрэлцэхүйц хоол хүнсийг жилийн турш авах боломжоор хангах</a:t>
            </a:r>
          </a:p>
          <a:p>
            <a:pPr marL="0" indent="0" algn="just">
              <a:buNone/>
            </a:pPr>
            <a:r>
              <a:rPr lang="mn-MN" sz="2400" dirty="0">
                <a:solidFill>
                  <a:schemeClr val="accent1">
                    <a:lumMod val="50000"/>
                  </a:schemeClr>
                </a:solidFill>
              </a:rPr>
              <a:t>          </a:t>
            </a:r>
            <a:r>
              <a:rPr lang="mn-MN" sz="2400" b="1" dirty="0">
                <a:solidFill>
                  <a:schemeClr val="accent1">
                    <a:lumMod val="50000"/>
                  </a:schemeClr>
                </a:solidFill>
              </a:rPr>
              <a:t>PoU-г</a:t>
            </a:r>
            <a:r>
              <a:rPr lang="mn-MN" sz="2400" dirty="0">
                <a:solidFill>
                  <a:schemeClr val="accent1">
                    <a:lumMod val="50000"/>
                  </a:schemeClr>
                </a:solidFill>
              </a:rPr>
              <a:t> хэрэглэж хэвшсэн хүнсний хэрэглээ нь ердийн идэвхтэй, эрүүл амьдрахад шаардлагатай хоол тэжээлийн илчлэгийн түвшинг  хангаж  чадахгүй  байгаа хүн амын эзлэх хувийн жинг тооцож гаргахад ашиглана.  </a:t>
            </a:r>
          </a:p>
          <a:p>
            <a:pPr lvl="2" algn="just"/>
            <a:r>
              <a:rPr lang="en-US" sz="2400" dirty="0" err="1">
                <a:solidFill>
                  <a:schemeClr val="accent1">
                    <a:lumMod val="50000"/>
                  </a:schemeClr>
                </a:solidFill>
              </a:rPr>
              <a:t>PoU</a:t>
            </a:r>
            <a:r>
              <a:rPr lang="en-US" sz="2400" dirty="0">
                <a:solidFill>
                  <a:schemeClr val="accent1">
                    <a:lumMod val="50000"/>
                  </a:schemeClr>
                </a:solidFill>
              </a:rPr>
              <a:t> </a:t>
            </a:r>
            <a:r>
              <a:rPr lang="mn-MN" sz="2400" dirty="0">
                <a:solidFill>
                  <a:schemeClr val="accent1">
                    <a:lumMod val="50000"/>
                  </a:schemeClr>
                </a:solidFill>
              </a:rPr>
              <a:t> нь хувиар илэрхийлэгдэнэ. </a:t>
            </a:r>
            <a:r>
              <a:rPr lang="en-US" sz="2400" dirty="0">
                <a:solidFill>
                  <a:schemeClr val="accent1">
                    <a:lumMod val="50000"/>
                  </a:schemeClr>
                </a:solidFill>
              </a:rPr>
              <a:t> </a:t>
            </a:r>
          </a:p>
          <a:p>
            <a:pPr lvl="2" algn="just"/>
            <a:r>
              <a:rPr lang="en-US" sz="2400" dirty="0" err="1">
                <a:solidFill>
                  <a:schemeClr val="accent1">
                    <a:lumMod val="50000"/>
                  </a:schemeClr>
                </a:solidFill>
              </a:rPr>
              <a:t>PoU</a:t>
            </a:r>
            <a:r>
              <a:rPr lang="en-US" sz="2400" dirty="0">
                <a:solidFill>
                  <a:schemeClr val="accent1">
                    <a:lumMod val="50000"/>
                  </a:schemeClr>
                </a:solidFill>
              </a:rPr>
              <a:t> </a:t>
            </a:r>
            <a:r>
              <a:rPr lang="mn-MN" sz="2400" dirty="0">
                <a:solidFill>
                  <a:schemeClr val="accent1">
                    <a:lumMod val="50000"/>
                  </a:schemeClr>
                </a:solidFill>
              </a:rPr>
              <a:t> нь  ТХЗ 2.1 –ын хэрэгжилтийг дүгнэнэ</a:t>
            </a:r>
            <a:r>
              <a:rPr lang="mn-MN" sz="1600" dirty="0">
                <a:solidFill>
                  <a:schemeClr val="accent1">
                    <a:lumMod val="50000"/>
                  </a:schemeClr>
                </a:solidFill>
              </a:rPr>
              <a:t>.  </a:t>
            </a:r>
            <a:endParaRPr lang="en-US" sz="1600" dirty="0">
              <a:solidFill>
                <a:schemeClr val="accent1">
                  <a:lumMod val="50000"/>
                </a:schemeClr>
              </a:solidFill>
            </a:endParaRPr>
          </a:p>
          <a:p>
            <a:pPr algn="just"/>
            <a:endParaRPr lang="en-US" sz="2400" dirty="0">
              <a:solidFill>
                <a:schemeClr val="accent1">
                  <a:lumMod val="50000"/>
                </a:schemeClr>
              </a:solidFill>
            </a:endParaRPr>
          </a:p>
        </p:txBody>
      </p:sp>
    </p:spTree>
    <p:extLst>
      <p:ext uri="{BB962C8B-B14F-4D97-AF65-F5344CB8AC3E}">
        <p14:creationId xmlns:p14="http://schemas.microsoft.com/office/powerpoint/2010/main" val="272872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152401"/>
            <a:ext cx="9265024" cy="761999"/>
          </a:xfrm>
        </p:spPr>
        <p:txBody>
          <a:bodyPr>
            <a:normAutofit/>
          </a:bodyPr>
          <a:lstStyle/>
          <a:p>
            <a:r>
              <a:rPr lang="it-IT" sz="4000" b="1" u="sng" dirty="0">
                <a:solidFill>
                  <a:schemeClr val="accent1">
                    <a:lumMod val="50000"/>
                  </a:schemeClr>
                </a:solidFill>
              </a:rPr>
              <a:t>PoU</a:t>
            </a:r>
            <a:r>
              <a:rPr lang="mn-MN" sz="4000" b="1" u="sng" dirty="0">
                <a:solidFill>
                  <a:schemeClr val="accent1">
                    <a:lumMod val="50000"/>
                  </a:schemeClr>
                </a:solidFill>
              </a:rPr>
              <a:t>-гийн үүсэл</a:t>
            </a:r>
            <a:endParaRPr lang="it-IT" sz="4000" b="1" u="sng" dirty="0">
              <a:solidFill>
                <a:schemeClr val="accent1">
                  <a:lumMod val="50000"/>
                </a:schemeClr>
              </a:solidFill>
            </a:endParaRPr>
          </a:p>
        </p:txBody>
      </p:sp>
      <p:sp>
        <p:nvSpPr>
          <p:cNvPr id="3" name="Content Placeholder 2"/>
          <p:cNvSpPr>
            <a:spLocks noGrp="1"/>
          </p:cNvSpPr>
          <p:nvPr>
            <p:ph idx="1"/>
          </p:nvPr>
        </p:nvSpPr>
        <p:spPr>
          <a:xfrm>
            <a:off x="2252313" y="1045412"/>
            <a:ext cx="9346130" cy="4989628"/>
          </a:xfrm>
        </p:spPr>
        <p:txBody>
          <a:bodyPr>
            <a:noAutofit/>
          </a:bodyPr>
          <a:lstStyle/>
          <a:p>
            <a:pPr marL="0" indent="0" algn="just">
              <a:buNone/>
            </a:pPr>
            <a:r>
              <a:rPr lang="mn-MN" sz="2400" dirty="0">
                <a:solidFill>
                  <a:schemeClr val="accent1">
                    <a:lumMod val="50000"/>
                  </a:schemeClr>
                </a:solidFill>
              </a:rPr>
              <a:t>Сүхэйтми, </a:t>
            </a:r>
            <a:r>
              <a:rPr lang="en-US" sz="2400" dirty="0">
                <a:solidFill>
                  <a:schemeClr val="accent1">
                    <a:lumMod val="50000"/>
                  </a:schemeClr>
                </a:solidFill>
              </a:rPr>
              <a:t>(P.V. </a:t>
            </a:r>
            <a:r>
              <a:rPr lang="en-US" sz="2400" b="1" dirty="0" err="1">
                <a:solidFill>
                  <a:schemeClr val="accent1">
                    <a:lumMod val="50000"/>
                  </a:schemeClr>
                </a:solidFill>
              </a:rPr>
              <a:t>Sukhatme</a:t>
            </a:r>
            <a:r>
              <a:rPr lang="en-US" sz="2400" b="1" dirty="0">
                <a:solidFill>
                  <a:schemeClr val="accent1">
                    <a:lumMod val="50000"/>
                  </a:schemeClr>
                </a:solidFill>
              </a:rPr>
              <a:t>)</a:t>
            </a:r>
            <a:r>
              <a:rPr lang="mn-MN" sz="2400" dirty="0">
                <a:solidFill>
                  <a:schemeClr val="accent1">
                    <a:lumMod val="50000"/>
                  </a:schemeClr>
                </a:solidFill>
              </a:rPr>
              <a:t> хүн амын дундах хоол, тэжээлийн дутагдлын тархалтыг тооцсноор хүнсний аюулгүй байдлыг хянах боломжтой гэсэн санааг  анх 1961 онд гаргасан.</a:t>
            </a:r>
          </a:p>
          <a:p>
            <a:pPr marL="0" indent="0" algn="just">
              <a:buNone/>
            </a:pPr>
            <a:r>
              <a:rPr lang="mn-MN" sz="2400" dirty="0">
                <a:solidFill>
                  <a:schemeClr val="accent1">
                    <a:lumMod val="50000"/>
                  </a:schemeClr>
                </a:solidFill>
              </a:rPr>
              <a:t>Энэ нь  дараах 2 шинэ санаа нь дээр үндэслэсэн:</a:t>
            </a:r>
            <a:endParaRPr lang="it-IT" sz="2400" dirty="0">
              <a:solidFill>
                <a:schemeClr val="accent1">
                  <a:lumMod val="50000"/>
                </a:schemeClr>
              </a:solidFill>
            </a:endParaRPr>
          </a:p>
          <a:p>
            <a:pPr marL="1203325" indent="-115888" algn="just">
              <a:buFont typeface="+mj-lt"/>
              <a:buAutoNum type="arabicPeriod"/>
            </a:pPr>
            <a:r>
              <a:rPr lang="mn-MN" sz="2400" dirty="0">
                <a:solidFill>
                  <a:schemeClr val="accent1">
                    <a:lumMod val="50000"/>
                  </a:schemeClr>
                </a:solidFill>
              </a:rPr>
              <a:t>Хүнсний хэрэглээнд гарсан өөрчлөлт нь хүнсний баталгаат бус байдлыг харуулж чадахгүй, харин хоол хүнсний хэрэгцээнд гарсан зөрүүнээс шалтгаалсан ердийн өөрчлөлтөөр илэрхийлнэ.  </a:t>
            </a:r>
            <a:endParaRPr lang="mn-MN" sz="2400" b="1" dirty="0">
              <a:solidFill>
                <a:schemeClr val="accent1">
                  <a:lumMod val="50000"/>
                </a:schemeClr>
              </a:solidFill>
            </a:endParaRPr>
          </a:p>
          <a:p>
            <a:pPr marL="1203325" indent="-115888" algn="just">
              <a:buFont typeface="+mj-lt"/>
              <a:buAutoNum type="arabicPeriod"/>
            </a:pPr>
            <a:r>
              <a:rPr lang="mn-MN" sz="2400" dirty="0">
                <a:solidFill>
                  <a:schemeClr val="accent1">
                    <a:lumMod val="50000"/>
                  </a:schemeClr>
                </a:solidFill>
              </a:rPr>
              <a:t>Энэ нь зөвхөн хангамжийн асуудал төдийгүй, хоол хүнсний хүртээмжтэй холбоотой асуудал юм.</a:t>
            </a:r>
            <a:endParaRPr lang="it-IT" sz="2400" dirty="0">
              <a:solidFill>
                <a:schemeClr val="accent1">
                  <a:lumMod val="50000"/>
                </a:schemeClr>
              </a:solidFill>
            </a:endParaRPr>
          </a:p>
          <a:p>
            <a:pPr marL="0" indent="0" algn="just">
              <a:buNone/>
            </a:pPr>
            <a:r>
              <a:rPr lang="mn-MN" sz="2400" dirty="0">
                <a:solidFill>
                  <a:schemeClr val="accent1">
                    <a:lumMod val="50000"/>
                  </a:schemeClr>
                </a:solidFill>
              </a:rPr>
              <a:t>Сүхэйтми, </a:t>
            </a:r>
            <a:r>
              <a:rPr lang="en-US" sz="2400" dirty="0">
                <a:solidFill>
                  <a:schemeClr val="accent1">
                    <a:lumMod val="50000"/>
                  </a:schemeClr>
                </a:solidFill>
              </a:rPr>
              <a:t>(</a:t>
            </a:r>
            <a:r>
              <a:rPr lang="en-US" sz="2400" dirty="0" err="1">
                <a:solidFill>
                  <a:schemeClr val="accent1">
                    <a:lumMod val="50000"/>
                  </a:schemeClr>
                </a:solidFill>
              </a:rPr>
              <a:t>Sukhatme</a:t>
            </a:r>
            <a:r>
              <a:rPr lang="en-US" sz="2400" dirty="0">
                <a:solidFill>
                  <a:schemeClr val="accent1">
                    <a:lumMod val="50000"/>
                  </a:schemeClr>
                </a:solidFill>
              </a:rPr>
              <a:t>)</a:t>
            </a:r>
            <a:r>
              <a:rPr lang="mn-MN" sz="2400" dirty="0">
                <a:solidFill>
                  <a:schemeClr val="accent1">
                    <a:lumMod val="50000"/>
                  </a:schemeClr>
                </a:solidFill>
              </a:rPr>
              <a:t>-гийн аргыг ихэнх улс орнуудад хүнсний хэрэглээний модулийг багтаасан өрхийн судалгаанд ашиглах боломжтой байдаг. </a:t>
            </a:r>
          </a:p>
          <a:p>
            <a:pPr marL="0" indent="0" algn="just">
              <a:buNone/>
            </a:pPr>
            <a:r>
              <a:rPr lang="en-US" sz="2400" dirty="0">
                <a:solidFill>
                  <a:schemeClr val="accent1">
                    <a:lumMod val="50000"/>
                  </a:schemeClr>
                </a:solidFill>
              </a:rPr>
              <a:t> </a:t>
            </a:r>
          </a:p>
        </p:txBody>
      </p:sp>
    </p:spTree>
    <p:extLst>
      <p:ext uri="{BB962C8B-B14F-4D97-AF65-F5344CB8AC3E}">
        <p14:creationId xmlns:p14="http://schemas.microsoft.com/office/powerpoint/2010/main" val="28489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0"/>
            <a:ext cx="9265024" cy="1325563"/>
          </a:xfrm>
        </p:spPr>
        <p:txBody>
          <a:bodyPr>
            <a:normAutofit/>
          </a:bodyPr>
          <a:lstStyle/>
          <a:p>
            <a:r>
              <a:rPr lang="it-IT" b="1" u="sng" dirty="0">
                <a:solidFill>
                  <a:schemeClr val="accent1">
                    <a:lumMod val="50000"/>
                  </a:schemeClr>
                </a:solidFill>
              </a:rPr>
              <a:t>PoU</a:t>
            </a:r>
            <a:r>
              <a:rPr lang="mn-MN" sz="4000" b="1" u="sng" dirty="0">
                <a:solidFill>
                  <a:schemeClr val="accent1">
                    <a:lumMod val="50000"/>
                  </a:schemeClr>
                </a:solidFill>
              </a:rPr>
              <a:t>-гийн</a:t>
            </a:r>
            <a:r>
              <a:rPr lang="mn-MN" b="1" u="sng" dirty="0">
                <a:solidFill>
                  <a:schemeClr val="accent1">
                    <a:lumMod val="50000"/>
                  </a:schemeClr>
                </a:solidFill>
              </a:rPr>
              <a:t> үүсэл</a:t>
            </a:r>
            <a:endParaRPr lang="it-IT" b="1" u="sng" dirty="0"/>
          </a:p>
        </p:txBody>
      </p:sp>
      <p:sp>
        <p:nvSpPr>
          <p:cNvPr id="3" name="Content Placeholder 2"/>
          <p:cNvSpPr>
            <a:spLocks noGrp="1"/>
          </p:cNvSpPr>
          <p:nvPr>
            <p:ph idx="1"/>
          </p:nvPr>
        </p:nvSpPr>
        <p:spPr>
          <a:xfrm>
            <a:off x="2159229" y="1236880"/>
            <a:ext cx="9265024" cy="5210442"/>
          </a:xfrm>
        </p:spPr>
        <p:txBody>
          <a:bodyPr>
            <a:noAutofit/>
          </a:bodyPr>
          <a:lstStyle/>
          <a:p>
            <a:pPr marL="0" indent="0" algn="just">
              <a:buNone/>
            </a:pPr>
            <a:r>
              <a:rPr lang="mn-MN" sz="2400" dirty="0">
                <a:solidFill>
                  <a:schemeClr val="accent1">
                    <a:lumMod val="50000"/>
                  </a:schemeClr>
                </a:solidFill>
              </a:rPr>
              <a:t>Дараа нь</a:t>
            </a:r>
            <a:r>
              <a:rPr lang="it-IT" sz="2400" dirty="0">
                <a:solidFill>
                  <a:schemeClr val="accent1">
                    <a:lumMod val="50000"/>
                  </a:schemeClr>
                </a:solidFill>
              </a:rPr>
              <a:t>...</a:t>
            </a:r>
            <a:endParaRPr lang="mn-MN" sz="2400" dirty="0">
              <a:solidFill>
                <a:schemeClr val="accent1">
                  <a:lumMod val="50000"/>
                </a:schemeClr>
              </a:solidFill>
            </a:endParaRPr>
          </a:p>
          <a:p>
            <a:pPr algn="just">
              <a:lnSpc>
                <a:spcPct val="100000"/>
              </a:lnSpc>
              <a:spcBef>
                <a:spcPts val="0"/>
              </a:spcBef>
              <a:spcAft>
                <a:spcPts val="600"/>
              </a:spcAft>
            </a:pPr>
            <a:endParaRPr lang="mn-MN" sz="2400" dirty="0">
              <a:solidFill>
                <a:schemeClr val="accent1">
                  <a:lumMod val="50000"/>
                </a:schemeClr>
              </a:solidFill>
            </a:endParaRPr>
          </a:p>
          <a:p>
            <a:pPr algn="just">
              <a:lnSpc>
                <a:spcPct val="100000"/>
              </a:lnSpc>
              <a:spcBef>
                <a:spcPts val="0"/>
              </a:spcBef>
              <a:spcAft>
                <a:spcPts val="600"/>
              </a:spcAft>
            </a:pPr>
            <a:r>
              <a:rPr lang="mn-MN" sz="2400" dirty="0">
                <a:solidFill>
                  <a:schemeClr val="accent1">
                    <a:lumMod val="50000"/>
                  </a:schemeClr>
                </a:solidFill>
              </a:rPr>
              <a:t>1977, 1987, 1996 онуудад НҮБ-ын ХХААБ-аас  Дэлхийн Хүнсний судалгааг явуулж,  </a:t>
            </a:r>
            <a:r>
              <a:rPr lang="en-US" sz="2400" dirty="0" err="1">
                <a:solidFill>
                  <a:schemeClr val="accent1">
                    <a:lumMod val="50000"/>
                  </a:schemeClr>
                </a:solidFill>
              </a:rPr>
              <a:t>PoU</a:t>
            </a:r>
            <a:r>
              <a:rPr lang="en-US" sz="2400" dirty="0">
                <a:solidFill>
                  <a:schemeClr val="accent1">
                    <a:lumMod val="50000"/>
                  </a:schemeClr>
                </a:solidFill>
              </a:rPr>
              <a:t>-</a:t>
            </a:r>
            <a:r>
              <a:rPr lang="mn-MN" sz="2400" dirty="0">
                <a:solidFill>
                  <a:schemeClr val="accent1">
                    <a:lumMod val="50000"/>
                  </a:schemeClr>
                </a:solidFill>
              </a:rPr>
              <a:t>г бүс болон дэлхийн түвшинд тооцон гаргасан. </a:t>
            </a:r>
          </a:p>
          <a:p>
            <a:pPr algn="just">
              <a:lnSpc>
                <a:spcPct val="100000"/>
              </a:lnSpc>
              <a:spcBef>
                <a:spcPts val="0"/>
              </a:spcBef>
              <a:spcAft>
                <a:spcPts val="600"/>
              </a:spcAft>
            </a:pPr>
            <a:endParaRPr lang="mn-MN" sz="2400" dirty="0">
              <a:solidFill>
                <a:schemeClr val="accent1">
                  <a:lumMod val="50000"/>
                </a:schemeClr>
              </a:solidFill>
            </a:endParaRPr>
          </a:p>
          <a:p>
            <a:pPr algn="just">
              <a:lnSpc>
                <a:spcPct val="100000"/>
              </a:lnSpc>
              <a:spcBef>
                <a:spcPts val="0"/>
              </a:spcBef>
              <a:spcAft>
                <a:spcPts val="600"/>
              </a:spcAft>
            </a:pPr>
            <a:r>
              <a:rPr lang="mn-MN" sz="2400" dirty="0">
                <a:solidFill>
                  <a:schemeClr val="accent1">
                    <a:lumMod val="50000"/>
                  </a:schemeClr>
                </a:solidFill>
              </a:rPr>
              <a:t>1996 онд явуулсан “Дэлхийн хүнсний дээд хэмжээний уулзалт”-аар  2015 он гэхэд дэлхий дээрх хоол, тэжээлийн дутагдалтай хүний тоог 2 дахин бууруулахыг зөвлөсөн. </a:t>
            </a:r>
          </a:p>
          <a:p>
            <a:pPr algn="just">
              <a:lnSpc>
                <a:spcPct val="100000"/>
              </a:lnSpc>
              <a:spcBef>
                <a:spcPts val="0"/>
              </a:spcBef>
              <a:spcAft>
                <a:spcPts val="600"/>
              </a:spcAft>
            </a:pPr>
            <a:endParaRPr lang="mn-MN" sz="2400" dirty="0">
              <a:solidFill>
                <a:schemeClr val="accent1">
                  <a:lumMod val="50000"/>
                </a:schemeClr>
              </a:solidFill>
            </a:endParaRPr>
          </a:p>
          <a:p>
            <a:pPr algn="just">
              <a:lnSpc>
                <a:spcPct val="100000"/>
              </a:lnSpc>
              <a:spcBef>
                <a:spcPts val="0"/>
              </a:spcBef>
              <a:spcAft>
                <a:spcPts val="600"/>
              </a:spcAft>
            </a:pPr>
            <a:r>
              <a:rPr lang="mn-MN" sz="2400" dirty="0">
                <a:solidFill>
                  <a:schemeClr val="accent1">
                    <a:lumMod val="50000"/>
                  </a:schemeClr>
                </a:solidFill>
              </a:rPr>
              <a:t>Суурь тоог 1990-1992 онд НҮБ-ын ХХААБ-аас гаргасан хоол, тэжээлийн дутагдалтай  хүн амын /тооцоолсон/ тоогоор авсан. </a:t>
            </a:r>
            <a:r>
              <a:rPr lang="en-US" sz="2400" dirty="0">
                <a:solidFill>
                  <a:schemeClr val="accent1">
                    <a:lumMod val="50000"/>
                  </a:schemeClr>
                </a:solidFill>
              </a:rPr>
              <a:t>(</a:t>
            </a:r>
            <a:r>
              <a:rPr lang="mn-MN" sz="2400" dirty="0">
                <a:solidFill>
                  <a:schemeClr val="accent1">
                    <a:lumMod val="50000"/>
                  </a:schemeClr>
                </a:solidFill>
              </a:rPr>
              <a:t>Дэлхийн хүнсний судалгаа 6 дах хэвлэл</a:t>
            </a:r>
            <a:r>
              <a:rPr lang="en-US" sz="2400" dirty="0">
                <a:solidFill>
                  <a:schemeClr val="accent1">
                    <a:lumMod val="50000"/>
                  </a:schemeClr>
                </a:solidFill>
              </a:rPr>
              <a:t>)</a:t>
            </a:r>
            <a:endParaRPr lang="mn-MN" sz="2400" dirty="0">
              <a:solidFill>
                <a:schemeClr val="accent1">
                  <a:lumMod val="50000"/>
                </a:schemeClr>
              </a:solidFill>
            </a:endParaRPr>
          </a:p>
        </p:txBody>
      </p:sp>
    </p:spTree>
    <p:extLst>
      <p:ext uri="{BB962C8B-B14F-4D97-AF65-F5344CB8AC3E}">
        <p14:creationId xmlns:p14="http://schemas.microsoft.com/office/powerpoint/2010/main" val="1694095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200025"/>
            <a:ext cx="9265024" cy="1146041"/>
          </a:xfrm>
        </p:spPr>
        <p:txBody>
          <a:bodyPr>
            <a:normAutofit/>
          </a:bodyPr>
          <a:lstStyle/>
          <a:p>
            <a:r>
              <a:rPr lang="it-IT" sz="4000" b="1" u="sng" dirty="0">
                <a:solidFill>
                  <a:schemeClr val="accent1">
                    <a:lumMod val="50000"/>
                  </a:schemeClr>
                </a:solidFill>
              </a:rPr>
              <a:t>PoU</a:t>
            </a:r>
            <a:r>
              <a:rPr lang="mn-MN" sz="4000" b="1" u="sng" dirty="0">
                <a:solidFill>
                  <a:schemeClr val="accent1">
                    <a:lumMod val="50000"/>
                  </a:schemeClr>
                </a:solidFill>
              </a:rPr>
              <a:t>-гийн үүсэл</a:t>
            </a:r>
            <a:endParaRPr lang="it-IT" sz="4000" b="1" u="sng" dirty="0"/>
          </a:p>
        </p:txBody>
      </p:sp>
      <p:sp>
        <p:nvSpPr>
          <p:cNvPr id="3" name="Content Placeholder 2"/>
          <p:cNvSpPr>
            <a:spLocks noGrp="1"/>
          </p:cNvSpPr>
          <p:nvPr>
            <p:ph idx="1"/>
          </p:nvPr>
        </p:nvSpPr>
        <p:spPr>
          <a:xfrm>
            <a:off x="2079150" y="1546492"/>
            <a:ext cx="9265024" cy="4351338"/>
          </a:xfrm>
        </p:spPr>
        <p:txBody>
          <a:bodyPr>
            <a:normAutofit/>
          </a:bodyPr>
          <a:lstStyle/>
          <a:p>
            <a:pPr algn="just"/>
            <a:r>
              <a:rPr lang="mn-MN" sz="2400" dirty="0">
                <a:solidFill>
                  <a:schemeClr val="accent1">
                    <a:lumMod val="50000"/>
                  </a:schemeClr>
                </a:solidFill>
              </a:rPr>
              <a:t>1999 оноос хойш,  НҮБ-ын ХХААБ-аас дэлхийн ихэнх улс орнууд болон бүсээр гаргадаг  “Дэлхийн хүнсний баталгаат бус байдал” товхимолд </a:t>
            </a:r>
            <a:r>
              <a:rPr lang="en-US" sz="2400" dirty="0">
                <a:solidFill>
                  <a:schemeClr val="accent1">
                    <a:lumMod val="50000"/>
                  </a:schemeClr>
                </a:solidFill>
              </a:rPr>
              <a:t>(14 </a:t>
            </a:r>
            <a:r>
              <a:rPr lang="mn-MN" sz="2400" dirty="0">
                <a:solidFill>
                  <a:schemeClr val="accent1">
                    <a:lumMod val="50000"/>
                  </a:schemeClr>
                </a:solidFill>
              </a:rPr>
              <a:t>товхимол</a:t>
            </a:r>
            <a:r>
              <a:rPr lang="en-US" sz="2400" dirty="0">
                <a:solidFill>
                  <a:schemeClr val="accent1">
                    <a:lumMod val="50000"/>
                  </a:schemeClr>
                </a:solidFill>
              </a:rPr>
              <a:t>)</a:t>
            </a:r>
            <a:r>
              <a:rPr lang="mn-MN" sz="2400" dirty="0">
                <a:solidFill>
                  <a:schemeClr val="accent1">
                    <a:lumMod val="50000"/>
                  </a:schemeClr>
                </a:solidFill>
              </a:rPr>
              <a:t> </a:t>
            </a:r>
            <a:r>
              <a:rPr lang="en-US" sz="2400" dirty="0" err="1">
                <a:solidFill>
                  <a:schemeClr val="accent1">
                    <a:lumMod val="50000"/>
                  </a:schemeClr>
                </a:solidFill>
              </a:rPr>
              <a:t>PoU</a:t>
            </a:r>
            <a:r>
              <a:rPr lang="en-US" sz="2400" dirty="0">
                <a:solidFill>
                  <a:schemeClr val="accent1">
                    <a:lumMod val="50000"/>
                  </a:schemeClr>
                </a:solidFill>
              </a:rPr>
              <a:t>-</a:t>
            </a:r>
            <a:r>
              <a:rPr lang="mn-MN" sz="2400" dirty="0">
                <a:solidFill>
                  <a:schemeClr val="accent1">
                    <a:lumMod val="50000"/>
                  </a:schemeClr>
                </a:solidFill>
              </a:rPr>
              <a:t>г тооцон гаргаж байна. </a:t>
            </a:r>
          </a:p>
          <a:p>
            <a:pPr algn="just"/>
            <a:endParaRPr lang="mn-MN" sz="2400" dirty="0">
              <a:solidFill>
                <a:schemeClr val="accent1">
                  <a:lumMod val="50000"/>
                </a:schemeClr>
              </a:solidFill>
            </a:endParaRPr>
          </a:p>
          <a:p>
            <a:pPr algn="just"/>
            <a:r>
              <a:rPr lang="mn-MN" sz="2400" dirty="0">
                <a:solidFill>
                  <a:schemeClr val="accent1">
                    <a:lumMod val="50000"/>
                  </a:schemeClr>
                </a:solidFill>
              </a:rPr>
              <a:t>2000 онд</a:t>
            </a:r>
            <a:r>
              <a:rPr lang="en-US" sz="2400" dirty="0">
                <a:solidFill>
                  <a:schemeClr val="accent1">
                    <a:lumMod val="50000"/>
                  </a:schemeClr>
                </a:solidFill>
              </a:rPr>
              <a:t>,</a:t>
            </a:r>
            <a:r>
              <a:rPr lang="mn-MN" sz="2400" dirty="0">
                <a:solidFill>
                  <a:schemeClr val="accent1">
                    <a:lumMod val="50000"/>
                  </a:schemeClr>
                </a:solidFill>
              </a:rPr>
              <a:t> ижил төстэй</a:t>
            </a:r>
            <a:r>
              <a:rPr lang="en-US" sz="2400" dirty="0">
                <a:solidFill>
                  <a:schemeClr val="accent1">
                    <a:lumMod val="50000"/>
                  </a:schemeClr>
                </a:solidFill>
              </a:rPr>
              <a:t>,</a:t>
            </a:r>
            <a:r>
              <a:rPr lang="mn-MN" sz="2400" dirty="0">
                <a:solidFill>
                  <a:schemeClr val="accent1">
                    <a:lumMod val="50000"/>
                  </a:schemeClr>
                </a:solidFill>
              </a:rPr>
              <a:t> амбиц багатай, 2015 он гэхэд өлсгөлөнгөөр  зовж шаналж байгаа хүмүүсийн эзлэх хувийг хоёр дахин бууруулах зорилтыг Мянганы хөгжлийн зорилтод тусгасан</a:t>
            </a:r>
            <a:r>
              <a:rPr lang="en-US" sz="2400" dirty="0">
                <a:solidFill>
                  <a:schemeClr val="accent1">
                    <a:lumMod val="50000"/>
                  </a:schemeClr>
                </a:solidFill>
              </a:rPr>
              <a:t>. (</a:t>
            </a:r>
            <a:r>
              <a:rPr lang="mn-MN" sz="2400" dirty="0">
                <a:solidFill>
                  <a:schemeClr val="accent1">
                    <a:lumMod val="50000"/>
                  </a:schemeClr>
                </a:solidFill>
              </a:rPr>
              <a:t>МХЗ</a:t>
            </a:r>
            <a:r>
              <a:rPr lang="en-US" sz="2400" dirty="0">
                <a:solidFill>
                  <a:schemeClr val="accent1">
                    <a:lumMod val="50000"/>
                  </a:schemeClr>
                </a:solidFill>
              </a:rPr>
              <a:t>-</a:t>
            </a:r>
            <a:r>
              <a:rPr lang="mn-MN" sz="2400" dirty="0">
                <a:solidFill>
                  <a:schemeClr val="accent1">
                    <a:lumMod val="50000"/>
                  </a:schemeClr>
                </a:solidFill>
              </a:rPr>
              <a:t>ын 1 хэсэг</a:t>
            </a:r>
            <a:r>
              <a:rPr lang="en-US" sz="2400" dirty="0">
                <a:solidFill>
                  <a:schemeClr val="accent1">
                    <a:lumMod val="50000"/>
                  </a:schemeClr>
                </a:solidFill>
              </a:rPr>
              <a:t>,</a:t>
            </a:r>
            <a:r>
              <a:rPr lang="mn-MN" sz="2400" dirty="0">
                <a:solidFill>
                  <a:schemeClr val="accent1">
                    <a:lumMod val="50000"/>
                  </a:schemeClr>
                </a:solidFill>
              </a:rPr>
              <a:t>  “</a:t>
            </a:r>
            <a:r>
              <a:rPr lang="en-US" sz="2400" dirty="0">
                <a:solidFill>
                  <a:schemeClr val="accent1">
                    <a:lumMod val="50000"/>
                  </a:schemeClr>
                </a:solidFill>
              </a:rPr>
              <a:t>T</a:t>
            </a:r>
            <a:r>
              <a:rPr lang="mn-MN" sz="2400" dirty="0">
                <a:solidFill>
                  <a:schemeClr val="accent1">
                    <a:lumMod val="50000"/>
                  </a:schemeClr>
                </a:solidFill>
              </a:rPr>
              <a:t>уйлын ядуурал, өлсгөлөнг  устгах”</a:t>
            </a:r>
            <a:r>
              <a:rPr lang="en-US" sz="2400" dirty="0">
                <a:solidFill>
                  <a:schemeClr val="accent1">
                    <a:lumMod val="50000"/>
                  </a:schemeClr>
                </a:solidFill>
              </a:rPr>
              <a:t>)</a:t>
            </a:r>
            <a:r>
              <a:rPr lang="mn-MN" sz="2400" dirty="0">
                <a:solidFill>
                  <a:schemeClr val="accent1">
                    <a:lumMod val="50000"/>
                  </a:schemeClr>
                </a:solidFill>
              </a:rPr>
              <a:t> </a:t>
            </a:r>
          </a:p>
          <a:p>
            <a:pPr algn="just"/>
            <a:endParaRPr lang="en-US" sz="2400" dirty="0">
              <a:solidFill>
                <a:schemeClr val="accent1">
                  <a:lumMod val="50000"/>
                </a:schemeClr>
              </a:solidFill>
            </a:endParaRPr>
          </a:p>
          <a:p>
            <a:pPr algn="just"/>
            <a:endParaRPr lang="en-US" sz="2400" dirty="0">
              <a:solidFill>
                <a:schemeClr val="accent1">
                  <a:lumMod val="50000"/>
                </a:schemeClr>
              </a:solidFill>
            </a:endParaRPr>
          </a:p>
          <a:p>
            <a:pPr algn="just">
              <a:buNone/>
            </a:pPr>
            <a:endParaRPr lang="en-US" sz="2400" dirty="0">
              <a:solidFill>
                <a:schemeClr val="accent1">
                  <a:lumMod val="50000"/>
                </a:schemeClr>
              </a:solidFill>
            </a:endParaRPr>
          </a:p>
        </p:txBody>
      </p:sp>
    </p:spTree>
    <p:extLst>
      <p:ext uri="{BB962C8B-B14F-4D97-AF65-F5344CB8AC3E}">
        <p14:creationId xmlns:p14="http://schemas.microsoft.com/office/powerpoint/2010/main" val="3505955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5"/>
            <a:ext cx="9265024" cy="828675"/>
          </a:xfrm>
        </p:spPr>
        <p:txBody>
          <a:bodyPr>
            <a:normAutofit/>
          </a:bodyPr>
          <a:lstStyle/>
          <a:p>
            <a:r>
              <a:rPr lang="it-IT" sz="4000" b="1" u="sng" dirty="0">
                <a:solidFill>
                  <a:schemeClr val="accent1">
                    <a:lumMod val="50000"/>
                  </a:schemeClr>
                </a:solidFill>
              </a:rPr>
              <a:t>PoU</a:t>
            </a:r>
            <a:r>
              <a:rPr lang="mn-MN" sz="4000" b="1" u="sng" dirty="0">
                <a:solidFill>
                  <a:schemeClr val="accent1">
                    <a:lumMod val="50000"/>
                  </a:schemeClr>
                </a:solidFill>
              </a:rPr>
              <a:t>-гийн үүсэл</a:t>
            </a:r>
            <a:endParaRPr lang="it-IT" sz="4000" b="1" u="sng" dirty="0">
              <a:solidFill>
                <a:schemeClr val="accent1">
                  <a:lumMod val="50000"/>
                </a:schemeClr>
              </a:solidFill>
            </a:endParaRPr>
          </a:p>
        </p:txBody>
      </p:sp>
      <p:sp>
        <p:nvSpPr>
          <p:cNvPr id="3" name="Content Placeholder 2"/>
          <p:cNvSpPr>
            <a:spLocks noGrp="1"/>
          </p:cNvSpPr>
          <p:nvPr>
            <p:ph idx="1"/>
          </p:nvPr>
        </p:nvSpPr>
        <p:spPr>
          <a:xfrm>
            <a:off x="2127277" y="1459865"/>
            <a:ext cx="9265024" cy="4351338"/>
          </a:xfrm>
        </p:spPr>
        <p:txBody>
          <a:bodyPr>
            <a:noAutofit/>
          </a:bodyPr>
          <a:lstStyle/>
          <a:p>
            <a:pPr algn="just"/>
            <a:r>
              <a:rPr lang="it-IT" sz="2400" dirty="0">
                <a:solidFill>
                  <a:schemeClr val="accent1">
                    <a:lumMod val="50000"/>
                  </a:schemeClr>
                </a:solidFill>
              </a:rPr>
              <a:t>... </a:t>
            </a:r>
            <a:r>
              <a:rPr lang="mn-MN" sz="2400" dirty="0">
                <a:solidFill>
                  <a:schemeClr val="accent1">
                    <a:lumMod val="50000"/>
                  </a:schemeClr>
                </a:solidFill>
              </a:rPr>
              <a:t>Байнга хэлэлцдэг</a:t>
            </a:r>
            <a:endParaRPr lang="it-IT" sz="2400" dirty="0">
              <a:solidFill>
                <a:schemeClr val="accent1">
                  <a:lumMod val="50000"/>
                </a:schemeClr>
              </a:solidFill>
            </a:endParaRPr>
          </a:p>
          <a:p>
            <a:pPr lvl="1" algn="just"/>
            <a:r>
              <a:rPr lang="mn-MN" dirty="0">
                <a:solidFill>
                  <a:schemeClr val="accent1">
                    <a:lumMod val="50000"/>
                  </a:schemeClr>
                </a:solidFill>
              </a:rPr>
              <a:t>НҮБ, ХХААБ</a:t>
            </a:r>
            <a:r>
              <a:rPr lang="en-US" dirty="0">
                <a:solidFill>
                  <a:schemeClr val="accent1">
                    <a:lumMod val="50000"/>
                  </a:schemeClr>
                </a:solidFill>
              </a:rPr>
              <a:t>-</a:t>
            </a:r>
            <a:r>
              <a:rPr lang="mn-MN" dirty="0">
                <a:solidFill>
                  <a:schemeClr val="accent1">
                    <a:lumMod val="50000"/>
                  </a:schemeClr>
                </a:solidFill>
              </a:rPr>
              <a:t>аас зохион байгуулсан олон улсын симпозиум</a:t>
            </a:r>
            <a:r>
              <a:rPr lang="mn-MN" dirty="0"/>
              <a:t>, </a:t>
            </a:r>
            <a:r>
              <a:rPr lang="it-IT" dirty="0">
                <a:solidFill>
                  <a:srgbClr val="FF0000"/>
                </a:solidFill>
              </a:rPr>
              <a:t>2002</a:t>
            </a:r>
          </a:p>
          <a:p>
            <a:pPr lvl="1" algn="just"/>
            <a:r>
              <a:rPr lang="it-IT" dirty="0">
                <a:solidFill>
                  <a:schemeClr val="accent1">
                    <a:lumMod val="50000"/>
                  </a:schemeClr>
                </a:solidFill>
              </a:rPr>
              <a:t>CFS</a:t>
            </a:r>
            <a:r>
              <a:rPr lang="mn-MN" dirty="0">
                <a:solidFill>
                  <a:schemeClr val="accent1">
                    <a:lumMod val="50000"/>
                  </a:schemeClr>
                </a:solidFill>
              </a:rPr>
              <a:t>,</a:t>
            </a:r>
            <a:r>
              <a:rPr lang="it-IT" dirty="0">
                <a:solidFill>
                  <a:schemeClr val="accent1">
                    <a:lumMod val="50000"/>
                  </a:schemeClr>
                </a:solidFill>
              </a:rPr>
              <a:t> </a:t>
            </a:r>
            <a:r>
              <a:rPr lang="mn-MN" dirty="0">
                <a:solidFill>
                  <a:schemeClr val="accent1">
                    <a:lumMod val="50000"/>
                  </a:schemeClr>
                </a:solidFill>
              </a:rPr>
              <a:t>Дугуй ширээний хэлэлцүүлэг</a:t>
            </a:r>
            <a:r>
              <a:rPr lang="mn-MN" dirty="0"/>
              <a:t>, </a:t>
            </a:r>
            <a:r>
              <a:rPr lang="it-IT" dirty="0">
                <a:solidFill>
                  <a:srgbClr val="FF0000"/>
                </a:solidFill>
              </a:rPr>
              <a:t>2011</a:t>
            </a:r>
          </a:p>
          <a:p>
            <a:pPr lvl="1" algn="just"/>
            <a:r>
              <a:rPr lang="mn-MN" dirty="0">
                <a:solidFill>
                  <a:schemeClr val="accent1">
                    <a:lumMod val="50000"/>
                  </a:schemeClr>
                </a:solidFill>
              </a:rPr>
              <a:t>НҮБ, ХХААБ</a:t>
            </a:r>
            <a:r>
              <a:rPr lang="en-US" dirty="0">
                <a:solidFill>
                  <a:schemeClr val="accent1">
                    <a:lumMod val="50000"/>
                  </a:schemeClr>
                </a:solidFill>
              </a:rPr>
              <a:t>-</a:t>
            </a:r>
            <a:r>
              <a:rPr lang="mn-MN" dirty="0">
                <a:solidFill>
                  <a:schemeClr val="accent1">
                    <a:lumMod val="50000"/>
                  </a:schemeClr>
                </a:solidFill>
              </a:rPr>
              <a:t>аас зохион байгуулсан олон улсын</a:t>
            </a:r>
            <a:r>
              <a:rPr lang="en-US" dirty="0">
                <a:solidFill>
                  <a:schemeClr val="accent1">
                    <a:lumMod val="50000"/>
                  </a:schemeClr>
                </a:solidFill>
              </a:rPr>
              <a:t> </a:t>
            </a:r>
            <a:r>
              <a:rPr lang="mn-MN" dirty="0">
                <a:solidFill>
                  <a:schemeClr val="accent1">
                    <a:lumMod val="50000"/>
                  </a:schemeClr>
                </a:solidFill>
              </a:rPr>
              <a:t>дараагийн симпозиум</a:t>
            </a:r>
            <a:r>
              <a:rPr lang="mn-MN" dirty="0"/>
              <a:t>, </a:t>
            </a:r>
            <a:r>
              <a:rPr lang="it-IT" dirty="0">
                <a:solidFill>
                  <a:srgbClr val="FF0000"/>
                </a:solidFill>
              </a:rPr>
              <a:t>20</a:t>
            </a:r>
            <a:r>
              <a:rPr lang="en-US" dirty="0">
                <a:solidFill>
                  <a:srgbClr val="FF0000"/>
                </a:solidFill>
              </a:rPr>
              <a:t>1</a:t>
            </a:r>
            <a:r>
              <a:rPr lang="it-IT" dirty="0">
                <a:solidFill>
                  <a:srgbClr val="FF0000"/>
                </a:solidFill>
              </a:rPr>
              <a:t>2</a:t>
            </a:r>
            <a:endParaRPr lang="mn-MN" dirty="0">
              <a:solidFill>
                <a:srgbClr val="FF0000"/>
              </a:solidFill>
            </a:endParaRPr>
          </a:p>
          <a:p>
            <a:pPr algn="just"/>
            <a:r>
              <a:rPr lang="mn-MN" sz="2400" dirty="0">
                <a:solidFill>
                  <a:srgbClr val="FF0000"/>
                </a:solidFill>
              </a:rPr>
              <a:t>2015 онд </a:t>
            </a:r>
            <a:r>
              <a:rPr lang="mn-MN" sz="2400" dirty="0">
                <a:solidFill>
                  <a:schemeClr val="accent1">
                    <a:lumMod val="50000"/>
                  </a:schemeClr>
                </a:solidFill>
              </a:rPr>
              <a:t>ТХ-ийн 2 зорилго, зорилт 2.1-ийн хэрэгжилтийг дүгнэх нэг үзүүлэлтээр  </a:t>
            </a:r>
            <a:r>
              <a:rPr lang="en-US" sz="2400" dirty="0" err="1">
                <a:solidFill>
                  <a:schemeClr val="accent1">
                    <a:lumMod val="50000"/>
                  </a:schemeClr>
                </a:solidFill>
              </a:rPr>
              <a:t>PoU</a:t>
            </a:r>
            <a:r>
              <a:rPr lang="en-US" sz="2400" dirty="0">
                <a:solidFill>
                  <a:schemeClr val="accent1">
                    <a:lumMod val="50000"/>
                  </a:schemeClr>
                </a:solidFill>
              </a:rPr>
              <a:t>-</a:t>
            </a:r>
            <a:r>
              <a:rPr lang="mn-MN" sz="2400" dirty="0">
                <a:solidFill>
                  <a:schemeClr val="accent1">
                    <a:lumMod val="50000"/>
                  </a:schemeClr>
                </a:solidFill>
              </a:rPr>
              <a:t>г сонгогдсон. </a:t>
            </a:r>
            <a:endParaRPr lang="it-IT" sz="2400" dirty="0">
              <a:solidFill>
                <a:schemeClr val="accent1">
                  <a:lumMod val="50000"/>
                </a:schemeClr>
              </a:solidFill>
            </a:endParaRPr>
          </a:p>
          <a:p>
            <a:pPr algn="just"/>
            <a:r>
              <a:rPr lang="mn-MN" sz="2400" dirty="0">
                <a:solidFill>
                  <a:schemeClr val="accent1">
                    <a:lumMod val="50000"/>
                  </a:schemeClr>
                </a:solidFill>
              </a:rPr>
              <a:t>Хамгийн сүүлд</a:t>
            </a:r>
            <a:r>
              <a:rPr lang="it-IT" sz="2400" dirty="0">
                <a:solidFill>
                  <a:schemeClr val="accent1">
                    <a:lumMod val="50000"/>
                  </a:schemeClr>
                </a:solidFill>
              </a:rPr>
              <a:t>, </a:t>
            </a:r>
            <a:r>
              <a:rPr lang="it-IT" sz="2400" dirty="0">
                <a:solidFill>
                  <a:srgbClr val="FF0000"/>
                </a:solidFill>
              </a:rPr>
              <a:t>2017, 2018, 2019</a:t>
            </a:r>
            <a:r>
              <a:rPr lang="mn-MN" sz="2400" dirty="0">
                <a:solidFill>
                  <a:srgbClr val="FF0000"/>
                </a:solidFill>
              </a:rPr>
              <a:t> онуудад</a:t>
            </a:r>
            <a:r>
              <a:rPr lang="it-IT" sz="2400" dirty="0"/>
              <a:t>,</a:t>
            </a:r>
            <a:r>
              <a:rPr lang="mn-MN" sz="2400" dirty="0"/>
              <a:t> </a:t>
            </a:r>
            <a:r>
              <a:rPr lang="en-US" sz="2400" dirty="0" err="1">
                <a:solidFill>
                  <a:schemeClr val="accent1">
                    <a:lumMod val="50000"/>
                  </a:schemeClr>
                </a:solidFill>
              </a:rPr>
              <a:t>PoU</a:t>
            </a:r>
            <a:r>
              <a:rPr lang="mn-MN" sz="2400" dirty="0">
                <a:solidFill>
                  <a:schemeClr val="accent1">
                    <a:lumMod val="50000"/>
                  </a:schemeClr>
                </a:solidFill>
              </a:rPr>
              <a:t>-гийн үндэсний түвшин, бүсийн түвшин, дэлхийн түвшний</a:t>
            </a:r>
            <a:r>
              <a:rPr lang="en-US" sz="2400" dirty="0">
                <a:solidFill>
                  <a:schemeClr val="accent1">
                    <a:lumMod val="50000"/>
                  </a:schemeClr>
                </a:solidFill>
              </a:rPr>
              <a:t> </a:t>
            </a:r>
            <a:r>
              <a:rPr lang="mn-MN" sz="2400" dirty="0">
                <a:solidFill>
                  <a:schemeClr val="accent1">
                    <a:lumMod val="50000"/>
                  </a:schemeClr>
                </a:solidFill>
              </a:rPr>
              <a:t>тооцоолол “Дэлхийн хоол тэжээлийн илчлэг, хүнсний аюулгүй байдал” шинэ товхимолд хэвлэгдэн гарсан.  </a:t>
            </a:r>
            <a:endParaRPr lang="it-IT" sz="2400" b="1" i="1" dirty="0">
              <a:solidFill>
                <a:schemeClr val="accent1">
                  <a:lumMod val="50000"/>
                </a:schemeClr>
              </a:solidFill>
            </a:endParaRPr>
          </a:p>
        </p:txBody>
      </p:sp>
    </p:spTree>
    <p:extLst>
      <p:ext uri="{BB962C8B-B14F-4D97-AF65-F5344CB8AC3E}">
        <p14:creationId xmlns:p14="http://schemas.microsoft.com/office/powerpoint/2010/main" val="144961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9501" y="106447"/>
            <a:ext cx="9265024" cy="1100054"/>
          </a:xfrm>
        </p:spPr>
        <p:txBody>
          <a:bodyPr>
            <a:noAutofit/>
          </a:bodyPr>
          <a:lstStyle/>
          <a:p>
            <a:pPr algn="just"/>
            <a:r>
              <a:rPr lang="mn-MN" sz="3600" b="1" u="sng" dirty="0">
                <a:solidFill>
                  <a:schemeClr val="accent1">
                    <a:lumMod val="50000"/>
                  </a:schemeClr>
                </a:solidFill>
              </a:rPr>
              <a:t>Хоол, тэжээлийн илчлэгийн хэрэглээ, шаардлага</a:t>
            </a:r>
            <a:endParaRPr lang="it-IT" sz="3600" b="1" u="sng" dirty="0">
              <a:solidFill>
                <a:schemeClr val="accent1">
                  <a:lumMod val="50000"/>
                </a:schemeClr>
              </a:solidFill>
            </a:endParaRPr>
          </a:p>
        </p:txBody>
      </p:sp>
      <p:sp>
        <p:nvSpPr>
          <p:cNvPr id="3" name="Content Placeholder 2"/>
          <p:cNvSpPr>
            <a:spLocks noGrp="1"/>
          </p:cNvSpPr>
          <p:nvPr>
            <p:ph idx="1"/>
          </p:nvPr>
        </p:nvSpPr>
        <p:spPr>
          <a:xfrm>
            <a:off x="2136501" y="1476843"/>
            <a:ext cx="9265024" cy="4351338"/>
          </a:xfrm>
        </p:spPr>
        <p:txBody>
          <a:bodyPr>
            <a:normAutofit/>
          </a:bodyPr>
          <a:lstStyle/>
          <a:p>
            <a:pPr marL="0" indent="0" algn="just">
              <a:buNone/>
            </a:pPr>
            <a:r>
              <a:rPr lang="en-US" b="1" dirty="0" err="1">
                <a:solidFill>
                  <a:schemeClr val="accent1">
                    <a:lumMod val="50000"/>
                  </a:schemeClr>
                </a:solidFill>
              </a:rPr>
              <a:t>PoU</a:t>
            </a:r>
            <a:r>
              <a:rPr lang="mn-MN" b="1" dirty="0">
                <a:solidFill>
                  <a:schemeClr val="accent1">
                    <a:lumMod val="50000"/>
                  </a:schemeClr>
                </a:solidFill>
              </a:rPr>
              <a:t>-г тооцох</a:t>
            </a:r>
            <a:r>
              <a:rPr lang="en-US" b="1" dirty="0">
                <a:solidFill>
                  <a:schemeClr val="accent1">
                    <a:lumMod val="50000"/>
                  </a:schemeClr>
                </a:solidFill>
              </a:rPr>
              <a:t> </a:t>
            </a:r>
            <a:r>
              <a:rPr lang="mn-MN" b="1" dirty="0">
                <a:solidFill>
                  <a:schemeClr val="accent1">
                    <a:lumMod val="50000"/>
                  </a:schemeClr>
                </a:solidFill>
              </a:rPr>
              <a:t>хоол, тэжээлийн илчлэгийн арга:</a:t>
            </a:r>
            <a:r>
              <a:rPr lang="en-US" dirty="0">
                <a:solidFill>
                  <a:schemeClr val="accent1">
                    <a:lumMod val="50000"/>
                  </a:schemeClr>
                </a:solidFill>
              </a:rPr>
              <a:t> </a:t>
            </a:r>
            <a:endParaRPr lang="mn-MN" dirty="0">
              <a:solidFill>
                <a:schemeClr val="accent1">
                  <a:lumMod val="50000"/>
                </a:schemeClr>
              </a:solidFill>
            </a:endParaRPr>
          </a:p>
          <a:p>
            <a:pPr marL="0" indent="0" algn="just">
              <a:buNone/>
            </a:pPr>
            <a:r>
              <a:rPr lang="mn-MN" dirty="0">
                <a:solidFill>
                  <a:schemeClr val="accent1">
                    <a:lumMod val="50000"/>
                  </a:schemeClr>
                </a:solidFill>
              </a:rPr>
              <a:t>Хэрэглэж хэвшсэн хоол, тэжээлээсээ авч байгаа илчлэгийн хэмжээ нь  мэргэжилтнүүдийн зөвлөсөн авах шаардлагатай илчлэгийн хамгийн бага хэмжээнээс доогуур байвал тухайн хүнийг хоол тэжээлийн дутагдалтай  гэж үзнэ. </a:t>
            </a:r>
          </a:p>
          <a:p>
            <a:pPr lvl="2" algn="just"/>
            <a:r>
              <a:rPr lang="mn-MN" sz="2800" dirty="0">
                <a:solidFill>
                  <a:schemeClr val="accent1">
                    <a:lumMod val="50000"/>
                  </a:schemeClr>
                </a:solidFill>
              </a:rPr>
              <a:t>Хоол, тэжээлийн илчлэгийн хэрэглээ </a:t>
            </a:r>
            <a:endParaRPr lang="en-US" sz="2800" dirty="0">
              <a:solidFill>
                <a:schemeClr val="accent1">
                  <a:lumMod val="50000"/>
                </a:schemeClr>
              </a:solidFill>
            </a:endParaRPr>
          </a:p>
          <a:p>
            <a:pPr lvl="2" algn="just"/>
            <a:r>
              <a:rPr lang="mn-MN" sz="2800" dirty="0">
                <a:solidFill>
                  <a:schemeClr val="accent1">
                    <a:lumMod val="50000"/>
                  </a:schemeClr>
                </a:solidFill>
              </a:rPr>
              <a:t>Хоол, тэжээлээс авах шаардлагатай илчлэгийн хэмжээ </a:t>
            </a:r>
            <a:endParaRPr lang="en-US" sz="2800" dirty="0">
              <a:solidFill>
                <a:schemeClr val="accent1">
                  <a:lumMod val="50000"/>
                </a:schemeClr>
              </a:solidFill>
            </a:endParaRPr>
          </a:p>
          <a:p>
            <a:pPr lvl="2" algn="just"/>
            <a:r>
              <a:rPr lang="en-US" sz="2800" dirty="0">
                <a:solidFill>
                  <a:schemeClr val="accent1">
                    <a:lumMod val="50000"/>
                  </a:schemeClr>
                </a:solidFill>
              </a:rPr>
              <a:t>T</a:t>
            </a:r>
            <a:r>
              <a:rPr lang="mn-MN" sz="2800" dirty="0">
                <a:solidFill>
                  <a:schemeClr val="accent1">
                    <a:lumMod val="50000"/>
                  </a:schemeClr>
                </a:solidFill>
              </a:rPr>
              <a:t>огтвортой байдал</a:t>
            </a:r>
            <a:r>
              <a:rPr lang="en-US" sz="2800" dirty="0">
                <a:solidFill>
                  <a:schemeClr val="accent1">
                    <a:lumMod val="50000"/>
                  </a:schemeClr>
                </a:solidFill>
              </a:rPr>
              <a:t>: </a:t>
            </a:r>
            <a:r>
              <a:rPr lang="mn-MN" sz="2800" dirty="0">
                <a:solidFill>
                  <a:schemeClr val="accent1">
                    <a:lumMod val="50000"/>
                  </a:schemeClr>
                </a:solidFill>
              </a:rPr>
              <a:t> Хэрэглээ</a:t>
            </a:r>
            <a:r>
              <a:rPr lang="en-US" sz="2800" dirty="0">
                <a:solidFill>
                  <a:schemeClr val="accent1">
                    <a:lumMod val="50000"/>
                  </a:schemeClr>
                </a:solidFill>
              </a:rPr>
              <a:t> = </a:t>
            </a:r>
            <a:r>
              <a:rPr lang="mn-MN" sz="2800" dirty="0">
                <a:solidFill>
                  <a:schemeClr val="accent1">
                    <a:lumMod val="50000"/>
                  </a:schemeClr>
                </a:solidFill>
              </a:rPr>
              <a:t>Авах шаардлагатай  хэмжээ</a:t>
            </a:r>
            <a:endParaRPr lang="en-US" sz="2800" dirty="0">
              <a:solidFill>
                <a:schemeClr val="accent1">
                  <a:lumMod val="50000"/>
                </a:schemeClr>
              </a:solidFill>
            </a:endParaRPr>
          </a:p>
          <a:p>
            <a:pPr algn="just"/>
            <a:endParaRPr lang="it-IT" dirty="0">
              <a:solidFill>
                <a:schemeClr val="accent1">
                  <a:lumMod val="50000"/>
                </a:schemeClr>
              </a:solidFill>
            </a:endParaRPr>
          </a:p>
        </p:txBody>
      </p:sp>
    </p:spTree>
    <p:extLst>
      <p:ext uri="{BB962C8B-B14F-4D97-AF65-F5344CB8AC3E}">
        <p14:creationId xmlns:p14="http://schemas.microsoft.com/office/powerpoint/2010/main" val="864058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5"/>
            <a:ext cx="9265024" cy="866775"/>
          </a:xfrm>
        </p:spPr>
        <p:txBody>
          <a:bodyPr>
            <a:normAutofit/>
          </a:bodyPr>
          <a:lstStyle/>
          <a:p>
            <a:pPr algn="just"/>
            <a:r>
              <a:rPr lang="mn-MN" sz="4000" b="1" u="sng" dirty="0">
                <a:solidFill>
                  <a:schemeClr val="accent1">
                    <a:lumMod val="50000"/>
                  </a:schemeClr>
                </a:solidFill>
              </a:rPr>
              <a:t>Хоол тэжээлийн илчлэгийн хэрэглээ </a:t>
            </a:r>
            <a:r>
              <a:rPr lang="it-IT" sz="4000" b="1" u="sng" dirty="0">
                <a:solidFill>
                  <a:schemeClr val="accent1">
                    <a:lumMod val="50000"/>
                  </a:schemeClr>
                </a:solidFill>
              </a:rPr>
              <a:t>(DEI)</a:t>
            </a:r>
          </a:p>
        </p:txBody>
      </p:sp>
      <p:sp>
        <p:nvSpPr>
          <p:cNvPr id="3" name="Content Placeholder 2"/>
          <p:cNvSpPr>
            <a:spLocks noGrp="1"/>
          </p:cNvSpPr>
          <p:nvPr>
            <p:ph idx="1"/>
          </p:nvPr>
        </p:nvSpPr>
        <p:spPr>
          <a:xfrm>
            <a:off x="2148800" y="1540543"/>
            <a:ext cx="9265024" cy="3976688"/>
          </a:xfrm>
        </p:spPr>
        <p:txBody>
          <a:bodyPr>
            <a:normAutofit/>
          </a:bodyPr>
          <a:lstStyle/>
          <a:p>
            <a:pPr algn="just"/>
            <a:r>
              <a:rPr lang="mn-MN" dirty="0">
                <a:solidFill>
                  <a:schemeClr val="accent1">
                    <a:lumMod val="50000"/>
                  </a:schemeClr>
                </a:solidFill>
              </a:rPr>
              <a:t>Хүмүүст урт хугацаанд эрүүл, идэвхтэй амьдрахад илчлэг шаардлагатай.</a:t>
            </a:r>
            <a:endParaRPr lang="it-IT" dirty="0">
              <a:solidFill>
                <a:schemeClr val="accent1">
                  <a:lumMod val="50000"/>
                </a:schemeClr>
              </a:solidFill>
            </a:endParaRPr>
          </a:p>
          <a:p>
            <a:pPr algn="just"/>
            <a:r>
              <a:rPr lang="mn-MN" dirty="0">
                <a:solidFill>
                  <a:schemeClr val="accent1">
                    <a:lumMod val="50000"/>
                  </a:schemeClr>
                </a:solidFill>
              </a:rPr>
              <a:t>Хүн өөрт шаардлагатай  илчлэгийг  хэрэглэсэн хоол, хүнснээсээ авна.  Хоол хүнсийг хэрэглэх үед бидний биеийн биологийн үйл явц түүнийг илчлэг, шим тэжээл болгон хувиргадаг.</a:t>
            </a:r>
          </a:p>
          <a:p>
            <a:pPr algn="just"/>
            <a:r>
              <a:rPr lang="mn-MN" dirty="0">
                <a:solidFill>
                  <a:schemeClr val="accent1">
                    <a:lumMod val="50000"/>
                  </a:schemeClr>
                </a:solidFill>
              </a:rPr>
              <a:t>Хэрэглэсэн хоол, хүнснээс авсан илчлэгийн хэмжээг  </a:t>
            </a:r>
            <a:r>
              <a:rPr lang="en-US" dirty="0">
                <a:solidFill>
                  <a:schemeClr val="accent1">
                    <a:lumMod val="50000"/>
                  </a:schemeClr>
                </a:solidFill>
              </a:rPr>
              <a:t>(k</a:t>
            </a:r>
            <a:r>
              <a:rPr lang="mn-MN" dirty="0">
                <a:solidFill>
                  <a:schemeClr val="accent1">
                    <a:lumMod val="50000"/>
                  </a:schemeClr>
                </a:solidFill>
              </a:rPr>
              <a:t>илокалори</a:t>
            </a:r>
            <a:r>
              <a:rPr lang="en-US" dirty="0">
                <a:solidFill>
                  <a:schemeClr val="accent1">
                    <a:lumMod val="50000"/>
                  </a:schemeClr>
                </a:solidFill>
              </a:rPr>
              <a:t>)</a:t>
            </a:r>
            <a:r>
              <a:rPr lang="mn-MN" dirty="0">
                <a:solidFill>
                  <a:schemeClr val="accent1">
                    <a:lumMod val="50000"/>
                  </a:schemeClr>
                </a:solidFill>
              </a:rPr>
              <a:t> “Хоол тэжээлийн илчлэгийн хэрэглээ” гэж нэрлэнэ.</a:t>
            </a:r>
          </a:p>
        </p:txBody>
      </p:sp>
    </p:spTree>
    <p:extLst>
      <p:ext uri="{BB962C8B-B14F-4D97-AF65-F5344CB8AC3E}">
        <p14:creationId xmlns:p14="http://schemas.microsoft.com/office/powerpoint/2010/main" val="219733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1476" y="225425"/>
            <a:ext cx="9265024" cy="1325563"/>
          </a:xfrm>
        </p:spPr>
        <p:txBody>
          <a:bodyPr>
            <a:normAutofit/>
          </a:bodyPr>
          <a:lstStyle/>
          <a:p>
            <a:r>
              <a:rPr lang="mn-MN" sz="3600" b="1" u="sng" dirty="0">
                <a:solidFill>
                  <a:schemeClr val="accent1">
                    <a:lumMod val="50000"/>
                  </a:schemeClr>
                </a:solidFill>
              </a:rPr>
              <a:t>Хоол тэжээлээс авах шаардлагатай илчлэгийн хэмжээ </a:t>
            </a:r>
            <a:r>
              <a:rPr lang="it-IT" sz="3600" b="1" u="sng" dirty="0"/>
              <a:t>(DER)</a:t>
            </a:r>
          </a:p>
        </p:txBody>
      </p:sp>
      <p:sp>
        <p:nvSpPr>
          <p:cNvPr id="3" name="Content Placeholder 2"/>
          <p:cNvSpPr>
            <a:spLocks noGrp="1"/>
          </p:cNvSpPr>
          <p:nvPr>
            <p:ph idx="1"/>
          </p:nvPr>
        </p:nvSpPr>
        <p:spPr>
          <a:xfrm>
            <a:off x="2088776" y="1839067"/>
            <a:ext cx="9265024" cy="4007695"/>
          </a:xfrm>
        </p:spPr>
        <p:txBody>
          <a:bodyPr>
            <a:normAutofit/>
          </a:bodyPr>
          <a:lstStyle/>
          <a:p>
            <a:pPr algn="just"/>
            <a:r>
              <a:rPr lang="mn-MN" dirty="0">
                <a:solidFill>
                  <a:schemeClr val="accent1">
                    <a:lumMod val="50000"/>
                  </a:schemeClr>
                </a:solidFill>
              </a:rPr>
              <a:t>Бидэнд урт хугацаанд  идэвхтэй, эрүүл амьдрахад шаардагдах илчлэгийн хэмжээг “Хоол, тэжээлээс авах шаардлагатай илчлэгийн хэмжээ” гэж нэрлэнэ.</a:t>
            </a:r>
          </a:p>
          <a:p>
            <a:pPr algn="just"/>
            <a:r>
              <a:rPr lang="mn-MN" dirty="0">
                <a:solidFill>
                  <a:schemeClr val="accent1">
                    <a:lumMod val="50000"/>
                  </a:schemeClr>
                </a:solidFill>
              </a:rPr>
              <a:t>Хувь хүн бүрд,  урт хугацаанд эрүүл байхад нь нийцэх “Авах шаардлагатай илчлэгийн хэмжээ”   гэж байдаг.</a:t>
            </a:r>
          </a:p>
          <a:p>
            <a:pPr algn="just"/>
            <a:r>
              <a:rPr lang="mn-MN" dirty="0">
                <a:solidFill>
                  <a:schemeClr val="accent1">
                    <a:lumMod val="50000"/>
                  </a:schemeClr>
                </a:solidFill>
              </a:rPr>
              <a:t>Нас, физиологийн байдал, хүйс, биеийн жин, амьдралын хэв маяг</a:t>
            </a:r>
            <a:r>
              <a:rPr lang="en-US" dirty="0">
                <a:solidFill>
                  <a:schemeClr val="accent1">
                    <a:lumMod val="50000"/>
                  </a:schemeClr>
                </a:solidFill>
              </a:rPr>
              <a:t> </a:t>
            </a:r>
            <a:r>
              <a:rPr lang="mn-MN" dirty="0">
                <a:solidFill>
                  <a:schemeClr val="accent1">
                    <a:lumMod val="50000"/>
                  </a:schemeClr>
                </a:solidFill>
              </a:rPr>
              <a:t>зэрэг нь шаардлагатай илчлэгийн хэмжээнд нөлөөлөх хүчин зүйлс болдог.</a:t>
            </a:r>
          </a:p>
        </p:txBody>
      </p:sp>
    </p:spTree>
    <p:extLst>
      <p:ext uri="{BB962C8B-B14F-4D97-AF65-F5344CB8AC3E}">
        <p14:creationId xmlns:p14="http://schemas.microsoft.com/office/powerpoint/2010/main" val="2995990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7976" y="250825"/>
            <a:ext cx="9265024" cy="955675"/>
          </a:xfrm>
        </p:spPr>
        <p:txBody>
          <a:bodyPr>
            <a:normAutofit/>
          </a:bodyPr>
          <a:lstStyle/>
          <a:p>
            <a:r>
              <a:rPr lang="mn-MN" sz="4000" b="1" u="sng" dirty="0">
                <a:solidFill>
                  <a:schemeClr val="accent1">
                    <a:lumMod val="50000"/>
                  </a:schemeClr>
                </a:solidFill>
              </a:rPr>
              <a:t>Магадлалт тархалтын хүрээ</a:t>
            </a:r>
          </a:p>
        </p:txBody>
      </p:sp>
      <p:sp>
        <p:nvSpPr>
          <p:cNvPr id="3" name="Content Placeholder 2"/>
          <p:cNvSpPr>
            <a:spLocks noGrp="1"/>
          </p:cNvSpPr>
          <p:nvPr>
            <p:ph idx="1"/>
          </p:nvPr>
        </p:nvSpPr>
        <p:spPr>
          <a:xfrm>
            <a:off x="1910976" y="1355725"/>
            <a:ext cx="10001624" cy="4351338"/>
          </a:xfrm>
        </p:spPr>
        <p:txBody>
          <a:bodyPr>
            <a:normAutofit/>
          </a:bodyPr>
          <a:lstStyle/>
          <a:p>
            <a:pPr algn="just"/>
            <a:r>
              <a:rPr lang="mn-MN" dirty="0">
                <a:solidFill>
                  <a:schemeClr val="accent1">
                    <a:lumMod val="50000"/>
                  </a:schemeClr>
                </a:solidFill>
              </a:rPr>
              <a:t>Ажиглалтад хамрагдсан өрхийн хоол, тэжээлийн хэрэглээг </a:t>
            </a:r>
            <a:r>
              <a:rPr lang="en-US" b="1" dirty="0">
                <a:solidFill>
                  <a:schemeClr val="accent1">
                    <a:lumMod val="50000"/>
                  </a:schemeClr>
                </a:solidFill>
              </a:rPr>
              <a:t>(DEC)</a:t>
            </a:r>
            <a:r>
              <a:rPr lang="mn-MN" b="1" dirty="0">
                <a:solidFill>
                  <a:schemeClr val="accent1">
                    <a:lumMod val="50000"/>
                  </a:schemeClr>
                </a:solidFill>
              </a:rPr>
              <a:t> </a:t>
            </a:r>
            <a:r>
              <a:rPr lang="mn-MN" dirty="0">
                <a:solidFill>
                  <a:schemeClr val="accent1">
                    <a:lumMod val="50000"/>
                  </a:schemeClr>
                </a:solidFill>
              </a:rPr>
              <a:t>тооцоолол хийсэн өрхийн хоол тэжээлээс </a:t>
            </a:r>
            <a:r>
              <a:rPr lang="en-US" dirty="0">
                <a:solidFill>
                  <a:schemeClr val="accent1">
                    <a:lumMod val="50000"/>
                  </a:schemeClr>
                </a:solidFill>
              </a:rPr>
              <a:t> </a:t>
            </a:r>
            <a:r>
              <a:rPr lang="mn-MN" dirty="0">
                <a:solidFill>
                  <a:schemeClr val="accent1">
                    <a:lumMod val="50000"/>
                  </a:schemeClr>
                </a:solidFill>
              </a:rPr>
              <a:t>авах шаардлагатай илчлэгийн хэмжээнд</a:t>
            </a:r>
            <a:r>
              <a:rPr lang="en-US" dirty="0">
                <a:solidFill>
                  <a:schemeClr val="accent1">
                    <a:lumMod val="50000"/>
                  </a:schemeClr>
                </a:solidFill>
              </a:rPr>
              <a:t> </a:t>
            </a:r>
            <a:r>
              <a:rPr lang="en-US" b="1" dirty="0">
                <a:solidFill>
                  <a:schemeClr val="accent1">
                    <a:lumMod val="50000"/>
                  </a:schemeClr>
                </a:solidFill>
              </a:rPr>
              <a:t>(DER)</a:t>
            </a:r>
            <a:r>
              <a:rPr lang="mn-MN" b="1" dirty="0">
                <a:solidFill>
                  <a:schemeClr val="accent1">
                    <a:lumMod val="50000"/>
                  </a:schemeClr>
                </a:solidFill>
              </a:rPr>
              <a:t> </a:t>
            </a:r>
            <a:r>
              <a:rPr lang="mn-MN" dirty="0">
                <a:solidFill>
                  <a:schemeClr val="accent1">
                    <a:lumMod val="50000"/>
                  </a:schemeClr>
                </a:solidFill>
              </a:rPr>
              <a:t>харьцуулах,  хоол тэжээлийн хэрэглээ нь авах шаардлагатай хэмжээнээс</a:t>
            </a:r>
            <a:r>
              <a:rPr lang="en-US" dirty="0">
                <a:solidFill>
                  <a:schemeClr val="accent1">
                    <a:lumMod val="50000"/>
                  </a:schemeClr>
                </a:solidFill>
              </a:rPr>
              <a:t> </a:t>
            </a:r>
            <a:r>
              <a:rPr lang="mn-MN" dirty="0">
                <a:solidFill>
                  <a:schemeClr val="accent1">
                    <a:lumMod val="50000"/>
                  </a:schemeClr>
                </a:solidFill>
              </a:rPr>
              <a:t>бага</a:t>
            </a:r>
            <a:r>
              <a:rPr lang="en-US" dirty="0">
                <a:solidFill>
                  <a:schemeClr val="accent1">
                    <a:lumMod val="50000"/>
                  </a:schemeClr>
                </a:solidFill>
              </a:rPr>
              <a:t> </a:t>
            </a:r>
            <a:r>
              <a:rPr lang="en-US" b="1" dirty="0">
                <a:solidFill>
                  <a:schemeClr val="accent1">
                    <a:lumMod val="50000"/>
                  </a:schemeClr>
                </a:solidFill>
              </a:rPr>
              <a:t>(DEC)‹(DER) </a:t>
            </a:r>
            <a:r>
              <a:rPr lang="mn-MN" dirty="0">
                <a:solidFill>
                  <a:schemeClr val="accent1">
                    <a:lumMod val="50000"/>
                  </a:schemeClr>
                </a:solidFill>
              </a:rPr>
              <a:t>өрхийн гишүүдийг тоолох зэрэгтэй холбоотойгоор хоол тэжээлийн дутагдалтай хүн амыг тооцохыг  </a:t>
            </a:r>
            <a:r>
              <a:rPr lang="mn-MN" b="1" dirty="0">
                <a:solidFill>
                  <a:schemeClr val="accent1">
                    <a:lumMod val="50000"/>
                  </a:schemeClr>
                </a:solidFill>
              </a:rPr>
              <a:t>энгийн нэг тооцоолох дасгал</a:t>
            </a:r>
            <a:r>
              <a:rPr lang="mn-MN" dirty="0">
                <a:solidFill>
                  <a:schemeClr val="accent1">
                    <a:lumMod val="50000"/>
                  </a:schemeClr>
                </a:solidFill>
              </a:rPr>
              <a:t> гэж үзэх боломжгүй юм.</a:t>
            </a:r>
          </a:p>
          <a:p>
            <a:pPr algn="just"/>
            <a:r>
              <a:rPr lang="mn-MN" dirty="0">
                <a:solidFill>
                  <a:schemeClr val="accent1">
                    <a:lumMod val="50000"/>
                  </a:schemeClr>
                </a:solidFill>
              </a:rPr>
              <a:t>Үүний оронд түүнийг </a:t>
            </a:r>
            <a:r>
              <a:rPr lang="mn-MN" b="1" dirty="0">
                <a:solidFill>
                  <a:schemeClr val="accent1">
                    <a:lumMod val="50000"/>
                  </a:schemeClr>
                </a:solidFill>
              </a:rPr>
              <a:t>магадлалт тархалтын хүрээнд </a:t>
            </a:r>
            <a:r>
              <a:rPr lang="mn-MN" dirty="0">
                <a:solidFill>
                  <a:schemeClr val="accent1">
                    <a:lumMod val="50000"/>
                  </a:schemeClr>
                </a:solidFill>
              </a:rPr>
              <a:t>авч үзэх хэрэгтэй. </a:t>
            </a:r>
            <a:endParaRPr lang="en-US" dirty="0">
              <a:solidFill>
                <a:schemeClr val="accent1">
                  <a:lumMod val="50000"/>
                </a:schemeClr>
              </a:solidFill>
            </a:endParaRPr>
          </a:p>
        </p:txBody>
      </p:sp>
    </p:spTree>
    <p:extLst>
      <p:ext uri="{BB962C8B-B14F-4D97-AF65-F5344CB8AC3E}">
        <p14:creationId xmlns:p14="http://schemas.microsoft.com/office/powerpoint/2010/main" val="1467974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165371"/>
            <a:ext cx="9785724" cy="1155429"/>
          </a:xfrm>
        </p:spPr>
        <p:txBody>
          <a:bodyPr>
            <a:normAutofit/>
          </a:bodyPr>
          <a:lstStyle/>
          <a:p>
            <a:r>
              <a:rPr lang="mn-MN" sz="3200" b="1" u="sng" dirty="0">
                <a:solidFill>
                  <a:schemeClr val="accent1">
                    <a:lumMod val="50000"/>
                  </a:schemeClr>
                </a:solidFill>
              </a:rPr>
              <a:t>Хоол тэжээлээс авах шаардлагатай илчлэгийн магадлалт тархалт</a:t>
            </a:r>
            <a:endParaRPr lang="en-US" sz="3200" b="1" u="sng" dirty="0"/>
          </a:p>
        </p:txBody>
      </p:sp>
      <p:sp>
        <p:nvSpPr>
          <p:cNvPr id="3" name="Content Placeholder 2"/>
          <p:cNvSpPr>
            <a:spLocks noGrp="1"/>
          </p:cNvSpPr>
          <p:nvPr>
            <p:ph idx="1"/>
          </p:nvPr>
        </p:nvSpPr>
        <p:spPr>
          <a:xfrm>
            <a:off x="1981200" y="1508951"/>
            <a:ext cx="3149600" cy="4764849"/>
          </a:xfrm>
        </p:spPr>
        <p:txBody>
          <a:bodyPr>
            <a:noAutofit/>
          </a:bodyPr>
          <a:lstStyle/>
          <a:p>
            <a:pPr algn="just"/>
            <a:r>
              <a:rPr lang="mn-MN" sz="2000" dirty="0">
                <a:solidFill>
                  <a:schemeClr val="accent1">
                    <a:lumMod val="50000"/>
                  </a:schemeClr>
                </a:solidFill>
              </a:rPr>
              <a:t>Хувь хүний авах шаардлагатай илчлэг нь эх олонлогт </a:t>
            </a:r>
            <a:r>
              <a:rPr lang="en-US" sz="2000" dirty="0">
                <a:solidFill>
                  <a:schemeClr val="accent1">
                    <a:lumMod val="50000"/>
                  </a:schemeClr>
                </a:solidFill>
              </a:rPr>
              <a:t>(</a:t>
            </a:r>
            <a:r>
              <a:rPr lang="mn-MN" sz="2000" dirty="0">
                <a:solidFill>
                  <a:schemeClr val="accent1">
                    <a:lumMod val="50000"/>
                  </a:schemeClr>
                </a:solidFill>
              </a:rPr>
              <a:t>хүн амын дотор</a:t>
            </a:r>
            <a:r>
              <a:rPr lang="en-US" sz="2000" dirty="0">
                <a:solidFill>
                  <a:schemeClr val="accent1">
                    <a:lumMod val="50000"/>
                  </a:schemeClr>
                </a:solidFill>
              </a:rPr>
              <a:t>)</a:t>
            </a:r>
            <a:r>
              <a:rPr lang="mn-MN" sz="2000" dirty="0">
                <a:solidFill>
                  <a:schemeClr val="accent1">
                    <a:lumMod val="50000"/>
                  </a:schemeClr>
                </a:solidFill>
              </a:rPr>
              <a:t> хэрхэн тархаагдсныг авах шаардлагатай</a:t>
            </a:r>
            <a:r>
              <a:rPr lang="en-US" sz="2000" dirty="0">
                <a:solidFill>
                  <a:schemeClr val="accent1">
                    <a:lumMod val="50000"/>
                  </a:schemeClr>
                </a:solidFill>
              </a:rPr>
              <a:t> </a:t>
            </a:r>
            <a:r>
              <a:rPr lang="mn-MN" sz="2000" dirty="0">
                <a:solidFill>
                  <a:schemeClr val="accent1">
                    <a:lumMod val="50000"/>
                  </a:schemeClr>
                </a:solidFill>
              </a:rPr>
              <a:t>илчлэгийн тоон утгууд нь магадлалт тохиолдолтой  давхцах үеийн магадлалт тархалтаар төлөөлүүлэн авна. </a:t>
            </a:r>
          </a:p>
          <a:p>
            <a:pPr algn="just"/>
            <a:r>
              <a:rPr lang="mn-MN" sz="2000" dirty="0">
                <a:solidFill>
                  <a:schemeClr val="accent1">
                    <a:lumMod val="50000"/>
                  </a:schemeClr>
                </a:solidFill>
              </a:rPr>
              <a:t>Олонлог тус бүр өөрсдийн хоол тэжээлээс авах шаардлагатай илчлэгийн магадлалт тархалттай байна. </a:t>
            </a:r>
          </a:p>
        </p:txBody>
      </p:sp>
      <p:grpSp>
        <p:nvGrpSpPr>
          <p:cNvPr id="4" name="Group 3"/>
          <p:cNvGrpSpPr/>
          <p:nvPr/>
        </p:nvGrpSpPr>
        <p:grpSpPr>
          <a:xfrm>
            <a:off x="5242869" y="2005789"/>
            <a:ext cx="6117687" cy="3791362"/>
            <a:chOff x="963965" y="1276030"/>
            <a:chExt cx="5955852" cy="4502434"/>
          </a:xfrm>
        </p:grpSpPr>
        <p:grpSp>
          <p:nvGrpSpPr>
            <p:cNvPr id="5" name="Group 4"/>
            <p:cNvGrpSpPr/>
            <p:nvPr/>
          </p:nvGrpSpPr>
          <p:grpSpPr>
            <a:xfrm>
              <a:off x="963965" y="1276030"/>
              <a:ext cx="5955852" cy="4502434"/>
              <a:chOff x="963965" y="1276030"/>
              <a:chExt cx="5955852" cy="4502434"/>
            </a:xfrm>
          </p:grpSpPr>
          <p:sp>
            <p:nvSpPr>
              <p:cNvPr id="10" name="TextBox 9"/>
              <p:cNvSpPr txBox="1"/>
              <p:nvPr/>
            </p:nvSpPr>
            <p:spPr>
              <a:xfrm>
                <a:off x="1311123" y="5266764"/>
                <a:ext cx="1518773" cy="511700"/>
              </a:xfrm>
              <a:prstGeom prst="rect">
                <a:avLst/>
              </a:prstGeom>
              <a:noFill/>
            </p:spPr>
            <p:txBody>
              <a:bodyPr wrap="none" rtlCol="0">
                <a:spAutoFit/>
              </a:bodyPr>
              <a:lstStyle/>
              <a:p>
                <a:pPr algn="just"/>
                <a:r>
                  <a:rPr lang="mn-MN" sz="1100" dirty="0"/>
                  <a:t>Хүлээн зөвшөөрөгдсөн</a:t>
                </a:r>
              </a:p>
              <a:p>
                <a:pPr algn="just"/>
                <a:r>
                  <a:rPr lang="mn-MN" sz="1100" dirty="0"/>
                  <a:t> хамгийн бага хязгаар</a:t>
                </a:r>
                <a:endParaRPr lang="en-US" sz="1100" dirty="0"/>
              </a:p>
            </p:txBody>
          </p:sp>
          <p:sp>
            <p:nvSpPr>
              <p:cNvPr id="11" name="TextBox 10"/>
              <p:cNvSpPr txBox="1"/>
              <p:nvPr/>
            </p:nvSpPr>
            <p:spPr>
              <a:xfrm>
                <a:off x="5355223" y="5286969"/>
                <a:ext cx="1564594" cy="365501"/>
              </a:xfrm>
              <a:prstGeom prst="rect">
                <a:avLst/>
              </a:prstGeom>
              <a:noFill/>
            </p:spPr>
            <p:txBody>
              <a:bodyPr wrap="none" rtlCol="0">
                <a:spAutoFit/>
              </a:bodyPr>
              <a:lstStyle/>
              <a:p>
                <a:pPr algn="just"/>
                <a:r>
                  <a:rPr lang="mn-MN" sz="1400" dirty="0"/>
                  <a:t>Ккалори</a:t>
                </a:r>
                <a:r>
                  <a:rPr lang="en-US" sz="1400" dirty="0"/>
                  <a:t>/</a:t>
                </a:r>
                <a:r>
                  <a:rPr lang="mn-MN" sz="1400" dirty="0"/>
                  <a:t>хүн</a:t>
                </a:r>
                <a:r>
                  <a:rPr lang="en-US" sz="1400" dirty="0"/>
                  <a:t>/</a:t>
                </a:r>
                <a:r>
                  <a:rPr lang="mn-MN" sz="1400" dirty="0"/>
                  <a:t>өдөр</a:t>
                </a:r>
                <a:endParaRPr lang="en-US" sz="1400" dirty="0"/>
              </a:p>
            </p:txBody>
          </p:sp>
          <p:cxnSp>
            <p:nvCxnSpPr>
              <p:cNvPr id="12" name="Straight Connector 11"/>
              <p:cNvCxnSpPr/>
              <p:nvPr/>
            </p:nvCxnSpPr>
            <p:spPr>
              <a:xfrm>
                <a:off x="3427970" y="1461856"/>
                <a:ext cx="0" cy="381503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333675" y="1477410"/>
                <a:ext cx="0" cy="379948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77801" y="5266764"/>
                <a:ext cx="1549986" cy="511700"/>
              </a:xfrm>
              <a:prstGeom prst="rect">
                <a:avLst/>
              </a:prstGeom>
              <a:noFill/>
            </p:spPr>
            <p:txBody>
              <a:bodyPr wrap="none" rtlCol="0">
                <a:spAutoFit/>
              </a:bodyPr>
              <a:lstStyle/>
              <a:p>
                <a:pPr algn="just"/>
                <a:r>
                  <a:rPr lang="mn-MN" sz="1100" dirty="0"/>
                  <a:t>Хүлээн зөвшөөрөгдсөн </a:t>
                </a:r>
              </a:p>
              <a:p>
                <a:pPr algn="just"/>
                <a:r>
                  <a:rPr lang="mn-MN" sz="1100" dirty="0"/>
                  <a:t>хамгийн их хязгаар</a:t>
                </a:r>
                <a:endParaRPr lang="en-GB" sz="1100" dirty="0"/>
              </a:p>
            </p:txBody>
          </p:sp>
          <p:sp>
            <p:nvSpPr>
              <p:cNvPr id="15" name="TextBox 14"/>
              <p:cNvSpPr txBox="1"/>
              <p:nvPr/>
            </p:nvSpPr>
            <p:spPr>
              <a:xfrm>
                <a:off x="3045406" y="5270407"/>
                <a:ext cx="765130" cy="365501"/>
              </a:xfrm>
              <a:prstGeom prst="rect">
                <a:avLst/>
              </a:prstGeom>
              <a:noFill/>
            </p:spPr>
            <p:txBody>
              <a:bodyPr wrap="none" rtlCol="0">
                <a:spAutoFit/>
              </a:bodyPr>
              <a:lstStyle/>
              <a:p>
                <a:pPr algn="just"/>
                <a:r>
                  <a:rPr lang="mn-MN" sz="1400" dirty="0"/>
                  <a:t>Дундаж</a:t>
                </a:r>
                <a:endParaRPr lang="en-US" sz="1400" dirty="0"/>
              </a:p>
            </p:txBody>
          </p:sp>
          <p:grpSp>
            <p:nvGrpSpPr>
              <p:cNvPr id="16" name="Group 15"/>
              <p:cNvGrpSpPr/>
              <p:nvPr/>
            </p:nvGrpSpPr>
            <p:grpSpPr>
              <a:xfrm>
                <a:off x="963965" y="1276030"/>
                <a:ext cx="5436129" cy="4003828"/>
                <a:chOff x="963965" y="1276030"/>
                <a:chExt cx="5436129" cy="4003828"/>
              </a:xfrm>
            </p:grpSpPr>
            <p:grpSp>
              <p:nvGrpSpPr>
                <p:cNvPr id="17" name="Group 16"/>
                <p:cNvGrpSpPr/>
                <p:nvPr/>
              </p:nvGrpSpPr>
              <p:grpSpPr>
                <a:xfrm>
                  <a:off x="963965" y="1276030"/>
                  <a:ext cx="5436129" cy="4000863"/>
                  <a:chOff x="1116701" y="1828800"/>
                  <a:chExt cx="5599688" cy="3609049"/>
                </a:xfrm>
              </p:grpSpPr>
              <p:sp>
                <p:nvSpPr>
                  <p:cNvPr id="20" name="Freeform 19"/>
                  <p:cNvSpPr/>
                  <p:nvPr/>
                </p:nvSpPr>
                <p:spPr>
                  <a:xfrm>
                    <a:off x="1922212" y="2168664"/>
                    <a:ext cx="3657600" cy="3269185"/>
                  </a:xfrm>
                  <a:custGeom>
                    <a:avLst/>
                    <a:gdLst>
                      <a:gd name="connsiteX0" fmla="*/ 0 w 2662280"/>
                      <a:gd name="connsiteY0" fmla="*/ 2233406 h 2233406"/>
                      <a:gd name="connsiteX1" fmla="*/ 1367554 w 2662280"/>
                      <a:gd name="connsiteY1" fmla="*/ 4 h 2233406"/>
                      <a:gd name="connsiteX2" fmla="*/ 2662280 w 2662280"/>
                      <a:gd name="connsiteY2" fmla="*/ 2217222 h 2233406"/>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267425 w 2662280"/>
                      <a:gd name="connsiteY1" fmla="*/ 3 h 2233405"/>
                      <a:gd name="connsiteX2" fmla="*/ 2662280 w 2662280"/>
                      <a:gd name="connsiteY2" fmla="*/ 2217221 h 2233405"/>
                    </a:gdLst>
                    <a:ahLst/>
                    <a:cxnLst>
                      <a:cxn ang="0">
                        <a:pos x="connsiteX0" y="connsiteY0"/>
                      </a:cxn>
                      <a:cxn ang="0">
                        <a:pos x="connsiteX1" y="connsiteY1"/>
                      </a:cxn>
                      <a:cxn ang="0">
                        <a:pos x="connsiteX2" y="connsiteY2"/>
                      </a:cxn>
                    </a:cxnLst>
                    <a:rect l="l" t="t" r="r" b="b"/>
                    <a:pathLst>
                      <a:path w="2662280" h="2233405">
                        <a:moveTo>
                          <a:pt x="0" y="2233405"/>
                        </a:moveTo>
                        <a:cubicBezTo>
                          <a:pt x="882706" y="2226523"/>
                          <a:pt x="823712" y="2700"/>
                          <a:pt x="1267425" y="3"/>
                        </a:cubicBezTo>
                        <a:cubicBezTo>
                          <a:pt x="1711138" y="-2694"/>
                          <a:pt x="1637962" y="2226710"/>
                          <a:pt x="2662280" y="22172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a:p>
                </p:txBody>
              </p:sp>
              <p:cxnSp>
                <p:nvCxnSpPr>
                  <p:cNvPr id="21" name="Straight Arrow Connector 20"/>
                  <p:cNvCxnSpPr/>
                  <p:nvPr/>
                </p:nvCxnSpPr>
                <p:spPr>
                  <a:xfrm flipV="1">
                    <a:off x="1116701" y="1828800"/>
                    <a:ext cx="0" cy="3609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124793" y="5437849"/>
                    <a:ext cx="5591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703138" y="1998733"/>
                    <a:ext cx="0" cy="343911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sp>
              <p:nvSpPr>
                <p:cNvPr id="18" name="Freeform 17"/>
                <p:cNvSpPr/>
                <p:nvPr/>
              </p:nvSpPr>
              <p:spPr>
                <a:xfrm>
                  <a:off x="2497666" y="1685055"/>
                  <a:ext cx="943397" cy="3594803"/>
                </a:xfrm>
                <a:custGeom>
                  <a:avLst/>
                  <a:gdLst>
                    <a:gd name="connsiteX0" fmla="*/ 0 w 2120114"/>
                    <a:gd name="connsiteY0" fmla="*/ 1933997 h 1933997"/>
                    <a:gd name="connsiteX1" fmla="*/ 2120114 w 2120114"/>
                    <a:gd name="connsiteY1" fmla="*/ 0 h 1933997"/>
                    <a:gd name="connsiteX2" fmla="*/ 2112022 w 2120114"/>
                    <a:gd name="connsiteY2" fmla="*/ 1933997 h 1933997"/>
                    <a:gd name="connsiteX3" fmla="*/ 0 w 2120114"/>
                    <a:gd name="connsiteY3" fmla="*/ 1933997 h 1933997"/>
                    <a:gd name="connsiteX0" fmla="*/ 0 w 2120114"/>
                    <a:gd name="connsiteY0" fmla="*/ 1933997 h 1933997"/>
                    <a:gd name="connsiteX1" fmla="*/ 1084333 w 2120114"/>
                    <a:gd name="connsiteY1" fmla="*/ 938676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7346 w 2127460"/>
                    <a:gd name="connsiteY0" fmla="*/ 1938998 h 1938998"/>
                    <a:gd name="connsiteX1" fmla="*/ 1447729 w 2127460"/>
                    <a:gd name="connsiteY1" fmla="*/ 1396831 h 1938998"/>
                    <a:gd name="connsiteX2" fmla="*/ 2127460 w 2127460"/>
                    <a:gd name="connsiteY2" fmla="*/ 5001 h 1938998"/>
                    <a:gd name="connsiteX3" fmla="*/ 2119368 w 2127460"/>
                    <a:gd name="connsiteY3" fmla="*/ 1938998 h 1938998"/>
                    <a:gd name="connsiteX4" fmla="*/ 7346 w 2127460"/>
                    <a:gd name="connsiteY4" fmla="*/ 1938998 h 1938998"/>
                    <a:gd name="connsiteX0" fmla="*/ 7346 w 2127460"/>
                    <a:gd name="connsiteY0" fmla="*/ 1933997 h 1933997"/>
                    <a:gd name="connsiteX1" fmla="*/ 1447729 w 2127460"/>
                    <a:gd name="connsiteY1" fmla="*/ 1391830 h 1933997"/>
                    <a:gd name="connsiteX2" fmla="*/ 2127460 w 2127460"/>
                    <a:gd name="connsiteY2" fmla="*/ 0 h 1933997"/>
                    <a:gd name="connsiteX3" fmla="*/ 2119368 w 2127460"/>
                    <a:gd name="connsiteY3" fmla="*/ 1933997 h 1933997"/>
                    <a:gd name="connsiteX4" fmla="*/ 7346 w 2127460"/>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35114 w 2120114"/>
                    <a:gd name="connsiteY1" fmla="*/ 1337397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08641 w 2120114"/>
                    <a:gd name="connsiteY1" fmla="*/ 1327254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799188 w 2120114"/>
                    <a:gd name="connsiteY1" fmla="*/ 1015381 h 1873133"/>
                    <a:gd name="connsiteX2" fmla="*/ 2120114 w 2120114"/>
                    <a:gd name="connsiteY2" fmla="*/ 0 h 1873133"/>
                    <a:gd name="connsiteX3" fmla="*/ 2112022 w 2120114"/>
                    <a:gd name="connsiteY3" fmla="*/ 1873133 h 1873133"/>
                    <a:gd name="connsiteX4" fmla="*/ 0 w 2120114"/>
                    <a:gd name="connsiteY4" fmla="*/ 1873133 h 1873133"/>
                    <a:gd name="connsiteX0" fmla="*/ 0 w 3907245"/>
                    <a:gd name="connsiteY0" fmla="*/ 1873133 h 1873133"/>
                    <a:gd name="connsiteX1" fmla="*/ 799188 w 3907245"/>
                    <a:gd name="connsiteY1" fmla="*/ 1015381 h 1873133"/>
                    <a:gd name="connsiteX2" fmla="*/ 2120114 w 3907245"/>
                    <a:gd name="connsiteY2" fmla="*/ 0 h 1873133"/>
                    <a:gd name="connsiteX3" fmla="*/ 3907241 w 3907245"/>
                    <a:gd name="connsiteY3" fmla="*/ 1873133 h 1873133"/>
                    <a:gd name="connsiteX4" fmla="*/ 0 w 3907245"/>
                    <a:gd name="connsiteY4" fmla="*/ 1873133 h 1873133"/>
                    <a:gd name="connsiteX0" fmla="*/ 0 w 2136516"/>
                    <a:gd name="connsiteY0" fmla="*/ 1873133 h 1873133"/>
                    <a:gd name="connsiteX1" fmla="*/ 799188 w 2136516"/>
                    <a:gd name="connsiteY1" fmla="*/ 1015381 h 1873133"/>
                    <a:gd name="connsiteX2" fmla="*/ 2120114 w 2136516"/>
                    <a:gd name="connsiteY2" fmla="*/ 0 h 1873133"/>
                    <a:gd name="connsiteX3" fmla="*/ 2136282 w 2136516"/>
                    <a:gd name="connsiteY3" fmla="*/ 1831298 h 1873133"/>
                    <a:gd name="connsiteX4" fmla="*/ 0 w 2136516"/>
                    <a:gd name="connsiteY4" fmla="*/ 1873133 h 1873133"/>
                    <a:gd name="connsiteX0" fmla="*/ 0 w 1627060"/>
                    <a:gd name="connsiteY0" fmla="*/ 3532579 h 3532579"/>
                    <a:gd name="connsiteX1" fmla="*/ 289734 w 1627060"/>
                    <a:gd name="connsiteY1" fmla="*/ 1015381 h 3532579"/>
                    <a:gd name="connsiteX2" fmla="*/ 1610660 w 1627060"/>
                    <a:gd name="connsiteY2" fmla="*/ 0 h 3532579"/>
                    <a:gd name="connsiteX3" fmla="*/ 1626828 w 1627060"/>
                    <a:gd name="connsiteY3" fmla="*/ 1831298 h 3532579"/>
                    <a:gd name="connsiteX4" fmla="*/ 0 w 1627060"/>
                    <a:gd name="connsiteY4" fmla="*/ 3532579 h 3532579"/>
                    <a:gd name="connsiteX0" fmla="*/ 0 w 1627062"/>
                    <a:gd name="connsiteY0" fmla="*/ 3532579 h 3579333"/>
                    <a:gd name="connsiteX1" fmla="*/ 289734 w 1627062"/>
                    <a:gd name="connsiteY1" fmla="*/ 1015381 h 3579333"/>
                    <a:gd name="connsiteX2" fmla="*/ 1610660 w 1627062"/>
                    <a:gd name="connsiteY2" fmla="*/ 0 h 3579333"/>
                    <a:gd name="connsiteX3" fmla="*/ 1626828 w 1627062"/>
                    <a:gd name="connsiteY3" fmla="*/ 1831298 h 3579333"/>
                    <a:gd name="connsiteX4" fmla="*/ 0 w 1627062"/>
                    <a:gd name="connsiteY4" fmla="*/ 3532579 h 3579333"/>
                    <a:gd name="connsiteX0" fmla="*/ 0 w 1627060"/>
                    <a:gd name="connsiteY0" fmla="*/ 3532579 h 3724925"/>
                    <a:gd name="connsiteX1" fmla="*/ 289734 w 1627060"/>
                    <a:gd name="connsiteY1" fmla="*/ 1015381 h 3724925"/>
                    <a:gd name="connsiteX2" fmla="*/ 1610660 w 1627060"/>
                    <a:gd name="connsiteY2" fmla="*/ 0 h 3724925"/>
                    <a:gd name="connsiteX3" fmla="*/ 1626828 w 1627060"/>
                    <a:gd name="connsiteY3" fmla="*/ 1831298 h 3724925"/>
                    <a:gd name="connsiteX4" fmla="*/ 1359671 w 1627060"/>
                    <a:gd name="connsiteY4" fmla="*/ 3392634 h 3724925"/>
                    <a:gd name="connsiteX5" fmla="*/ 0 w 1627060"/>
                    <a:gd name="connsiteY5" fmla="*/ 3532579 h 3724925"/>
                    <a:gd name="connsiteX0" fmla="*/ 0 w 1627062"/>
                    <a:gd name="connsiteY0" fmla="*/ 3532579 h 3769754"/>
                    <a:gd name="connsiteX1" fmla="*/ 289734 w 1627062"/>
                    <a:gd name="connsiteY1" fmla="*/ 1015381 h 3769754"/>
                    <a:gd name="connsiteX2" fmla="*/ 1610660 w 1627062"/>
                    <a:gd name="connsiteY2" fmla="*/ 0 h 3769754"/>
                    <a:gd name="connsiteX3" fmla="*/ 1626828 w 1627062"/>
                    <a:gd name="connsiteY3" fmla="*/ 1831298 h 3769754"/>
                    <a:gd name="connsiteX4" fmla="*/ 1359671 w 1627062"/>
                    <a:gd name="connsiteY4" fmla="*/ 3392634 h 3769754"/>
                    <a:gd name="connsiteX5" fmla="*/ 0 w 1627062"/>
                    <a:gd name="connsiteY5" fmla="*/ 3532579 h 3769754"/>
                    <a:gd name="connsiteX0" fmla="*/ 0 w 1656737"/>
                    <a:gd name="connsiteY0" fmla="*/ 3532579 h 3775458"/>
                    <a:gd name="connsiteX1" fmla="*/ 289734 w 1656737"/>
                    <a:gd name="connsiteY1" fmla="*/ 1015381 h 3775458"/>
                    <a:gd name="connsiteX2" fmla="*/ 1610660 w 1656737"/>
                    <a:gd name="connsiteY2" fmla="*/ 0 h 3775458"/>
                    <a:gd name="connsiteX3" fmla="*/ 1626828 w 1656737"/>
                    <a:gd name="connsiteY3" fmla="*/ 1831298 h 3775458"/>
                    <a:gd name="connsiteX4" fmla="*/ 1529489 w 1656737"/>
                    <a:gd name="connsiteY4" fmla="*/ 3406579 h 3775458"/>
                    <a:gd name="connsiteX5" fmla="*/ 0 w 1656737"/>
                    <a:gd name="connsiteY5" fmla="*/ 3532579 h 3775458"/>
                    <a:gd name="connsiteX0" fmla="*/ 0 w 1656739"/>
                    <a:gd name="connsiteY0" fmla="*/ 3532579 h 3775458"/>
                    <a:gd name="connsiteX1" fmla="*/ 823449 w 1656739"/>
                    <a:gd name="connsiteY1" fmla="*/ 1238499 h 3775458"/>
                    <a:gd name="connsiteX2" fmla="*/ 1610660 w 1656739"/>
                    <a:gd name="connsiteY2" fmla="*/ 0 h 3775458"/>
                    <a:gd name="connsiteX3" fmla="*/ 1626828 w 1656739"/>
                    <a:gd name="connsiteY3" fmla="*/ 1831298 h 3775458"/>
                    <a:gd name="connsiteX4" fmla="*/ 1529489 w 1656739"/>
                    <a:gd name="connsiteY4" fmla="*/ 3406579 h 3775458"/>
                    <a:gd name="connsiteX5" fmla="*/ 0 w 1656739"/>
                    <a:gd name="connsiteY5" fmla="*/ 3532579 h 3775458"/>
                    <a:gd name="connsiteX0" fmla="*/ 0 w 1710833"/>
                    <a:gd name="connsiteY0" fmla="*/ 3532579 h 4057061"/>
                    <a:gd name="connsiteX1" fmla="*/ 823449 w 1710833"/>
                    <a:gd name="connsiteY1" fmla="*/ 1238499 h 4057061"/>
                    <a:gd name="connsiteX2" fmla="*/ 1610660 w 1710833"/>
                    <a:gd name="connsiteY2" fmla="*/ 0 h 4057061"/>
                    <a:gd name="connsiteX3" fmla="*/ 1626828 w 1710833"/>
                    <a:gd name="connsiteY3" fmla="*/ 1831298 h 4057061"/>
                    <a:gd name="connsiteX4" fmla="*/ 1602267 w 1710833"/>
                    <a:gd name="connsiteY4" fmla="*/ 3866761 h 4057061"/>
                    <a:gd name="connsiteX5" fmla="*/ 0 w 1710833"/>
                    <a:gd name="connsiteY5" fmla="*/ 3532579 h 4057061"/>
                    <a:gd name="connsiteX0" fmla="*/ 0 w 1640319"/>
                    <a:gd name="connsiteY0" fmla="*/ 3532579 h 4057061"/>
                    <a:gd name="connsiteX1" fmla="*/ 823449 w 1640319"/>
                    <a:gd name="connsiteY1" fmla="*/ 1238499 h 4057061"/>
                    <a:gd name="connsiteX2" fmla="*/ 1610660 w 1640319"/>
                    <a:gd name="connsiteY2" fmla="*/ 0 h 4057061"/>
                    <a:gd name="connsiteX3" fmla="*/ 1626828 w 1640319"/>
                    <a:gd name="connsiteY3" fmla="*/ 1831298 h 4057061"/>
                    <a:gd name="connsiteX4" fmla="*/ 1505229 w 1640319"/>
                    <a:gd name="connsiteY4" fmla="*/ 3866761 h 4057061"/>
                    <a:gd name="connsiteX5" fmla="*/ 0 w 1640319"/>
                    <a:gd name="connsiteY5" fmla="*/ 3532579 h 4057061"/>
                    <a:gd name="connsiteX0" fmla="*/ 0 w 1692136"/>
                    <a:gd name="connsiteY0" fmla="*/ 3532579 h 4014849"/>
                    <a:gd name="connsiteX1" fmla="*/ 823449 w 1692136"/>
                    <a:gd name="connsiteY1" fmla="*/ 1238499 h 4014849"/>
                    <a:gd name="connsiteX2" fmla="*/ 1610660 w 1692136"/>
                    <a:gd name="connsiteY2" fmla="*/ 0 h 4014849"/>
                    <a:gd name="connsiteX3" fmla="*/ 1626828 w 1692136"/>
                    <a:gd name="connsiteY3" fmla="*/ 1831298 h 4014849"/>
                    <a:gd name="connsiteX4" fmla="*/ 1578008 w 1692136"/>
                    <a:gd name="connsiteY4" fmla="*/ 3810982 h 4014849"/>
                    <a:gd name="connsiteX5" fmla="*/ 0 w 1692136"/>
                    <a:gd name="connsiteY5" fmla="*/ 3532579 h 4014849"/>
                    <a:gd name="connsiteX0" fmla="*/ 0 w 1718393"/>
                    <a:gd name="connsiteY0" fmla="*/ 3532579 h 4014849"/>
                    <a:gd name="connsiteX1" fmla="*/ 823449 w 1718393"/>
                    <a:gd name="connsiteY1" fmla="*/ 1238499 h 4014849"/>
                    <a:gd name="connsiteX2" fmla="*/ 1610660 w 1718393"/>
                    <a:gd name="connsiteY2" fmla="*/ 0 h 4014849"/>
                    <a:gd name="connsiteX3" fmla="*/ 1626828 w 1718393"/>
                    <a:gd name="connsiteY3" fmla="*/ 1831298 h 4014849"/>
                    <a:gd name="connsiteX4" fmla="*/ 1650788 w 1718393"/>
                    <a:gd name="connsiteY4" fmla="*/ 3141626 h 4014849"/>
                    <a:gd name="connsiteX5" fmla="*/ 1578008 w 1718393"/>
                    <a:gd name="connsiteY5" fmla="*/ 3810982 h 4014849"/>
                    <a:gd name="connsiteX6" fmla="*/ 0 w 1718393"/>
                    <a:gd name="connsiteY6" fmla="*/ 3532579 h 4014849"/>
                    <a:gd name="connsiteX0" fmla="*/ 0 w 1685361"/>
                    <a:gd name="connsiteY0" fmla="*/ 3532579 h 4014849"/>
                    <a:gd name="connsiteX1" fmla="*/ 823449 w 1685361"/>
                    <a:gd name="connsiteY1" fmla="*/ 1238499 h 4014849"/>
                    <a:gd name="connsiteX2" fmla="*/ 1610660 w 1685361"/>
                    <a:gd name="connsiteY2" fmla="*/ 0 h 4014849"/>
                    <a:gd name="connsiteX3" fmla="*/ 1626828 w 1685361"/>
                    <a:gd name="connsiteY3" fmla="*/ 1831298 h 4014849"/>
                    <a:gd name="connsiteX4" fmla="*/ 1650788 w 1685361"/>
                    <a:gd name="connsiteY4" fmla="*/ 3141626 h 4014849"/>
                    <a:gd name="connsiteX5" fmla="*/ 1505229 w 1685361"/>
                    <a:gd name="connsiteY5" fmla="*/ 3643643 h 4014849"/>
                    <a:gd name="connsiteX6" fmla="*/ 1578008 w 1685361"/>
                    <a:gd name="connsiteY6" fmla="*/ 3810982 h 4014849"/>
                    <a:gd name="connsiteX7" fmla="*/ 0 w 1685361"/>
                    <a:gd name="connsiteY7" fmla="*/ 3532579 h 4014849"/>
                    <a:gd name="connsiteX0" fmla="*/ 0 w 1685361"/>
                    <a:gd name="connsiteY0" fmla="*/ 3583664 h 4065934"/>
                    <a:gd name="connsiteX1" fmla="*/ 823449 w 1685361"/>
                    <a:gd name="connsiteY1" fmla="*/ 1289584 h 4065934"/>
                    <a:gd name="connsiteX2" fmla="*/ 1165592 w 1685361"/>
                    <a:gd name="connsiteY2" fmla="*/ 515285 h 4065934"/>
                    <a:gd name="connsiteX3" fmla="*/ 1610660 w 1685361"/>
                    <a:gd name="connsiteY3" fmla="*/ 51085 h 4065934"/>
                    <a:gd name="connsiteX4" fmla="*/ 1626828 w 1685361"/>
                    <a:gd name="connsiteY4" fmla="*/ 1882383 h 4065934"/>
                    <a:gd name="connsiteX5" fmla="*/ 1650788 w 1685361"/>
                    <a:gd name="connsiteY5" fmla="*/ 3192711 h 4065934"/>
                    <a:gd name="connsiteX6" fmla="*/ 1505229 w 1685361"/>
                    <a:gd name="connsiteY6" fmla="*/ 3694728 h 4065934"/>
                    <a:gd name="connsiteX7" fmla="*/ 1578008 w 1685361"/>
                    <a:gd name="connsiteY7" fmla="*/ 3862067 h 4065934"/>
                    <a:gd name="connsiteX8" fmla="*/ 0 w 1685361"/>
                    <a:gd name="connsiteY8" fmla="*/ 3583664 h 4065934"/>
                    <a:gd name="connsiteX0" fmla="*/ 0 w 1707603"/>
                    <a:gd name="connsiteY0" fmla="*/ 3583664 h 4065934"/>
                    <a:gd name="connsiteX1" fmla="*/ 823449 w 1707603"/>
                    <a:gd name="connsiteY1" fmla="*/ 1289584 h 4065934"/>
                    <a:gd name="connsiteX2" fmla="*/ 1165592 w 1707603"/>
                    <a:gd name="connsiteY2" fmla="*/ 515285 h 4065934"/>
                    <a:gd name="connsiteX3" fmla="*/ 1610660 w 1707603"/>
                    <a:gd name="connsiteY3" fmla="*/ 51085 h 4065934"/>
                    <a:gd name="connsiteX4" fmla="*/ 1626828 w 1707603"/>
                    <a:gd name="connsiteY4" fmla="*/ 1882383 h 4065934"/>
                    <a:gd name="connsiteX5" fmla="*/ 1650788 w 1707603"/>
                    <a:gd name="connsiteY5" fmla="*/ 3192711 h 4065934"/>
                    <a:gd name="connsiteX6" fmla="*/ 1602268 w 1707603"/>
                    <a:gd name="connsiteY6" fmla="*/ 3694728 h 4065934"/>
                    <a:gd name="connsiteX7" fmla="*/ 1578008 w 1707603"/>
                    <a:gd name="connsiteY7" fmla="*/ 3862067 h 4065934"/>
                    <a:gd name="connsiteX8" fmla="*/ 0 w 1707603"/>
                    <a:gd name="connsiteY8" fmla="*/ 3583664 h 4065934"/>
                    <a:gd name="connsiteX0" fmla="*/ 0 w 1652705"/>
                    <a:gd name="connsiteY0" fmla="*/ 3583664 h 3937252"/>
                    <a:gd name="connsiteX1" fmla="*/ 823449 w 1652705"/>
                    <a:gd name="connsiteY1" fmla="*/ 1289584 h 3937252"/>
                    <a:gd name="connsiteX2" fmla="*/ 1165592 w 1652705"/>
                    <a:gd name="connsiteY2" fmla="*/ 515285 h 3937252"/>
                    <a:gd name="connsiteX3" fmla="*/ 1610660 w 1652705"/>
                    <a:gd name="connsiteY3" fmla="*/ 51085 h 3937252"/>
                    <a:gd name="connsiteX4" fmla="*/ 1626828 w 1652705"/>
                    <a:gd name="connsiteY4" fmla="*/ 1882383 h 3937252"/>
                    <a:gd name="connsiteX5" fmla="*/ 1650788 w 1652705"/>
                    <a:gd name="connsiteY5" fmla="*/ 3192711 h 3937252"/>
                    <a:gd name="connsiteX6" fmla="*/ 1602268 w 1652705"/>
                    <a:gd name="connsiteY6" fmla="*/ 3694728 h 3937252"/>
                    <a:gd name="connsiteX7" fmla="*/ 1578008 w 1652705"/>
                    <a:gd name="connsiteY7" fmla="*/ 3862067 h 3937252"/>
                    <a:gd name="connsiteX8" fmla="*/ 971515 w 1652705"/>
                    <a:gd name="connsiteY8" fmla="*/ 3917846 h 3937252"/>
                    <a:gd name="connsiteX9" fmla="*/ 0 w 1652705"/>
                    <a:gd name="connsiteY9" fmla="*/ 3583664 h 3937252"/>
                    <a:gd name="connsiteX0" fmla="*/ 90324 w 1743029"/>
                    <a:gd name="connsiteY0" fmla="*/ 3583664 h 3920315"/>
                    <a:gd name="connsiteX1" fmla="*/ 913773 w 1743029"/>
                    <a:gd name="connsiteY1" fmla="*/ 1289584 h 3920315"/>
                    <a:gd name="connsiteX2" fmla="*/ 1255916 w 1743029"/>
                    <a:gd name="connsiteY2" fmla="*/ 515285 h 3920315"/>
                    <a:gd name="connsiteX3" fmla="*/ 1700984 w 1743029"/>
                    <a:gd name="connsiteY3" fmla="*/ 51085 h 3920315"/>
                    <a:gd name="connsiteX4" fmla="*/ 1717152 w 1743029"/>
                    <a:gd name="connsiteY4" fmla="*/ 1882383 h 3920315"/>
                    <a:gd name="connsiteX5" fmla="*/ 1741112 w 1743029"/>
                    <a:gd name="connsiteY5" fmla="*/ 3192711 h 3920315"/>
                    <a:gd name="connsiteX6" fmla="*/ 1692592 w 1743029"/>
                    <a:gd name="connsiteY6" fmla="*/ 3694728 h 3920315"/>
                    <a:gd name="connsiteX7" fmla="*/ 1668332 w 1743029"/>
                    <a:gd name="connsiteY7" fmla="*/ 3862067 h 3920315"/>
                    <a:gd name="connsiteX8" fmla="*/ 1061839 w 1743029"/>
                    <a:gd name="connsiteY8" fmla="*/ 3917846 h 3920315"/>
                    <a:gd name="connsiteX9" fmla="*/ 115710 w 1743029"/>
                    <a:gd name="connsiteY9" fmla="*/ 3820232 h 3920315"/>
                    <a:gd name="connsiteX10" fmla="*/ 90324 w 1743029"/>
                    <a:gd name="connsiteY10" fmla="*/ 3583664 h 3920315"/>
                    <a:gd name="connsiteX0" fmla="*/ 90326 w 1743031"/>
                    <a:gd name="connsiteY0" fmla="*/ 3583664 h 3920315"/>
                    <a:gd name="connsiteX1" fmla="*/ 212751 w 1743031"/>
                    <a:gd name="connsiteY1" fmla="*/ 2969592 h 3920315"/>
                    <a:gd name="connsiteX2" fmla="*/ 913775 w 1743031"/>
                    <a:gd name="connsiteY2" fmla="*/ 1289584 h 3920315"/>
                    <a:gd name="connsiteX3" fmla="*/ 1255918 w 1743031"/>
                    <a:gd name="connsiteY3" fmla="*/ 515285 h 3920315"/>
                    <a:gd name="connsiteX4" fmla="*/ 1700986 w 1743031"/>
                    <a:gd name="connsiteY4" fmla="*/ 51085 h 3920315"/>
                    <a:gd name="connsiteX5" fmla="*/ 1717154 w 1743031"/>
                    <a:gd name="connsiteY5" fmla="*/ 1882383 h 3920315"/>
                    <a:gd name="connsiteX6" fmla="*/ 1741114 w 1743031"/>
                    <a:gd name="connsiteY6" fmla="*/ 3192711 h 3920315"/>
                    <a:gd name="connsiteX7" fmla="*/ 1692594 w 1743031"/>
                    <a:gd name="connsiteY7" fmla="*/ 3694728 h 3920315"/>
                    <a:gd name="connsiteX8" fmla="*/ 1668334 w 1743031"/>
                    <a:gd name="connsiteY8" fmla="*/ 3862067 h 3920315"/>
                    <a:gd name="connsiteX9" fmla="*/ 1061841 w 1743031"/>
                    <a:gd name="connsiteY9" fmla="*/ 3917846 h 3920315"/>
                    <a:gd name="connsiteX10" fmla="*/ 115712 w 1743031"/>
                    <a:gd name="connsiteY10" fmla="*/ 3820232 h 3920315"/>
                    <a:gd name="connsiteX11" fmla="*/ 90326 w 1743031"/>
                    <a:gd name="connsiteY11" fmla="*/ 3583664 h 3920315"/>
                    <a:gd name="connsiteX0" fmla="*/ 90326 w 1743031"/>
                    <a:gd name="connsiteY0" fmla="*/ 3507725 h 3844376"/>
                    <a:gd name="connsiteX1" fmla="*/ 212751 w 1743031"/>
                    <a:gd name="connsiteY1" fmla="*/ 2893653 h 3844376"/>
                    <a:gd name="connsiteX2" fmla="*/ 913775 w 1743031"/>
                    <a:gd name="connsiteY2" fmla="*/ 1213645 h 3844376"/>
                    <a:gd name="connsiteX3" fmla="*/ 1255918 w 1743031"/>
                    <a:gd name="connsiteY3" fmla="*/ 439346 h 3844376"/>
                    <a:gd name="connsiteX4" fmla="*/ 1652466 w 1743031"/>
                    <a:gd name="connsiteY4" fmla="*/ 58815 h 3844376"/>
                    <a:gd name="connsiteX5" fmla="*/ 1717154 w 1743031"/>
                    <a:gd name="connsiteY5" fmla="*/ 1806444 h 3844376"/>
                    <a:gd name="connsiteX6" fmla="*/ 1741114 w 1743031"/>
                    <a:gd name="connsiteY6" fmla="*/ 3116772 h 3844376"/>
                    <a:gd name="connsiteX7" fmla="*/ 1692594 w 1743031"/>
                    <a:gd name="connsiteY7" fmla="*/ 3618789 h 3844376"/>
                    <a:gd name="connsiteX8" fmla="*/ 1668334 w 1743031"/>
                    <a:gd name="connsiteY8" fmla="*/ 3786128 h 3844376"/>
                    <a:gd name="connsiteX9" fmla="*/ 1061841 w 1743031"/>
                    <a:gd name="connsiteY9" fmla="*/ 3841907 h 3844376"/>
                    <a:gd name="connsiteX10" fmla="*/ 115712 w 1743031"/>
                    <a:gd name="connsiteY10" fmla="*/ 3744293 h 3844376"/>
                    <a:gd name="connsiteX11" fmla="*/ 90326 w 1743031"/>
                    <a:gd name="connsiteY11" fmla="*/ 3507725 h 3844376"/>
                    <a:gd name="connsiteX0" fmla="*/ 103192 w 1755897"/>
                    <a:gd name="connsiteY0" fmla="*/ 3507725 h 3855012"/>
                    <a:gd name="connsiteX1" fmla="*/ 225617 w 1755897"/>
                    <a:gd name="connsiteY1" fmla="*/ 2893653 h 3855012"/>
                    <a:gd name="connsiteX2" fmla="*/ 926641 w 1755897"/>
                    <a:gd name="connsiteY2" fmla="*/ 1213645 h 3855012"/>
                    <a:gd name="connsiteX3" fmla="*/ 1268784 w 1755897"/>
                    <a:gd name="connsiteY3" fmla="*/ 439346 h 3855012"/>
                    <a:gd name="connsiteX4" fmla="*/ 1665332 w 1755897"/>
                    <a:gd name="connsiteY4" fmla="*/ 58815 h 3855012"/>
                    <a:gd name="connsiteX5" fmla="*/ 1730020 w 1755897"/>
                    <a:gd name="connsiteY5" fmla="*/ 1806444 h 3855012"/>
                    <a:gd name="connsiteX6" fmla="*/ 1753980 w 1755897"/>
                    <a:gd name="connsiteY6" fmla="*/ 3116772 h 3855012"/>
                    <a:gd name="connsiteX7" fmla="*/ 1705460 w 1755897"/>
                    <a:gd name="connsiteY7" fmla="*/ 3618789 h 3855012"/>
                    <a:gd name="connsiteX8" fmla="*/ 1681200 w 1755897"/>
                    <a:gd name="connsiteY8" fmla="*/ 3786128 h 3855012"/>
                    <a:gd name="connsiteX9" fmla="*/ 1074707 w 1755897"/>
                    <a:gd name="connsiteY9" fmla="*/ 3841907 h 3855012"/>
                    <a:gd name="connsiteX10" fmla="*/ 104319 w 1755897"/>
                    <a:gd name="connsiteY10" fmla="*/ 3827962 h 3855012"/>
                    <a:gd name="connsiteX11" fmla="*/ 103192 w 1755897"/>
                    <a:gd name="connsiteY11" fmla="*/ 3507725 h 3855012"/>
                    <a:gd name="connsiteX0" fmla="*/ 103192 w 1755897"/>
                    <a:gd name="connsiteY0" fmla="*/ 3507725 h 3855012"/>
                    <a:gd name="connsiteX1" fmla="*/ 31541 w 1755897"/>
                    <a:gd name="connsiteY1" fmla="*/ 3130716 h 3855012"/>
                    <a:gd name="connsiteX2" fmla="*/ 225617 w 1755897"/>
                    <a:gd name="connsiteY2" fmla="*/ 2893653 h 3855012"/>
                    <a:gd name="connsiteX3" fmla="*/ 926641 w 1755897"/>
                    <a:gd name="connsiteY3" fmla="*/ 1213645 h 3855012"/>
                    <a:gd name="connsiteX4" fmla="*/ 1268784 w 1755897"/>
                    <a:gd name="connsiteY4" fmla="*/ 439346 h 3855012"/>
                    <a:gd name="connsiteX5" fmla="*/ 1665332 w 1755897"/>
                    <a:gd name="connsiteY5" fmla="*/ 58815 h 3855012"/>
                    <a:gd name="connsiteX6" fmla="*/ 1730020 w 1755897"/>
                    <a:gd name="connsiteY6" fmla="*/ 1806444 h 3855012"/>
                    <a:gd name="connsiteX7" fmla="*/ 1753980 w 1755897"/>
                    <a:gd name="connsiteY7" fmla="*/ 3116772 h 3855012"/>
                    <a:gd name="connsiteX8" fmla="*/ 1705460 w 1755897"/>
                    <a:gd name="connsiteY8" fmla="*/ 3618789 h 3855012"/>
                    <a:gd name="connsiteX9" fmla="*/ 1681200 w 1755897"/>
                    <a:gd name="connsiteY9" fmla="*/ 3786128 h 3855012"/>
                    <a:gd name="connsiteX10" fmla="*/ 1074707 w 1755897"/>
                    <a:gd name="connsiteY10" fmla="*/ 3841907 h 3855012"/>
                    <a:gd name="connsiteX11" fmla="*/ 104319 w 1755897"/>
                    <a:gd name="connsiteY11" fmla="*/ 3827962 h 3855012"/>
                    <a:gd name="connsiteX12" fmla="*/ 103192 w 1755897"/>
                    <a:gd name="connsiteY12" fmla="*/ 3507725 h 3855012"/>
                    <a:gd name="connsiteX0" fmla="*/ 69388 w 1794872"/>
                    <a:gd name="connsiteY0" fmla="*/ 3507725 h 3855012"/>
                    <a:gd name="connsiteX1" fmla="*/ 70516 w 1794872"/>
                    <a:gd name="connsiteY1" fmla="*/ 3130716 h 3855012"/>
                    <a:gd name="connsiteX2" fmla="*/ 264592 w 1794872"/>
                    <a:gd name="connsiteY2" fmla="*/ 2893653 h 3855012"/>
                    <a:gd name="connsiteX3" fmla="*/ 965616 w 1794872"/>
                    <a:gd name="connsiteY3" fmla="*/ 1213645 h 3855012"/>
                    <a:gd name="connsiteX4" fmla="*/ 1307759 w 1794872"/>
                    <a:gd name="connsiteY4" fmla="*/ 439346 h 3855012"/>
                    <a:gd name="connsiteX5" fmla="*/ 1704307 w 1794872"/>
                    <a:gd name="connsiteY5" fmla="*/ 58815 h 3855012"/>
                    <a:gd name="connsiteX6" fmla="*/ 1768995 w 1794872"/>
                    <a:gd name="connsiteY6" fmla="*/ 1806444 h 3855012"/>
                    <a:gd name="connsiteX7" fmla="*/ 1792955 w 1794872"/>
                    <a:gd name="connsiteY7" fmla="*/ 3116772 h 3855012"/>
                    <a:gd name="connsiteX8" fmla="*/ 1744435 w 1794872"/>
                    <a:gd name="connsiteY8" fmla="*/ 3618789 h 3855012"/>
                    <a:gd name="connsiteX9" fmla="*/ 1720175 w 1794872"/>
                    <a:gd name="connsiteY9" fmla="*/ 3786128 h 3855012"/>
                    <a:gd name="connsiteX10" fmla="*/ 1113682 w 1794872"/>
                    <a:gd name="connsiteY10" fmla="*/ 3841907 h 3855012"/>
                    <a:gd name="connsiteX11" fmla="*/ 143294 w 1794872"/>
                    <a:gd name="connsiteY11" fmla="*/ 3827962 h 3855012"/>
                    <a:gd name="connsiteX12" fmla="*/ 69388 w 1794872"/>
                    <a:gd name="connsiteY12" fmla="*/ 3507725 h 3855012"/>
                    <a:gd name="connsiteX0" fmla="*/ 69388 w 1794872"/>
                    <a:gd name="connsiteY0" fmla="*/ 3448948 h 3796235"/>
                    <a:gd name="connsiteX1" fmla="*/ 70516 w 1794872"/>
                    <a:gd name="connsiteY1" fmla="*/ 3071939 h 3796235"/>
                    <a:gd name="connsiteX2" fmla="*/ 264592 w 1794872"/>
                    <a:gd name="connsiteY2" fmla="*/ 2834876 h 3796235"/>
                    <a:gd name="connsiteX3" fmla="*/ 965616 w 1794872"/>
                    <a:gd name="connsiteY3" fmla="*/ 1154868 h 3796235"/>
                    <a:gd name="connsiteX4" fmla="*/ 1307759 w 1794872"/>
                    <a:gd name="connsiteY4" fmla="*/ 380569 h 3796235"/>
                    <a:gd name="connsiteX5" fmla="*/ 1704307 w 1794872"/>
                    <a:gd name="connsiteY5" fmla="*/ 38 h 3796235"/>
                    <a:gd name="connsiteX6" fmla="*/ 1792958 w 1794872"/>
                    <a:gd name="connsiteY6" fmla="*/ 394513 h 3796235"/>
                    <a:gd name="connsiteX7" fmla="*/ 1768995 w 1794872"/>
                    <a:gd name="connsiteY7" fmla="*/ 1747667 h 3796235"/>
                    <a:gd name="connsiteX8" fmla="*/ 1792955 w 1794872"/>
                    <a:gd name="connsiteY8" fmla="*/ 3057995 h 3796235"/>
                    <a:gd name="connsiteX9" fmla="*/ 1744435 w 1794872"/>
                    <a:gd name="connsiteY9" fmla="*/ 3560012 h 3796235"/>
                    <a:gd name="connsiteX10" fmla="*/ 1720175 w 1794872"/>
                    <a:gd name="connsiteY10" fmla="*/ 3727351 h 3796235"/>
                    <a:gd name="connsiteX11" fmla="*/ 1113682 w 1794872"/>
                    <a:gd name="connsiteY11" fmla="*/ 3783130 h 3796235"/>
                    <a:gd name="connsiteX12" fmla="*/ 143294 w 1794872"/>
                    <a:gd name="connsiteY12" fmla="*/ 3769185 h 3796235"/>
                    <a:gd name="connsiteX13" fmla="*/ 69388 w 1794872"/>
                    <a:gd name="connsiteY13" fmla="*/ 3448948 h 3796235"/>
                    <a:gd name="connsiteX0" fmla="*/ 69388 w 1794872"/>
                    <a:gd name="connsiteY0" fmla="*/ 3469510 h 3816797"/>
                    <a:gd name="connsiteX1" fmla="*/ 70516 w 1794872"/>
                    <a:gd name="connsiteY1" fmla="*/ 3092501 h 3816797"/>
                    <a:gd name="connsiteX2" fmla="*/ 264592 w 1794872"/>
                    <a:gd name="connsiteY2" fmla="*/ 2855438 h 3816797"/>
                    <a:gd name="connsiteX3" fmla="*/ 965616 w 1794872"/>
                    <a:gd name="connsiteY3" fmla="*/ 1175430 h 3816797"/>
                    <a:gd name="connsiteX4" fmla="*/ 1307759 w 1794872"/>
                    <a:gd name="connsiteY4" fmla="*/ 401131 h 3816797"/>
                    <a:gd name="connsiteX5" fmla="*/ 1501841 w 1794872"/>
                    <a:gd name="connsiteY5" fmla="*/ 80396 h 3816797"/>
                    <a:gd name="connsiteX6" fmla="*/ 1704307 w 1794872"/>
                    <a:gd name="connsiteY6" fmla="*/ 20600 h 3816797"/>
                    <a:gd name="connsiteX7" fmla="*/ 1792958 w 1794872"/>
                    <a:gd name="connsiteY7" fmla="*/ 415075 h 3816797"/>
                    <a:gd name="connsiteX8" fmla="*/ 1768995 w 1794872"/>
                    <a:gd name="connsiteY8" fmla="*/ 1768229 h 3816797"/>
                    <a:gd name="connsiteX9" fmla="*/ 1792955 w 1794872"/>
                    <a:gd name="connsiteY9" fmla="*/ 3078557 h 3816797"/>
                    <a:gd name="connsiteX10" fmla="*/ 1744435 w 1794872"/>
                    <a:gd name="connsiteY10" fmla="*/ 3580574 h 3816797"/>
                    <a:gd name="connsiteX11" fmla="*/ 1720175 w 1794872"/>
                    <a:gd name="connsiteY11" fmla="*/ 3747913 h 3816797"/>
                    <a:gd name="connsiteX12" fmla="*/ 1113682 w 1794872"/>
                    <a:gd name="connsiteY12" fmla="*/ 3803692 h 3816797"/>
                    <a:gd name="connsiteX13" fmla="*/ 143294 w 1794872"/>
                    <a:gd name="connsiteY13" fmla="*/ 3789747 h 3816797"/>
                    <a:gd name="connsiteX14" fmla="*/ 69388 w 1794872"/>
                    <a:gd name="connsiteY14" fmla="*/ 3469510 h 3816797"/>
                    <a:gd name="connsiteX0" fmla="*/ 28959 w 1754443"/>
                    <a:gd name="connsiteY0" fmla="*/ 3469510 h 3806161"/>
                    <a:gd name="connsiteX1" fmla="*/ 30087 w 1754443"/>
                    <a:gd name="connsiteY1" fmla="*/ 3092501 h 3806161"/>
                    <a:gd name="connsiteX2" fmla="*/ 224163 w 1754443"/>
                    <a:gd name="connsiteY2" fmla="*/ 2855438 h 3806161"/>
                    <a:gd name="connsiteX3" fmla="*/ 925187 w 1754443"/>
                    <a:gd name="connsiteY3" fmla="*/ 1175430 h 3806161"/>
                    <a:gd name="connsiteX4" fmla="*/ 1267330 w 1754443"/>
                    <a:gd name="connsiteY4" fmla="*/ 401131 h 3806161"/>
                    <a:gd name="connsiteX5" fmla="*/ 1461412 w 1754443"/>
                    <a:gd name="connsiteY5" fmla="*/ 80396 h 3806161"/>
                    <a:gd name="connsiteX6" fmla="*/ 1663878 w 1754443"/>
                    <a:gd name="connsiteY6" fmla="*/ 20600 h 3806161"/>
                    <a:gd name="connsiteX7" fmla="*/ 1752529 w 1754443"/>
                    <a:gd name="connsiteY7" fmla="*/ 415075 h 3806161"/>
                    <a:gd name="connsiteX8" fmla="*/ 1728566 w 1754443"/>
                    <a:gd name="connsiteY8" fmla="*/ 1768229 h 3806161"/>
                    <a:gd name="connsiteX9" fmla="*/ 1752526 w 1754443"/>
                    <a:gd name="connsiteY9" fmla="*/ 3078557 h 3806161"/>
                    <a:gd name="connsiteX10" fmla="*/ 1704006 w 1754443"/>
                    <a:gd name="connsiteY10" fmla="*/ 3580574 h 3806161"/>
                    <a:gd name="connsiteX11" fmla="*/ 1679746 w 1754443"/>
                    <a:gd name="connsiteY11" fmla="*/ 3747913 h 3806161"/>
                    <a:gd name="connsiteX12" fmla="*/ 1073253 w 1754443"/>
                    <a:gd name="connsiteY12" fmla="*/ 3803692 h 3806161"/>
                    <a:gd name="connsiteX13" fmla="*/ 102865 w 1754443"/>
                    <a:gd name="connsiteY13" fmla="*/ 3789747 h 3806161"/>
                    <a:gd name="connsiteX14" fmla="*/ 30087 w 1754443"/>
                    <a:gd name="connsiteY14" fmla="*/ 3650298 h 3806161"/>
                    <a:gd name="connsiteX15" fmla="*/ 28959 w 1754443"/>
                    <a:gd name="connsiteY15" fmla="*/ 3469510 h 3806161"/>
                    <a:gd name="connsiteX0" fmla="*/ 28959 w 1754443"/>
                    <a:gd name="connsiteY0" fmla="*/ 3517585 h 3854236"/>
                    <a:gd name="connsiteX1" fmla="*/ 30087 w 1754443"/>
                    <a:gd name="connsiteY1" fmla="*/ 3140576 h 3854236"/>
                    <a:gd name="connsiteX2" fmla="*/ 224163 w 1754443"/>
                    <a:gd name="connsiteY2" fmla="*/ 2903513 h 3854236"/>
                    <a:gd name="connsiteX3" fmla="*/ 925187 w 1754443"/>
                    <a:gd name="connsiteY3" fmla="*/ 1223505 h 3854236"/>
                    <a:gd name="connsiteX4" fmla="*/ 1267330 w 1754443"/>
                    <a:gd name="connsiteY4" fmla="*/ 449206 h 3854236"/>
                    <a:gd name="connsiteX5" fmla="*/ 1461412 w 1754443"/>
                    <a:gd name="connsiteY5" fmla="*/ 128471 h 3854236"/>
                    <a:gd name="connsiteX6" fmla="*/ 1663878 w 1754443"/>
                    <a:gd name="connsiteY6" fmla="*/ 12895 h 3854236"/>
                    <a:gd name="connsiteX7" fmla="*/ 1752529 w 1754443"/>
                    <a:gd name="connsiteY7" fmla="*/ 463150 h 3854236"/>
                    <a:gd name="connsiteX8" fmla="*/ 1728566 w 1754443"/>
                    <a:gd name="connsiteY8" fmla="*/ 1816304 h 3854236"/>
                    <a:gd name="connsiteX9" fmla="*/ 1752526 w 1754443"/>
                    <a:gd name="connsiteY9" fmla="*/ 3126632 h 3854236"/>
                    <a:gd name="connsiteX10" fmla="*/ 1704006 w 1754443"/>
                    <a:gd name="connsiteY10" fmla="*/ 3628649 h 3854236"/>
                    <a:gd name="connsiteX11" fmla="*/ 1679746 w 1754443"/>
                    <a:gd name="connsiteY11" fmla="*/ 3795988 h 3854236"/>
                    <a:gd name="connsiteX12" fmla="*/ 1073253 w 1754443"/>
                    <a:gd name="connsiteY12" fmla="*/ 3851767 h 3854236"/>
                    <a:gd name="connsiteX13" fmla="*/ 102865 w 1754443"/>
                    <a:gd name="connsiteY13" fmla="*/ 3837822 h 3854236"/>
                    <a:gd name="connsiteX14" fmla="*/ 30087 w 1754443"/>
                    <a:gd name="connsiteY14" fmla="*/ 3698373 h 3854236"/>
                    <a:gd name="connsiteX15" fmla="*/ 28959 w 1754443"/>
                    <a:gd name="connsiteY15" fmla="*/ 3517585 h 3854236"/>
                    <a:gd name="connsiteX0" fmla="*/ 28959 w 1803801"/>
                    <a:gd name="connsiteY0" fmla="*/ 3517586 h 3862259"/>
                    <a:gd name="connsiteX1" fmla="*/ 30087 w 1803801"/>
                    <a:gd name="connsiteY1" fmla="*/ 3140577 h 3862259"/>
                    <a:gd name="connsiteX2" fmla="*/ 224163 w 1803801"/>
                    <a:gd name="connsiteY2" fmla="*/ 2903514 h 3862259"/>
                    <a:gd name="connsiteX3" fmla="*/ 925187 w 1803801"/>
                    <a:gd name="connsiteY3" fmla="*/ 1223506 h 3862259"/>
                    <a:gd name="connsiteX4" fmla="*/ 1267330 w 1803801"/>
                    <a:gd name="connsiteY4" fmla="*/ 449207 h 3862259"/>
                    <a:gd name="connsiteX5" fmla="*/ 1461412 w 1803801"/>
                    <a:gd name="connsiteY5" fmla="*/ 128472 h 3862259"/>
                    <a:gd name="connsiteX6" fmla="*/ 1663878 w 1803801"/>
                    <a:gd name="connsiteY6" fmla="*/ 12896 h 3862259"/>
                    <a:gd name="connsiteX7" fmla="*/ 1752529 w 1803801"/>
                    <a:gd name="connsiteY7" fmla="*/ 463151 h 3862259"/>
                    <a:gd name="connsiteX8" fmla="*/ 1728566 w 1803801"/>
                    <a:gd name="connsiteY8" fmla="*/ 1816305 h 3862259"/>
                    <a:gd name="connsiteX9" fmla="*/ 1752526 w 1803801"/>
                    <a:gd name="connsiteY9" fmla="*/ 3126633 h 3862259"/>
                    <a:gd name="connsiteX10" fmla="*/ 1704006 w 1803801"/>
                    <a:gd name="connsiteY10" fmla="*/ 3628650 h 3862259"/>
                    <a:gd name="connsiteX11" fmla="*/ 1776785 w 1803801"/>
                    <a:gd name="connsiteY11" fmla="*/ 3823879 h 3862259"/>
                    <a:gd name="connsiteX12" fmla="*/ 1073253 w 1803801"/>
                    <a:gd name="connsiteY12" fmla="*/ 3851768 h 3862259"/>
                    <a:gd name="connsiteX13" fmla="*/ 102865 w 1803801"/>
                    <a:gd name="connsiteY13" fmla="*/ 3837823 h 3862259"/>
                    <a:gd name="connsiteX14" fmla="*/ 30087 w 1803801"/>
                    <a:gd name="connsiteY14" fmla="*/ 3698374 h 3862259"/>
                    <a:gd name="connsiteX15" fmla="*/ 28959 w 1803801"/>
                    <a:gd name="connsiteY15" fmla="*/ 3517586 h 3862259"/>
                    <a:gd name="connsiteX0" fmla="*/ 28959 w 1803801"/>
                    <a:gd name="connsiteY0" fmla="*/ 3505012 h 3849684"/>
                    <a:gd name="connsiteX1" fmla="*/ 30087 w 1803801"/>
                    <a:gd name="connsiteY1" fmla="*/ 3128003 h 3849684"/>
                    <a:gd name="connsiteX2" fmla="*/ 224163 w 1803801"/>
                    <a:gd name="connsiteY2" fmla="*/ 2890940 h 3849684"/>
                    <a:gd name="connsiteX3" fmla="*/ 925187 w 1803801"/>
                    <a:gd name="connsiteY3" fmla="*/ 1210932 h 3849684"/>
                    <a:gd name="connsiteX4" fmla="*/ 1267330 w 1803801"/>
                    <a:gd name="connsiteY4" fmla="*/ 436633 h 3849684"/>
                    <a:gd name="connsiteX5" fmla="*/ 1461412 w 1803801"/>
                    <a:gd name="connsiteY5" fmla="*/ 115898 h 3849684"/>
                    <a:gd name="connsiteX6" fmla="*/ 1736656 w 1803801"/>
                    <a:gd name="connsiteY6" fmla="*/ 14267 h 3849684"/>
                    <a:gd name="connsiteX7" fmla="*/ 1752529 w 1803801"/>
                    <a:gd name="connsiteY7" fmla="*/ 450577 h 3849684"/>
                    <a:gd name="connsiteX8" fmla="*/ 1728566 w 1803801"/>
                    <a:gd name="connsiteY8" fmla="*/ 1803731 h 3849684"/>
                    <a:gd name="connsiteX9" fmla="*/ 1752526 w 1803801"/>
                    <a:gd name="connsiteY9" fmla="*/ 3114059 h 3849684"/>
                    <a:gd name="connsiteX10" fmla="*/ 1704006 w 1803801"/>
                    <a:gd name="connsiteY10" fmla="*/ 3616076 h 3849684"/>
                    <a:gd name="connsiteX11" fmla="*/ 1776785 w 1803801"/>
                    <a:gd name="connsiteY11" fmla="*/ 3811305 h 3849684"/>
                    <a:gd name="connsiteX12" fmla="*/ 1073253 w 1803801"/>
                    <a:gd name="connsiteY12" fmla="*/ 3839194 h 3849684"/>
                    <a:gd name="connsiteX13" fmla="*/ 102865 w 1803801"/>
                    <a:gd name="connsiteY13" fmla="*/ 3825249 h 3849684"/>
                    <a:gd name="connsiteX14" fmla="*/ 30087 w 1803801"/>
                    <a:gd name="connsiteY14" fmla="*/ 3685800 h 3849684"/>
                    <a:gd name="connsiteX15" fmla="*/ 28959 w 1803801"/>
                    <a:gd name="connsiteY15" fmla="*/ 3505012 h 3849684"/>
                    <a:gd name="connsiteX0" fmla="*/ 28959 w 1803801"/>
                    <a:gd name="connsiteY0" fmla="*/ 3505012 h 3849684"/>
                    <a:gd name="connsiteX1" fmla="*/ 30087 w 1803801"/>
                    <a:gd name="connsiteY1" fmla="*/ 3128003 h 3849684"/>
                    <a:gd name="connsiteX2" fmla="*/ 106152 w 1803801"/>
                    <a:gd name="connsiteY2" fmla="*/ 2991142 h 3849684"/>
                    <a:gd name="connsiteX3" fmla="*/ 224163 w 1803801"/>
                    <a:gd name="connsiteY3" fmla="*/ 2890940 h 3849684"/>
                    <a:gd name="connsiteX4" fmla="*/ 925187 w 1803801"/>
                    <a:gd name="connsiteY4" fmla="*/ 1210932 h 3849684"/>
                    <a:gd name="connsiteX5" fmla="*/ 1267330 w 1803801"/>
                    <a:gd name="connsiteY5" fmla="*/ 436633 h 3849684"/>
                    <a:gd name="connsiteX6" fmla="*/ 1461412 w 1803801"/>
                    <a:gd name="connsiteY6" fmla="*/ 115898 h 3849684"/>
                    <a:gd name="connsiteX7" fmla="*/ 1736656 w 1803801"/>
                    <a:gd name="connsiteY7" fmla="*/ 14267 h 3849684"/>
                    <a:gd name="connsiteX8" fmla="*/ 1752529 w 1803801"/>
                    <a:gd name="connsiteY8" fmla="*/ 450577 h 3849684"/>
                    <a:gd name="connsiteX9" fmla="*/ 1728566 w 1803801"/>
                    <a:gd name="connsiteY9" fmla="*/ 1803731 h 3849684"/>
                    <a:gd name="connsiteX10" fmla="*/ 1752526 w 1803801"/>
                    <a:gd name="connsiteY10" fmla="*/ 3114059 h 3849684"/>
                    <a:gd name="connsiteX11" fmla="*/ 1704006 w 1803801"/>
                    <a:gd name="connsiteY11" fmla="*/ 3616076 h 3849684"/>
                    <a:gd name="connsiteX12" fmla="*/ 1776785 w 1803801"/>
                    <a:gd name="connsiteY12" fmla="*/ 3811305 h 3849684"/>
                    <a:gd name="connsiteX13" fmla="*/ 1073253 w 1803801"/>
                    <a:gd name="connsiteY13" fmla="*/ 3839194 h 3849684"/>
                    <a:gd name="connsiteX14" fmla="*/ 102865 w 1803801"/>
                    <a:gd name="connsiteY14" fmla="*/ 3825249 h 3849684"/>
                    <a:gd name="connsiteX15" fmla="*/ 30087 w 1803801"/>
                    <a:gd name="connsiteY15" fmla="*/ 3685800 h 3849684"/>
                    <a:gd name="connsiteX16" fmla="*/ 28959 w 1803801"/>
                    <a:gd name="connsiteY16" fmla="*/ 3505012 h 3849684"/>
                    <a:gd name="connsiteX0" fmla="*/ 28959 w 1803801"/>
                    <a:gd name="connsiteY0" fmla="*/ 3505012 h 3849684"/>
                    <a:gd name="connsiteX1" fmla="*/ 30087 w 1803801"/>
                    <a:gd name="connsiteY1" fmla="*/ 3128003 h 3849684"/>
                    <a:gd name="connsiteX2" fmla="*/ 106152 w 1803801"/>
                    <a:gd name="connsiteY2" fmla="*/ 2991142 h 3849684"/>
                    <a:gd name="connsiteX3" fmla="*/ 124024 w 1803801"/>
                    <a:gd name="connsiteY3" fmla="*/ 2890940 h 3849684"/>
                    <a:gd name="connsiteX4" fmla="*/ 925187 w 1803801"/>
                    <a:gd name="connsiteY4" fmla="*/ 1210932 h 3849684"/>
                    <a:gd name="connsiteX5" fmla="*/ 1267330 w 1803801"/>
                    <a:gd name="connsiteY5" fmla="*/ 436633 h 3849684"/>
                    <a:gd name="connsiteX6" fmla="*/ 1461412 w 1803801"/>
                    <a:gd name="connsiteY6" fmla="*/ 115898 h 3849684"/>
                    <a:gd name="connsiteX7" fmla="*/ 1736656 w 1803801"/>
                    <a:gd name="connsiteY7" fmla="*/ 14267 h 3849684"/>
                    <a:gd name="connsiteX8" fmla="*/ 1752529 w 1803801"/>
                    <a:gd name="connsiteY8" fmla="*/ 450577 h 3849684"/>
                    <a:gd name="connsiteX9" fmla="*/ 1728566 w 1803801"/>
                    <a:gd name="connsiteY9" fmla="*/ 1803731 h 3849684"/>
                    <a:gd name="connsiteX10" fmla="*/ 1752526 w 1803801"/>
                    <a:gd name="connsiteY10" fmla="*/ 3114059 h 3849684"/>
                    <a:gd name="connsiteX11" fmla="*/ 1704006 w 1803801"/>
                    <a:gd name="connsiteY11" fmla="*/ 3616076 h 3849684"/>
                    <a:gd name="connsiteX12" fmla="*/ 1776785 w 1803801"/>
                    <a:gd name="connsiteY12" fmla="*/ 3811305 h 3849684"/>
                    <a:gd name="connsiteX13" fmla="*/ 1073253 w 1803801"/>
                    <a:gd name="connsiteY13" fmla="*/ 3839194 h 3849684"/>
                    <a:gd name="connsiteX14" fmla="*/ 102865 w 1803801"/>
                    <a:gd name="connsiteY14" fmla="*/ 3825249 h 3849684"/>
                    <a:gd name="connsiteX15" fmla="*/ 30087 w 1803801"/>
                    <a:gd name="connsiteY15" fmla="*/ 3685800 h 3849684"/>
                    <a:gd name="connsiteX16" fmla="*/ 28959 w 1803801"/>
                    <a:gd name="connsiteY16" fmla="*/ 3505012 h 3849684"/>
                    <a:gd name="connsiteX0" fmla="*/ 28959 w 1803801"/>
                    <a:gd name="connsiteY0" fmla="*/ 3505012 h 3849684"/>
                    <a:gd name="connsiteX1" fmla="*/ 30087 w 1803801"/>
                    <a:gd name="connsiteY1" fmla="*/ 3128003 h 3849684"/>
                    <a:gd name="connsiteX2" fmla="*/ 106152 w 1803801"/>
                    <a:gd name="connsiteY2" fmla="*/ 2991142 h 3849684"/>
                    <a:gd name="connsiteX3" fmla="*/ 124024 w 1803801"/>
                    <a:gd name="connsiteY3" fmla="*/ 2890940 h 3849684"/>
                    <a:gd name="connsiteX4" fmla="*/ 925187 w 1803801"/>
                    <a:gd name="connsiteY4" fmla="*/ 1210932 h 3849684"/>
                    <a:gd name="connsiteX5" fmla="*/ 1267330 w 1803801"/>
                    <a:gd name="connsiteY5" fmla="*/ 436633 h 3849684"/>
                    <a:gd name="connsiteX6" fmla="*/ 1461412 w 1803801"/>
                    <a:gd name="connsiteY6" fmla="*/ 115898 h 3849684"/>
                    <a:gd name="connsiteX7" fmla="*/ 1736656 w 1803801"/>
                    <a:gd name="connsiteY7" fmla="*/ 14267 h 3849684"/>
                    <a:gd name="connsiteX8" fmla="*/ 1752529 w 1803801"/>
                    <a:gd name="connsiteY8" fmla="*/ 450577 h 3849684"/>
                    <a:gd name="connsiteX9" fmla="*/ 1728566 w 1803801"/>
                    <a:gd name="connsiteY9" fmla="*/ 1803731 h 3849684"/>
                    <a:gd name="connsiteX10" fmla="*/ 1752526 w 1803801"/>
                    <a:gd name="connsiteY10" fmla="*/ 3114059 h 3849684"/>
                    <a:gd name="connsiteX11" fmla="*/ 1704006 w 1803801"/>
                    <a:gd name="connsiteY11" fmla="*/ 3616076 h 3849684"/>
                    <a:gd name="connsiteX12" fmla="*/ 1776785 w 1803801"/>
                    <a:gd name="connsiteY12" fmla="*/ 3811305 h 3849684"/>
                    <a:gd name="connsiteX13" fmla="*/ 1073253 w 1803801"/>
                    <a:gd name="connsiteY13" fmla="*/ 3839194 h 3849684"/>
                    <a:gd name="connsiteX14" fmla="*/ 102865 w 1803801"/>
                    <a:gd name="connsiteY14" fmla="*/ 3825249 h 3849684"/>
                    <a:gd name="connsiteX15" fmla="*/ 30087 w 1803801"/>
                    <a:gd name="connsiteY15" fmla="*/ 3685800 h 3849684"/>
                    <a:gd name="connsiteX16" fmla="*/ 28959 w 1803801"/>
                    <a:gd name="connsiteY16" fmla="*/ 3505012 h 3849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03801" h="3849684">
                      <a:moveTo>
                        <a:pt x="28959" y="3505012"/>
                      </a:moveTo>
                      <a:cubicBezTo>
                        <a:pt x="33003" y="3388804"/>
                        <a:pt x="9683" y="3230348"/>
                        <a:pt x="30087" y="3128003"/>
                      </a:cubicBezTo>
                      <a:cubicBezTo>
                        <a:pt x="51297" y="3044695"/>
                        <a:pt x="73806" y="3030652"/>
                        <a:pt x="106152" y="2991142"/>
                      </a:cubicBezTo>
                      <a:cubicBezTo>
                        <a:pt x="138498" y="2951632"/>
                        <a:pt x="-4137" y="3189979"/>
                        <a:pt x="124024" y="2890940"/>
                      </a:cubicBezTo>
                      <a:cubicBezTo>
                        <a:pt x="352324" y="2591901"/>
                        <a:pt x="734636" y="1619983"/>
                        <a:pt x="925187" y="1210932"/>
                      </a:cubicBezTo>
                      <a:cubicBezTo>
                        <a:pt x="1115738" y="801881"/>
                        <a:pt x="1173916" y="612166"/>
                        <a:pt x="1267330" y="436633"/>
                      </a:cubicBezTo>
                      <a:cubicBezTo>
                        <a:pt x="1360744" y="261100"/>
                        <a:pt x="1395321" y="179320"/>
                        <a:pt x="1461412" y="115898"/>
                      </a:cubicBezTo>
                      <a:cubicBezTo>
                        <a:pt x="1527503" y="52476"/>
                        <a:pt x="1692180" y="-34540"/>
                        <a:pt x="1736656" y="14267"/>
                      </a:cubicBezTo>
                      <a:cubicBezTo>
                        <a:pt x="1781132" y="63074"/>
                        <a:pt x="1741748" y="159306"/>
                        <a:pt x="1752529" y="450577"/>
                      </a:cubicBezTo>
                      <a:cubicBezTo>
                        <a:pt x="1763310" y="741848"/>
                        <a:pt x="1712393" y="1355169"/>
                        <a:pt x="1728566" y="1803731"/>
                      </a:cubicBezTo>
                      <a:cubicBezTo>
                        <a:pt x="1731211" y="2255286"/>
                        <a:pt x="1760663" y="2784112"/>
                        <a:pt x="1752526" y="3114059"/>
                      </a:cubicBezTo>
                      <a:cubicBezTo>
                        <a:pt x="1764606" y="3416116"/>
                        <a:pt x="1716136" y="3504517"/>
                        <a:pt x="1704006" y="3616076"/>
                      </a:cubicBezTo>
                      <a:cubicBezTo>
                        <a:pt x="1691876" y="3727635"/>
                        <a:pt x="1869781" y="3753201"/>
                        <a:pt x="1776785" y="3811305"/>
                      </a:cubicBezTo>
                      <a:cubicBezTo>
                        <a:pt x="1683789" y="3869409"/>
                        <a:pt x="1311807" y="3846166"/>
                        <a:pt x="1073253" y="3839194"/>
                      </a:cubicBezTo>
                      <a:cubicBezTo>
                        <a:pt x="834699" y="3832222"/>
                        <a:pt x="288856" y="3846166"/>
                        <a:pt x="102865" y="3825249"/>
                      </a:cubicBezTo>
                      <a:cubicBezTo>
                        <a:pt x="-83126" y="3804332"/>
                        <a:pt x="42405" y="3739173"/>
                        <a:pt x="30087" y="3685800"/>
                      </a:cubicBezTo>
                      <a:cubicBezTo>
                        <a:pt x="17769" y="3632427"/>
                        <a:pt x="16829" y="3602626"/>
                        <a:pt x="28959" y="3505012"/>
                      </a:cubicBezTo>
                      <a:close/>
                    </a:path>
                  </a:pathLst>
                </a:custGeom>
                <a:pattFill prst="pct20">
                  <a:fgClr>
                    <a:srgbClr val="C0504D"/>
                  </a:fgClr>
                  <a:bgClr>
                    <a:prstClr val="white"/>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a:p>
              </p:txBody>
            </p:sp>
            <p:sp>
              <p:nvSpPr>
                <p:cNvPr id="19" name="Freeform 18"/>
                <p:cNvSpPr/>
                <p:nvPr/>
              </p:nvSpPr>
              <p:spPr>
                <a:xfrm>
                  <a:off x="3437033" y="1683714"/>
                  <a:ext cx="902923" cy="3583050"/>
                </a:xfrm>
                <a:custGeom>
                  <a:avLst/>
                  <a:gdLst>
                    <a:gd name="connsiteX0" fmla="*/ 0 w 2120114"/>
                    <a:gd name="connsiteY0" fmla="*/ 1933997 h 1933997"/>
                    <a:gd name="connsiteX1" fmla="*/ 2120114 w 2120114"/>
                    <a:gd name="connsiteY1" fmla="*/ 0 h 1933997"/>
                    <a:gd name="connsiteX2" fmla="*/ 2112022 w 2120114"/>
                    <a:gd name="connsiteY2" fmla="*/ 1933997 h 1933997"/>
                    <a:gd name="connsiteX3" fmla="*/ 0 w 2120114"/>
                    <a:gd name="connsiteY3" fmla="*/ 1933997 h 1933997"/>
                    <a:gd name="connsiteX0" fmla="*/ 0 w 2120114"/>
                    <a:gd name="connsiteY0" fmla="*/ 1933997 h 1933997"/>
                    <a:gd name="connsiteX1" fmla="*/ 1084333 w 2120114"/>
                    <a:gd name="connsiteY1" fmla="*/ 938676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7346 w 2127460"/>
                    <a:gd name="connsiteY0" fmla="*/ 1938998 h 1938998"/>
                    <a:gd name="connsiteX1" fmla="*/ 1447729 w 2127460"/>
                    <a:gd name="connsiteY1" fmla="*/ 1396831 h 1938998"/>
                    <a:gd name="connsiteX2" fmla="*/ 2127460 w 2127460"/>
                    <a:gd name="connsiteY2" fmla="*/ 5001 h 1938998"/>
                    <a:gd name="connsiteX3" fmla="*/ 2119368 w 2127460"/>
                    <a:gd name="connsiteY3" fmla="*/ 1938998 h 1938998"/>
                    <a:gd name="connsiteX4" fmla="*/ 7346 w 2127460"/>
                    <a:gd name="connsiteY4" fmla="*/ 1938998 h 1938998"/>
                    <a:gd name="connsiteX0" fmla="*/ 7346 w 2127460"/>
                    <a:gd name="connsiteY0" fmla="*/ 1933997 h 1933997"/>
                    <a:gd name="connsiteX1" fmla="*/ 1447729 w 2127460"/>
                    <a:gd name="connsiteY1" fmla="*/ 1391830 h 1933997"/>
                    <a:gd name="connsiteX2" fmla="*/ 2127460 w 2127460"/>
                    <a:gd name="connsiteY2" fmla="*/ 0 h 1933997"/>
                    <a:gd name="connsiteX3" fmla="*/ 2119368 w 2127460"/>
                    <a:gd name="connsiteY3" fmla="*/ 1933997 h 1933997"/>
                    <a:gd name="connsiteX4" fmla="*/ 7346 w 2127460"/>
                    <a:gd name="connsiteY4" fmla="*/ 1933997 h 1933997"/>
                    <a:gd name="connsiteX0" fmla="*/ 0 w 2120114"/>
                    <a:gd name="connsiteY0" fmla="*/ 1933997 h 1933997"/>
                    <a:gd name="connsiteX1" fmla="*/ 1440383 w 2120114"/>
                    <a:gd name="connsiteY1" fmla="*/ 139183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268933 w 2120114"/>
                    <a:gd name="connsiteY1" fmla="*/ 1448980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35114 w 2120114"/>
                    <a:gd name="connsiteY1" fmla="*/ 1337397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933997 h 1933997"/>
                    <a:gd name="connsiteX1" fmla="*/ 1308641 w 2120114"/>
                    <a:gd name="connsiteY1" fmla="*/ 1327254 h 1933997"/>
                    <a:gd name="connsiteX2" fmla="*/ 2120114 w 2120114"/>
                    <a:gd name="connsiteY2" fmla="*/ 0 h 1933997"/>
                    <a:gd name="connsiteX3" fmla="*/ 2112022 w 2120114"/>
                    <a:gd name="connsiteY3" fmla="*/ 1933997 h 1933997"/>
                    <a:gd name="connsiteX4" fmla="*/ 0 w 2120114"/>
                    <a:gd name="connsiteY4" fmla="*/ 1933997 h 1933997"/>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1308641 w 2120114"/>
                    <a:gd name="connsiteY1" fmla="*/ 1266390 h 1873133"/>
                    <a:gd name="connsiteX2" fmla="*/ 2120114 w 2120114"/>
                    <a:gd name="connsiteY2" fmla="*/ 0 h 1873133"/>
                    <a:gd name="connsiteX3" fmla="*/ 2112022 w 2120114"/>
                    <a:gd name="connsiteY3" fmla="*/ 1873133 h 1873133"/>
                    <a:gd name="connsiteX4" fmla="*/ 0 w 2120114"/>
                    <a:gd name="connsiteY4" fmla="*/ 1873133 h 1873133"/>
                    <a:gd name="connsiteX0" fmla="*/ 0 w 2120114"/>
                    <a:gd name="connsiteY0" fmla="*/ 1873133 h 1873133"/>
                    <a:gd name="connsiteX1" fmla="*/ 799188 w 2120114"/>
                    <a:gd name="connsiteY1" fmla="*/ 1015381 h 1873133"/>
                    <a:gd name="connsiteX2" fmla="*/ 2120114 w 2120114"/>
                    <a:gd name="connsiteY2" fmla="*/ 0 h 1873133"/>
                    <a:gd name="connsiteX3" fmla="*/ 2112022 w 2120114"/>
                    <a:gd name="connsiteY3" fmla="*/ 1873133 h 1873133"/>
                    <a:gd name="connsiteX4" fmla="*/ 0 w 2120114"/>
                    <a:gd name="connsiteY4" fmla="*/ 1873133 h 1873133"/>
                    <a:gd name="connsiteX0" fmla="*/ 0 w 3907245"/>
                    <a:gd name="connsiteY0" fmla="*/ 1873133 h 1873133"/>
                    <a:gd name="connsiteX1" fmla="*/ 799188 w 3907245"/>
                    <a:gd name="connsiteY1" fmla="*/ 1015381 h 1873133"/>
                    <a:gd name="connsiteX2" fmla="*/ 2120114 w 3907245"/>
                    <a:gd name="connsiteY2" fmla="*/ 0 h 1873133"/>
                    <a:gd name="connsiteX3" fmla="*/ 3907241 w 3907245"/>
                    <a:gd name="connsiteY3" fmla="*/ 1873133 h 1873133"/>
                    <a:gd name="connsiteX4" fmla="*/ 0 w 3907245"/>
                    <a:gd name="connsiteY4" fmla="*/ 1873133 h 1873133"/>
                    <a:gd name="connsiteX0" fmla="*/ 0 w 2136516"/>
                    <a:gd name="connsiteY0" fmla="*/ 1873133 h 1873133"/>
                    <a:gd name="connsiteX1" fmla="*/ 799188 w 2136516"/>
                    <a:gd name="connsiteY1" fmla="*/ 1015381 h 1873133"/>
                    <a:gd name="connsiteX2" fmla="*/ 2120114 w 2136516"/>
                    <a:gd name="connsiteY2" fmla="*/ 0 h 1873133"/>
                    <a:gd name="connsiteX3" fmla="*/ 2136282 w 2136516"/>
                    <a:gd name="connsiteY3" fmla="*/ 1831298 h 1873133"/>
                    <a:gd name="connsiteX4" fmla="*/ 0 w 2136516"/>
                    <a:gd name="connsiteY4" fmla="*/ 1873133 h 1873133"/>
                    <a:gd name="connsiteX0" fmla="*/ 0 w 1627060"/>
                    <a:gd name="connsiteY0" fmla="*/ 3532579 h 3532579"/>
                    <a:gd name="connsiteX1" fmla="*/ 289734 w 1627060"/>
                    <a:gd name="connsiteY1" fmla="*/ 1015381 h 3532579"/>
                    <a:gd name="connsiteX2" fmla="*/ 1610660 w 1627060"/>
                    <a:gd name="connsiteY2" fmla="*/ 0 h 3532579"/>
                    <a:gd name="connsiteX3" fmla="*/ 1626828 w 1627060"/>
                    <a:gd name="connsiteY3" fmla="*/ 1831298 h 3532579"/>
                    <a:gd name="connsiteX4" fmla="*/ 0 w 1627060"/>
                    <a:gd name="connsiteY4" fmla="*/ 3532579 h 3532579"/>
                    <a:gd name="connsiteX0" fmla="*/ 0 w 1627062"/>
                    <a:gd name="connsiteY0" fmla="*/ 3532579 h 3579333"/>
                    <a:gd name="connsiteX1" fmla="*/ 289734 w 1627062"/>
                    <a:gd name="connsiteY1" fmla="*/ 1015381 h 3579333"/>
                    <a:gd name="connsiteX2" fmla="*/ 1610660 w 1627062"/>
                    <a:gd name="connsiteY2" fmla="*/ 0 h 3579333"/>
                    <a:gd name="connsiteX3" fmla="*/ 1626828 w 1627062"/>
                    <a:gd name="connsiteY3" fmla="*/ 1831298 h 3579333"/>
                    <a:gd name="connsiteX4" fmla="*/ 0 w 1627062"/>
                    <a:gd name="connsiteY4" fmla="*/ 3532579 h 3579333"/>
                    <a:gd name="connsiteX0" fmla="*/ 0 w 1627060"/>
                    <a:gd name="connsiteY0" fmla="*/ 3532579 h 3724925"/>
                    <a:gd name="connsiteX1" fmla="*/ 289734 w 1627060"/>
                    <a:gd name="connsiteY1" fmla="*/ 1015381 h 3724925"/>
                    <a:gd name="connsiteX2" fmla="*/ 1610660 w 1627060"/>
                    <a:gd name="connsiteY2" fmla="*/ 0 h 3724925"/>
                    <a:gd name="connsiteX3" fmla="*/ 1626828 w 1627060"/>
                    <a:gd name="connsiteY3" fmla="*/ 1831298 h 3724925"/>
                    <a:gd name="connsiteX4" fmla="*/ 1359671 w 1627060"/>
                    <a:gd name="connsiteY4" fmla="*/ 3392634 h 3724925"/>
                    <a:gd name="connsiteX5" fmla="*/ 0 w 1627060"/>
                    <a:gd name="connsiteY5" fmla="*/ 3532579 h 3724925"/>
                    <a:gd name="connsiteX0" fmla="*/ 0 w 1627062"/>
                    <a:gd name="connsiteY0" fmla="*/ 3532579 h 3769754"/>
                    <a:gd name="connsiteX1" fmla="*/ 289734 w 1627062"/>
                    <a:gd name="connsiteY1" fmla="*/ 1015381 h 3769754"/>
                    <a:gd name="connsiteX2" fmla="*/ 1610660 w 1627062"/>
                    <a:gd name="connsiteY2" fmla="*/ 0 h 3769754"/>
                    <a:gd name="connsiteX3" fmla="*/ 1626828 w 1627062"/>
                    <a:gd name="connsiteY3" fmla="*/ 1831298 h 3769754"/>
                    <a:gd name="connsiteX4" fmla="*/ 1359671 w 1627062"/>
                    <a:gd name="connsiteY4" fmla="*/ 3392634 h 3769754"/>
                    <a:gd name="connsiteX5" fmla="*/ 0 w 1627062"/>
                    <a:gd name="connsiteY5" fmla="*/ 3532579 h 3769754"/>
                    <a:gd name="connsiteX0" fmla="*/ 0 w 1656737"/>
                    <a:gd name="connsiteY0" fmla="*/ 3532579 h 3775458"/>
                    <a:gd name="connsiteX1" fmla="*/ 289734 w 1656737"/>
                    <a:gd name="connsiteY1" fmla="*/ 1015381 h 3775458"/>
                    <a:gd name="connsiteX2" fmla="*/ 1610660 w 1656737"/>
                    <a:gd name="connsiteY2" fmla="*/ 0 h 3775458"/>
                    <a:gd name="connsiteX3" fmla="*/ 1626828 w 1656737"/>
                    <a:gd name="connsiteY3" fmla="*/ 1831298 h 3775458"/>
                    <a:gd name="connsiteX4" fmla="*/ 1529489 w 1656737"/>
                    <a:gd name="connsiteY4" fmla="*/ 3406579 h 3775458"/>
                    <a:gd name="connsiteX5" fmla="*/ 0 w 1656737"/>
                    <a:gd name="connsiteY5" fmla="*/ 3532579 h 3775458"/>
                    <a:gd name="connsiteX0" fmla="*/ 0 w 1656739"/>
                    <a:gd name="connsiteY0" fmla="*/ 3532579 h 3775458"/>
                    <a:gd name="connsiteX1" fmla="*/ 823449 w 1656739"/>
                    <a:gd name="connsiteY1" fmla="*/ 1238499 h 3775458"/>
                    <a:gd name="connsiteX2" fmla="*/ 1610660 w 1656739"/>
                    <a:gd name="connsiteY2" fmla="*/ 0 h 3775458"/>
                    <a:gd name="connsiteX3" fmla="*/ 1626828 w 1656739"/>
                    <a:gd name="connsiteY3" fmla="*/ 1831298 h 3775458"/>
                    <a:gd name="connsiteX4" fmla="*/ 1529489 w 1656739"/>
                    <a:gd name="connsiteY4" fmla="*/ 3406579 h 3775458"/>
                    <a:gd name="connsiteX5" fmla="*/ 0 w 1656739"/>
                    <a:gd name="connsiteY5" fmla="*/ 3532579 h 3775458"/>
                    <a:gd name="connsiteX0" fmla="*/ 0 w 1710833"/>
                    <a:gd name="connsiteY0" fmla="*/ 3532579 h 4057061"/>
                    <a:gd name="connsiteX1" fmla="*/ 823449 w 1710833"/>
                    <a:gd name="connsiteY1" fmla="*/ 1238499 h 4057061"/>
                    <a:gd name="connsiteX2" fmla="*/ 1610660 w 1710833"/>
                    <a:gd name="connsiteY2" fmla="*/ 0 h 4057061"/>
                    <a:gd name="connsiteX3" fmla="*/ 1626828 w 1710833"/>
                    <a:gd name="connsiteY3" fmla="*/ 1831298 h 4057061"/>
                    <a:gd name="connsiteX4" fmla="*/ 1602267 w 1710833"/>
                    <a:gd name="connsiteY4" fmla="*/ 3866761 h 4057061"/>
                    <a:gd name="connsiteX5" fmla="*/ 0 w 1710833"/>
                    <a:gd name="connsiteY5" fmla="*/ 3532579 h 4057061"/>
                    <a:gd name="connsiteX0" fmla="*/ 0 w 1640319"/>
                    <a:gd name="connsiteY0" fmla="*/ 3532579 h 4057061"/>
                    <a:gd name="connsiteX1" fmla="*/ 823449 w 1640319"/>
                    <a:gd name="connsiteY1" fmla="*/ 1238499 h 4057061"/>
                    <a:gd name="connsiteX2" fmla="*/ 1610660 w 1640319"/>
                    <a:gd name="connsiteY2" fmla="*/ 0 h 4057061"/>
                    <a:gd name="connsiteX3" fmla="*/ 1626828 w 1640319"/>
                    <a:gd name="connsiteY3" fmla="*/ 1831298 h 4057061"/>
                    <a:gd name="connsiteX4" fmla="*/ 1505229 w 1640319"/>
                    <a:gd name="connsiteY4" fmla="*/ 3866761 h 4057061"/>
                    <a:gd name="connsiteX5" fmla="*/ 0 w 1640319"/>
                    <a:gd name="connsiteY5" fmla="*/ 3532579 h 4057061"/>
                    <a:gd name="connsiteX0" fmla="*/ 0 w 1692136"/>
                    <a:gd name="connsiteY0" fmla="*/ 3532579 h 4014849"/>
                    <a:gd name="connsiteX1" fmla="*/ 823449 w 1692136"/>
                    <a:gd name="connsiteY1" fmla="*/ 1238499 h 4014849"/>
                    <a:gd name="connsiteX2" fmla="*/ 1610660 w 1692136"/>
                    <a:gd name="connsiteY2" fmla="*/ 0 h 4014849"/>
                    <a:gd name="connsiteX3" fmla="*/ 1626828 w 1692136"/>
                    <a:gd name="connsiteY3" fmla="*/ 1831298 h 4014849"/>
                    <a:gd name="connsiteX4" fmla="*/ 1578008 w 1692136"/>
                    <a:gd name="connsiteY4" fmla="*/ 3810982 h 4014849"/>
                    <a:gd name="connsiteX5" fmla="*/ 0 w 1692136"/>
                    <a:gd name="connsiteY5" fmla="*/ 3532579 h 4014849"/>
                    <a:gd name="connsiteX0" fmla="*/ 0 w 1718393"/>
                    <a:gd name="connsiteY0" fmla="*/ 3532579 h 4014849"/>
                    <a:gd name="connsiteX1" fmla="*/ 823449 w 1718393"/>
                    <a:gd name="connsiteY1" fmla="*/ 1238499 h 4014849"/>
                    <a:gd name="connsiteX2" fmla="*/ 1610660 w 1718393"/>
                    <a:gd name="connsiteY2" fmla="*/ 0 h 4014849"/>
                    <a:gd name="connsiteX3" fmla="*/ 1626828 w 1718393"/>
                    <a:gd name="connsiteY3" fmla="*/ 1831298 h 4014849"/>
                    <a:gd name="connsiteX4" fmla="*/ 1650788 w 1718393"/>
                    <a:gd name="connsiteY4" fmla="*/ 3141626 h 4014849"/>
                    <a:gd name="connsiteX5" fmla="*/ 1578008 w 1718393"/>
                    <a:gd name="connsiteY5" fmla="*/ 3810982 h 4014849"/>
                    <a:gd name="connsiteX6" fmla="*/ 0 w 1718393"/>
                    <a:gd name="connsiteY6" fmla="*/ 3532579 h 4014849"/>
                    <a:gd name="connsiteX0" fmla="*/ 0 w 1685361"/>
                    <a:gd name="connsiteY0" fmla="*/ 3532579 h 4014849"/>
                    <a:gd name="connsiteX1" fmla="*/ 823449 w 1685361"/>
                    <a:gd name="connsiteY1" fmla="*/ 1238499 h 4014849"/>
                    <a:gd name="connsiteX2" fmla="*/ 1610660 w 1685361"/>
                    <a:gd name="connsiteY2" fmla="*/ 0 h 4014849"/>
                    <a:gd name="connsiteX3" fmla="*/ 1626828 w 1685361"/>
                    <a:gd name="connsiteY3" fmla="*/ 1831298 h 4014849"/>
                    <a:gd name="connsiteX4" fmla="*/ 1650788 w 1685361"/>
                    <a:gd name="connsiteY4" fmla="*/ 3141626 h 4014849"/>
                    <a:gd name="connsiteX5" fmla="*/ 1505229 w 1685361"/>
                    <a:gd name="connsiteY5" fmla="*/ 3643643 h 4014849"/>
                    <a:gd name="connsiteX6" fmla="*/ 1578008 w 1685361"/>
                    <a:gd name="connsiteY6" fmla="*/ 3810982 h 4014849"/>
                    <a:gd name="connsiteX7" fmla="*/ 0 w 1685361"/>
                    <a:gd name="connsiteY7" fmla="*/ 3532579 h 4014849"/>
                    <a:gd name="connsiteX0" fmla="*/ 0 w 1685361"/>
                    <a:gd name="connsiteY0" fmla="*/ 3583664 h 4065934"/>
                    <a:gd name="connsiteX1" fmla="*/ 823449 w 1685361"/>
                    <a:gd name="connsiteY1" fmla="*/ 1289584 h 4065934"/>
                    <a:gd name="connsiteX2" fmla="*/ 1165592 w 1685361"/>
                    <a:gd name="connsiteY2" fmla="*/ 515285 h 4065934"/>
                    <a:gd name="connsiteX3" fmla="*/ 1610660 w 1685361"/>
                    <a:gd name="connsiteY3" fmla="*/ 51085 h 4065934"/>
                    <a:gd name="connsiteX4" fmla="*/ 1626828 w 1685361"/>
                    <a:gd name="connsiteY4" fmla="*/ 1882383 h 4065934"/>
                    <a:gd name="connsiteX5" fmla="*/ 1650788 w 1685361"/>
                    <a:gd name="connsiteY5" fmla="*/ 3192711 h 4065934"/>
                    <a:gd name="connsiteX6" fmla="*/ 1505229 w 1685361"/>
                    <a:gd name="connsiteY6" fmla="*/ 3694728 h 4065934"/>
                    <a:gd name="connsiteX7" fmla="*/ 1578008 w 1685361"/>
                    <a:gd name="connsiteY7" fmla="*/ 3862067 h 4065934"/>
                    <a:gd name="connsiteX8" fmla="*/ 0 w 1685361"/>
                    <a:gd name="connsiteY8" fmla="*/ 3583664 h 4065934"/>
                    <a:gd name="connsiteX0" fmla="*/ 0 w 1707603"/>
                    <a:gd name="connsiteY0" fmla="*/ 3583664 h 4065934"/>
                    <a:gd name="connsiteX1" fmla="*/ 823449 w 1707603"/>
                    <a:gd name="connsiteY1" fmla="*/ 1289584 h 4065934"/>
                    <a:gd name="connsiteX2" fmla="*/ 1165592 w 1707603"/>
                    <a:gd name="connsiteY2" fmla="*/ 515285 h 4065934"/>
                    <a:gd name="connsiteX3" fmla="*/ 1610660 w 1707603"/>
                    <a:gd name="connsiteY3" fmla="*/ 51085 h 4065934"/>
                    <a:gd name="connsiteX4" fmla="*/ 1626828 w 1707603"/>
                    <a:gd name="connsiteY4" fmla="*/ 1882383 h 4065934"/>
                    <a:gd name="connsiteX5" fmla="*/ 1650788 w 1707603"/>
                    <a:gd name="connsiteY5" fmla="*/ 3192711 h 4065934"/>
                    <a:gd name="connsiteX6" fmla="*/ 1602268 w 1707603"/>
                    <a:gd name="connsiteY6" fmla="*/ 3694728 h 4065934"/>
                    <a:gd name="connsiteX7" fmla="*/ 1578008 w 1707603"/>
                    <a:gd name="connsiteY7" fmla="*/ 3862067 h 4065934"/>
                    <a:gd name="connsiteX8" fmla="*/ 0 w 1707603"/>
                    <a:gd name="connsiteY8" fmla="*/ 3583664 h 4065934"/>
                    <a:gd name="connsiteX0" fmla="*/ 0 w 1652705"/>
                    <a:gd name="connsiteY0" fmla="*/ 3583664 h 3937252"/>
                    <a:gd name="connsiteX1" fmla="*/ 823449 w 1652705"/>
                    <a:gd name="connsiteY1" fmla="*/ 1289584 h 3937252"/>
                    <a:gd name="connsiteX2" fmla="*/ 1165592 w 1652705"/>
                    <a:gd name="connsiteY2" fmla="*/ 515285 h 3937252"/>
                    <a:gd name="connsiteX3" fmla="*/ 1610660 w 1652705"/>
                    <a:gd name="connsiteY3" fmla="*/ 51085 h 3937252"/>
                    <a:gd name="connsiteX4" fmla="*/ 1626828 w 1652705"/>
                    <a:gd name="connsiteY4" fmla="*/ 1882383 h 3937252"/>
                    <a:gd name="connsiteX5" fmla="*/ 1650788 w 1652705"/>
                    <a:gd name="connsiteY5" fmla="*/ 3192711 h 3937252"/>
                    <a:gd name="connsiteX6" fmla="*/ 1602268 w 1652705"/>
                    <a:gd name="connsiteY6" fmla="*/ 3694728 h 3937252"/>
                    <a:gd name="connsiteX7" fmla="*/ 1578008 w 1652705"/>
                    <a:gd name="connsiteY7" fmla="*/ 3862067 h 3937252"/>
                    <a:gd name="connsiteX8" fmla="*/ 971515 w 1652705"/>
                    <a:gd name="connsiteY8" fmla="*/ 3917846 h 3937252"/>
                    <a:gd name="connsiteX9" fmla="*/ 0 w 1652705"/>
                    <a:gd name="connsiteY9" fmla="*/ 3583664 h 3937252"/>
                    <a:gd name="connsiteX0" fmla="*/ 90324 w 1743029"/>
                    <a:gd name="connsiteY0" fmla="*/ 3583664 h 3920315"/>
                    <a:gd name="connsiteX1" fmla="*/ 913773 w 1743029"/>
                    <a:gd name="connsiteY1" fmla="*/ 1289584 h 3920315"/>
                    <a:gd name="connsiteX2" fmla="*/ 1255916 w 1743029"/>
                    <a:gd name="connsiteY2" fmla="*/ 515285 h 3920315"/>
                    <a:gd name="connsiteX3" fmla="*/ 1700984 w 1743029"/>
                    <a:gd name="connsiteY3" fmla="*/ 51085 h 3920315"/>
                    <a:gd name="connsiteX4" fmla="*/ 1717152 w 1743029"/>
                    <a:gd name="connsiteY4" fmla="*/ 1882383 h 3920315"/>
                    <a:gd name="connsiteX5" fmla="*/ 1741112 w 1743029"/>
                    <a:gd name="connsiteY5" fmla="*/ 3192711 h 3920315"/>
                    <a:gd name="connsiteX6" fmla="*/ 1692592 w 1743029"/>
                    <a:gd name="connsiteY6" fmla="*/ 3694728 h 3920315"/>
                    <a:gd name="connsiteX7" fmla="*/ 1668332 w 1743029"/>
                    <a:gd name="connsiteY7" fmla="*/ 3862067 h 3920315"/>
                    <a:gd name="connsiteX8" fmla="*/ 1061839 w 1743029"/>
                    <a:gd name="connsiteY8" fmla="*/ 3917846 h 3920315"/>
                    <a:gd name="connsiteX9" fmla="*/ 115710 w 1743029"/>
                    <a:gd name="connsiteY9" fmla="*/ 3820232 h 3920315"/>
                    <a:gd name="connsiteX10" fmla="*/ 90324 w 1743029"/>
                    <a:gd name="connsiteY10" fmla="*/ 3583664 h 3920315"/>
                    <a:gd name="connsiteX0" fmla="*/ 90326 w 1743031"/>
                    <a:gd name="connsiteY0" fmla="*/ 3583664 h 3920315"/>
                    <a:gd name="connsiteX1" fmla="*/ 212751 w 1743031"/>
                    <a:gd name="connsiteY1" fmla="*/ 2969592 h 3920315"/>
                    <a:gd name="connsiteX2" fmla="*/ 913775 w 1743031"/>
                    <a:gd name="connsiteY2" fmla="*/ 1289584 h 3920315"/>
                    <a:gd name="connsiteX3" fmla="*/ 1255918 w 1743031"/>
                    <a:gd name="connsiteY3" fmla="*/ 515285 h 3920315"/>
                    <a:gd name="connsiteX4" fmla="*/ 1700986 w 1743031"/>
                    <a:gd name="connsiteY4" fmla="*/ 51085 h 3920315"/>
                    <a:gd name="connsiteX5" fmla="*/ 1717154 w 1743031"/>
                    <a:gd name="connsiteY5" fmla="*/ 1882383 h 3920315"/>
                    <a:gd name="connsiteX6" fmla="*/ 1741114 w 1743031"/>
                    <a:gd name="connsiteY6" fmla="*/ 3192711 h 3920315"/>
                    <a:gd name="connsiteX7" fmla="*/ 1692594 w 1743031"/>
                    <a:gd name="connsiteY7" fmla="*/ 3694728 h 3920315"/>
                    <a:gd name="connsiteX8" fmla="*/ 1668334 w 1743031"/>
                    <a:gd name="connsiteY8" fmla="*/ 3862067 h 3920315"/>
                    <a:gd name="connsiteX9" fmla="*/ 1061841 w 1743031"/>
                    <a:gd name="connsiteY9" fmla="*/ 3917846 h 3920315"/>
                    <a:gd name="connsiteX10" fmla="*/ 115712 w 1743031"/>
                    <a:gd name="connsiteY10" fmla="*/ 3820232 h 3920315"/>
                    <a:gd name="connsiteX11" fmla="*/ 90326 w 1743031"/>
                    <a:gd name="connsiteY11" fmla="*/ 3583664 h 3920315"/>
                    <a:gd name="connsiteX0" fmla="*/ 90326 w 1743031"/>
                    <a:gd name="connsiteY0" fmla="*/ 3507725 h 3844376"/>
                    <a:gd name="connsiteX1" fmla="*/ 212751 w 1743031"/>
                    <a:gd name="connsiteY1" fmla="*/ 2893653 h 3844376"/>
                    <a:gd name="connsiteX2" fmla="*/ 913775 w 1743031"/>
                    <a:gd name="connsiteY2" fmla="*/ 1213645 h 3844376"/>
                    <a:gd name="connsiteX3" fmla="*/ 1255918 w 1743031"/>
                    <a:gd name="connsiteY3" fmla="*/ 439346 h 3844376"/>
                    <a:gd name="connsiteX4" fmla="*/ 1652466 w 1743031"/>
                    <a:gd name="connsiteY4" fmla="*/ 58815 h 3844376"/>
                    <a:gd name="connsiteX5" fmla="*/ 1717154 w 1743031"/>
                    <a:gd name="connsiteY5" fmla="*/ 1806444 h 3844376"/>
                    <a:gd name="connsiteX6" fmla="*/ 1741114 w 1743031"/>
                    <a:gd name="connsiteY6" fmla="*/ 3116772 h 3844376"/>
                    <a:gd name="connsiteX7" fmla="*/ 1692594 w 1743031"/>
                    <a:gd name="connsiteY7" fmla="*/ 3618789 h 3844376"/>
                    <a:gd name="connsiteX8" fmla="*/ 1668334 w 1743031"/>
                    <a:gd name="connsiteY8" fmla="*/ 3786128 h 3844376"/>
                    <a:gd name="connsiteX9" fmla="*/ 1061841 w 1743031"/>
                    <a:gd name="connsiteY9" fmla="*/ 3841907 h 3844376"/>
                    <a:gd name="connsiteX10" fmla="*/ 115712 w 1743031"/>
                    <a:gd name="connsiteY10" fmla="*/ 3744293 h 3844376"/>
                    <a:gd name="connsiteX11" fmla="*/ 90326 w 1743031"/>
                    <a:gd name="connsiteY11" fmla="*/ 3507725 h 3844376"/>
                    <a:gd name="connsiteX0" fmla="*/ 103192 w 1755897"/>
                    <a:gd name="connsiteY0" fmla="*/ 3507725 h 3855012"/>
                    <a:gd name="connsiteX1" fmla="*/ 225617 w 1755897"/>
                    <a:gd name="connsiteY1" fmla="*/ 2893653 h 3855012"/>
                    <a:gd name="connsiteX2" fmla="*/ 926641 w 1755897"/>
                    <a:gd name="connsiteY2" fmla="*/ 1213645 h 3855012"/>
                    <a:gd name="connsiteX3" fmla="*/ 1268784 w 1755897"/>
                    <a:gd name="connsiteY3" fmla="*/ 439346 h 3855012"/>
                    <a:gd name="connsiteX4" fmla="*/ 1665332 w 1755897"/>
                    <a:gd name="connsiteY4" fmla="*/ 58815 h 3855012"/>
                    <a:gd name="connsiteX5" fmla="*/ 1730020 w 1755897"/>
                    <a:gd name="connsiteY5" fmla="*/ 1806444 h 3855012"/>
                    <a:gd name="connsiteX6" fmla="*/ 1753980 w 1755897"/>
                    <a:gd name="connsiteY6" fmla="*/ 3116772 h 3855012"/>
                    <a:gd name="connsiteX7" fmla="*/ 1705460 w 1755897"/>
                    <a:gd name="connsiteY7" fmla="*/ 3618789 h 3855012"/>
                    <a:gd name="connsiteX8" fmla="*/ 1681200 w 1755897"/>
                    <a:gd name="connsiteY8" fmla="*/ 3786128 h 3855012"/>
                    <a:gd name="connsiteX9" fmla="*/ 1074707 w 1755897"/>
                    <a:gd name="connsiteY9" fmla="*/ 3841907 h 3855012"/>
                    <a:gd name="connsiteX10" fmla="*/ 104319 w 1755897"/>
                    <a:gd name="connsiteY10" fmla="*/ 3827962 h 3855012"/>
                    <a:gd name="connsiteX11" fmla="*/ 103192 w 1755897"/>
                    <a:gd name="connsiteY11" fmla="*/ 3507725 h 3855012"/>
                    <a:gd name="connsiteX0" fmla="*/ 103192 w 1755897"/>
                    <a:gd name="connsiteY0" fmla="*/ 3507725 h 3855012"/>
                    <a:gd name="connsiteX1" fmla="*/ 31541 w 1755897"/>
                    <a:gd name="connsiteY1" fmla="*/ 3130716 h 3855012"/>
                    <a:gd name="connsiteX2" fmla="*/ 225617 w 1755897"/>
                    <a:gd name="connsiteY2" fmla="*/ 2893653 h 3855012"/>
                    <a:gd name="connsiteX3" fmla="*/ 926641 w 1755897"/>
                    <a:gd name="connsiteY3" fmla="*/ 1213645 h 3855012"/>
                    <a:gd name="connsiteX4" fmla="*/ 1268784 w 1755897"/>
                    <a:gd name="connsiteY4" fmla="*/ 439346 h 3855012"/>
                    <a:gd name="connsiteX5" fmla="*/ 1665332 w 1755897"/>
                    <a:gd name="connsiteY5" fmla="*/ 58815 h 3855012"/>
                    <a:gd name="connsiteX6" fmla="*/ 1730020 w 1755897"/>
                    <a:gd name="connsiteY6" fmla="*/ 1806444 h 3855012"/>
                    <a:gd name="connsiteX7" fmla="*/ 1753980 w 1755897"/>
                    <a:gd name="connsiteY7" fmla="*/ 3116772 h 3855012"/>
                    <a:gd name="connsiteX8" fmla="*/ 1705460 w 1755897"/>
                    <a:gd name="connsiteY8" fmla="*/ 3618789 h 3855012"/>
                    <a:gd name="connsiteX9" fmla="*/ 1681200 w 1755897"/>
                    <a:gd name="connsiteY9" fmla="*/ 3786128 h 3855012"/>
                    <a:gd name="connsiteX10" fmla="*/ 1074707 w 1755897"/>
                    <a:gd name="connsiteY10" fmla="*/ 3841907 h 3855012"/>
                    <a:gd name="connsiteX11" fmla="*/ 104319 w 1755897"/>
                    <a:gd name="connsiteY11" fmla="*/ 3827962 h 3855012"/>
                    <a:gd name="connsiteX12" fmla="*/ 103192 w 1755897"/>
                    <a:gd name="connsiteY12" fmla="*/ 3507725 h 3855012"/>
                    <a:gd name="connsiteX0" fmla="*/ 69388 w 1794872"/>
                    <a:gd name="connsiteY0" fmla="*/ 3507725 h 3855012"/>
                    <a:gd name="connsiteX1" fmla="*/ 70516 w 1794872"/>
                    <a:gd name="connsiteY1" fmla="*/ 3130716 h 3855012"/>
                    <a:gd name="connsiteX2" fmla="*/ 264592 w 1794872"/>
                    <a:gd name="connsiteY2" fmla="*/ 2893653 h 3855012"/>
                    <a:gd name="connsiteX3" fmla="*/ 965616 w 1794872"/>
                    <a:gd name="connsiteY3" fmla="*/ 1213645 h 3855012"/>
                    <a:gd name="connsiteX4" fmla="*/ 1307759 w 1794872"/>
                    <a:gd name="connsiteY4" fmla="*/ 439346 h 3855012"/>
                    <a:gd name="connsiteX5" fmla="*/ 1704307 w 1794872"/>
                    <a:gd name="connsiteY5" fmla="*/ 58815 h 3855012"/>
                    <a:gd name="connsiteX6" fmla="*/ 1768995 w 1794872"/>
                    <a:gd name="connsiteY6" fmla="*/ 1806444 h 3855012"/>
                    <a:gd name="connsiteX7" fmla="*/ 1792955 w 1794872"/>
                    <a:gd name="connsiteY7" fmla="*/ 3116772 h 3855012"/>
                    <a:gd name="connsiteX8" fmla="*/ 1744435 w 1794872"/>
                    <a:gd name="connsiteY8" fmla="*/ 3618789 h 3855012"/>
                    <a:gd name="connsiteX9" fmla="*/ 1720175 w 1794872"/>
                    <a:gd name="connsiteY9" fmla="*/ 3786128 h 3855012"/>
                    <a:gd name="connsiteX10" fmla="*/ 1113682 w 1794872"/>
                    <a:gd name="connsiteY10" fmla="*/ 3841907 h 3855012"/>
                    <a:gd name="connsiteX11" fmla="*/ 143294 w 1794872"/>
                    <a:gd name="connsiteY11" fmla="*/ 3827962 h 3855012"/>
                    <a:gd name="connsiteX12" fmla="*/ 69388 w 1794872"/>
                    <a:gd name="connsiteY12" fmla="*/ 3507725 h 3855012"/>
                    <a:gd name="connsiteX0" fmla="*/ 69388 w 1794872"/>
                    <a:gd name="connsiteY0" fmla="*/ 3448948 h 3796235"/>
                    <a:gd name="connsiteX1" fmla="*/ 70516 w 1794872"/>
                    <a:gd name="connsiteY1" fmla="*/ 3071939 h 3796235"/>
                    <a:gd name="connsiteX2" fmla="*/ 264592 w 1794872"/>
                    <a:gd name="connsiteY2" fmla="*/ 2834876 h 3796235"/>
                    <a:gd name="connsiteX3" fmla="*/ 965616 w 1794872"/>
                    <a:gd name="connsiteY3" fmla="*/ 1154868 h 3796235"/>
                    <a:gd name="connsiteX4" fmla="*/ 1307759 w 1794872"/>
                    <a:gd name="connsiteY4" fmla="*/ 380569 h 3796235"/>
                    <a:gd name="connsiteX5" fmla="*/ 1704307 w 1794872"/>
                    <a:gd name="connsiteY5" fmla="*/ 38 h 3796235"/>
                    <a:gd name="connsiteX6" fmla="*/ 1792958 w 1794872"/>
                    <a:gd name="connsiteY6" fmla="*/ 394513 h 3796235"/>
                    <a:gd name="connsiteX7" fmla="*/ 1768995 w 1794872"/>
                    <a:gd name="connsiteY7" fmla="*/ 1747667 h 3796235"/>
                    <a:gd name="connsiteX8" fmla="*/ 1792955 w 1794872"/>
                    <a:gd name="connsiteY8" fmla="*/ 3057995 h 3796235"/>
                    <a:gd name="connsiteX9" fmla="*/ 1744435 w 1794872"/>
                    <a:gd name="connsiteY9" fmla="*/ 3560012 h 3796235"/>
                    <a:gd name="connsiteX10" fmla="*/ 1720175 w 1794872"/>
                    <a:gd name="connsiteY10" fmla="*/ 3727351 h 3796235"/>
                    <a:gd name="connsiteX11" fmla="*/ 1113682 w 1794872"/>
                    <a:gd name="connsiteY11" fmla="*/ 3783130 h 3796235"/>
                    <a:gd name="connsiteX12" fmla="*/ 143294 w 1794872"/>
                    <a:gd name="connsiteY12" fmla="*/ 3769185 h 3796235"/>
                    <a:gd name="connsiteX13" fmla="*/ 69388 w 1794872"/>
                    <a:gd name="connsiteY13" fmla="*/ 3448948 h 3796235"/>
                    <a:gd name="connsiteX0" fmla="*/ 69388 w 1794872"/>
                    <a:gd name="connsiteY0" fmla="*/ 3469510 h 3816797"/>
                    <a:gd name="connsiteX1" fmla="*/ 70516 w 1794872"/>
                    <a:gd name="connsiteY1" fmla="*/ 3092501 h 3816797"/>
                    <a:gd name="connsiteX2" fmla="*/ 264592 w 1794872"/>
                    <a:gd name="connsiteY2" fmla="*/ 2855438 h 3816797"/>
                    <a:gd name="connsiteX3" fmla="*/ 965616 w 1794872"/>
                    <a:gd name="connsiteY3" fmla="*/ 1175430 h 3816797"/>
                    <a:gd name="connsiteX4" fmla="*/ 1307759 w 1794872"/>
                    <a:gd name="connsiteY4" fmla="*/ 401131 h 3816797"/>
                    <a:gd name="connsiteX5" fmla="*/ 1501841 w 1794872"/>
                    <a:gd name="connsiteY5" fmla="*/ 80396 h 3816797"/>
                    <a:gd name="connsiteX6" fmla="*/ 1704307 w 1794872"/>
                    <a:gd name="connsiteY6" fmla="*/ 20600 h 3816797"/>
                    <a:gd name="connsiteX7" fmla="*/ 1792958 w 1794872"/>
                    <a:gd name="connsiteY7" fmla="*/ 415075 h 3816797"/>
                    <a:gd name="connsiteX8" fmla="*/ 1768995 w 1794872"/>
                    <a:gd name="connsiteY8" fmla="*/ 1768229 h 3816797"/>
                    <a:gd name="connsiteX9" fmla="*/ 1792955 w 1794872"/>
                    <a:gd name="connsiteY9" fmla="*/ 3078557 h 3816797"/>
                    <a:gd name="connsiteX10" fmla="*/ 1744435 w 1794872"/>
                    <a:gd name="connsiteY10" fmla="*/ 3580574 h 3816797"/>
                    <a:gd name="connsiteX11" fmla="*/ 1720175 w 1794872"/>
                    <a:gd name="connsiteY11" fmla="*/ 3747913 h 3816797"/>
                    <a:gd name="connsiteX12" fmla="*/ 1113682 w 1794872"/>
                    <a:gd name="connsiteY12" fmla="*/ 3803692 h 3816797"/>
                    <a:gd name="connsiteX13" fmla="*/ 143294 w 1794872"/>
                    <a:gd name="connsiteY13" fmla="*/ 3789747 h 3816797"/>
                    <a:gd name="connsiteX14" fmla="*/ 69388 w 1794872"/>
                    <a:gd name="connsiteY14" fmla="*/ 3469510 h 3816797"/>
                    <a:gd name="connsiteX0" fmla="*/ 28959 w 1754443"/>
                    <a:gd name="connsiteY0" fmla="*/ 3469510 h 3806161"/>
                    <a:gd name="connsiteX1" fmla="*/ 30087 w 1754443"/>
                    <a:gd name="connsiteY1" fmla="*/ 3092501 h 3806161"/>
                    <a:gd name="connsiteX2" fmla="*/ 224163 w 1754443"/>
                    <a:gd name="connsiteY2" fmla="*/ 2855438 h 3806161"/>
                    <a:gd name="connsiteX3" fmla="*/ 925187 w 1754443"/>
                    <a:gd name="connsiteY3" fmla="*/ 1175430 h 3806161"/>
                    <a:gd name="connsiteX4" fmla="*/ 1267330 w 1754443"/>
                    <a:gd name="connsiteY4" fmla="*/ 401131 h 3806161"/>
                    <a:gd name="connsiteX5" fmla="*/ 1461412 w 1754443"/>
                    <a:gd name="connsiteY5" fmla="*/ 80396 h 3806161"/>
                    <a:gd name="connsiteX6" fmla="*/ 1663878 w 1754443"/>
                    <a:gd name="connsiteY6" fmla="*/ 20600 h 3806161"/>
                    <a:gd name="connsiteX7" fmla="*/ 1752529 w 1754443"/>
                    <a:gd name="connsiteY7" fmla="*/ 415075 h 3806161"/>
                    <a:gd name="connsiteX8" fmla="*/ 1728566 w 1754443"/>
                    <a:gd name="connsiteY8" fmla="*/ 1768229 h 3806161"/>
                    <a:gd name="connsiteX9" fmla="*/ 1752526 w 1754443"/>
                    <a:gd name="connsiteY9" fmla="*/ 3078557 h 3806161"/>
                    <a:gd name="connsiteX10" fmla="*/ 1704006 w 1754443"/>
                    <a:gd name="connsiteY10" fmla="*/ 3580574 h 3806161"/>
                    <a:gd name="connsiteX11" fmla="*/ 1679746 w 1754443"/>
                    <a:gd name="connsiteY11" fmla="*/ 3747913 h 3806161"/>
                    <a:gd name="connsiteX12" fmla="*/ 1073253 w 1754443"/>
                    <a:gd name="connsiteY12" fmla="*/ 3803692 h 3806161"/>
                    <a:gd name="connsiteX13" fmla="*/ 102865 w 1754443"/>
                    <a:gd name="connsiteY13" fmla="*/ 3789747 h 3806161"/>
                    <a:gd name="connsiteX14" fmla="*/ 30087 w 1754443"/>
                    <a:gd name="connsiteY14" fmla="*/ 3650298 h 3806161"/>
                    <a:gd name="connsiteX15" fmla="*/ 28959 w 1754443"/>
                    <a:gd name="connsiteY15" fmla="*/ 3469510 h 3806161"/>
                    <a:gd name="connsiteX0" fmla="*/ 28959 w 1754443"/>
                    <a:gd name="connsiteY0" fmla="*/ 3517585 h 3854236"/>
                    <a:gd name="connsiteX1" fmla="*/ 30087 w 1754443"/>
                    <a:gd name="connsiteY1" fmla="*/ 3140576 h 3854236"/>
                    <a:gd name="connsiteX2" fmla="*/ 224163 w 1754443"/>
                    <a:gd name="connsiteY2" fmla="*/ 2903513 h 3854236"/>
                    <a:gd name="connsiteX3" fmla="*/ 925187 w 1754443"/>
                    <a:gd name="connsiteY3" fmla="*/ 1223505 h 3854236"/>
                    <a:gd name="connsiteX4" fmla="*/ 1267330 w 1754443"/>
                    <a:gd name="connsiteY4" fmla="*/ 449206 h 3854236"/>
                    <a:gd name="connsiteX5" fmla="*/ 1461412 w 1754443"/>
                    <a:gd name="connsiteY5" fmla="*/ 128471 h 3854236"/>
                    <a:gd name="connsiteX6" fmla="*/ 1663878 w 1754443"/>
                    <a:gd name="connsiteY6" fmla="*/ 12895 h 3854236"/>
                    <a:gd name="connsiteX7" fmla="*/ 1752529 w 1754443"/>
                    <a:gd name="connsiteY7" fmla="*/ 463150 h 3854236"/>
                    <a:gd name="connsiteX8" fmla="*/ 1728566 w 1754443"/>
                    <a:gd name="connsiteY8" fmla="*/ 1816304 h 3854236"/>
                    <a:gd name="connsiteX9" fmla="*/ 1752526 w 1754443"/>
                    <a:gd name="connsiteY9" fmla="*/ 3126632 h 3854236"/>
                    <a:gd name="connsiteX10" fmla="*/ 1704006 w 1754443"/>
                    <a:gd name="connsiteY10" fmla="*/ 3628649 h 3854236"/>
                    <a:gd name="connsiteX11" fmla="*/ 1679746 w 1754443"/>
                    <a:gd name="connsiteY11" fmla="*/ 3795988 h 3854236"/>
                    <a:gd name="connsiteX12" fmla="*/ 1073253 w 1754443"/>
                    <a:gd name="connsiteY12" fmla="*/ 3851767 h 3854236"/>
                    <a:gd name="connsiteX13" fmla="*/ 102865 w 1754443"/>
                    <a:gd name="connsiteY13" fmla="*/ 3837822 h 3854236"/>
                    <a:gd name="connsiteX14" fmla="*/ 30087 w 1754443"/>
                    <a:gd name="connsiteY14" fmla="*/ 3698373 h 3854236"/>
                    <a:gd name="connsiteX15" fmla="*/ 28959 w 1754443"/>
                    <a:gd name="connsiteY15" fmla="*/ 3517585 h 3854236"/>
                    <a:gd name="connsiteX0" fmla="*/ 28959 w 1803801"/>
                    <a:gd name="connsiteY0" fmla="*/ 3517586 h 3862259"/>
                    <a:gd name="connsiteX1" fmla="*/ 30087 w 1803801"/>
                    <a:gd name="connsiteY1" fmla="*/ 3140577 h 3862259"/>
                    <a:gd name="connsiteX2" fmla="*/ 224163 w 1803801"/>
                    <a:gd name="connsiteY2" fmla="*/ 2903514 h 3862259"/>
                    <a:gd name="connsiteX3" fmla="*/ 925187 w 1803801"/>
                    <a:gd name="connsiteY3" fmla="*/ 1223506 h 3862259"/>
                    <a:gd name="connsiteX4" fmla="*/ 1267330 w 1803801"/>
                    <a:gd name="connsiteY4" fmla="*/ 449207 h 3862259"/>
                    <a:gd name="connsiteX5" fmla="*/ 1461412 w 1803801"/>
                    <a:gd name="connsiteY5" fmla="*/ 128472 h 3862259"/>
                    <a:gd name="connsiteX6" fmla="*/ 1663878 w 1803801"/>
                    <a:gd name="connsiteY6" fmla="*/ 12896 h 3862259"/>
                    <a:gd name="connsiteX7" fmla="*/ 1752529 w 1803801"/>
                    <a:gd name="connsiteY7" fmla="*/ 463151 h 3862259"/>
                    <a:gd name="connsiteX8" fmla="*/ 1728566 w 1803801"/>
                    <a:gd name="connsiteY8" fmla="*/ 1816305 h 3862259"/>
                    <a:gd name="connsiteX9" fmla="*/ 1752526 w 1803801"/>
                    <a:gd name="connsiteY9" fmla="*/ 3126633 h 3862259"/>
                    <a:gd name="connsiteX10" fmla="*/ 1704006 w 1803801"/>
                    <a:gd name="connsiteY10" fmla="*/ 3628650 h 3862259"/>
                    <a:gd name="connsiteX11" fmla="*/ 1776785 w 1803801"/>
                    <a:gd name="connsiteY11" fmla="*/ 3823879 h 3862259"/>
                    <a:gd name="connsiteX12" fmla="*/ 1073253 w 1803801"/>
                    <a:gd name="connsiteY12" fmla="*/ 3851768 h 3862259"/>
                    <a:gd name="connsiteX13" fmla="*/ 102865 w 1803801"/>
                    <a:gd name="connsiteY13" fmla="*/ 3837823 h 3862259"/>
                    <a:gd name="connsiteX14" fmla="*/ 30087 w 1803801"/>
                    <a:gd name="connsiteY14" fmla="*/ 3698374 h 3862259"/>
                    <a:gd name="connsiteX15" fmla="*/ 28959 w 1803801"/>
                    <a:gd name="connsiteY15" fmla="*/ 3517586 h 3862259"/>
                    <a:gd name="connsiteX0" fmla="*/ 28959 w 1803801"/>
                    <a:gd name="connsiteY0" fmla="*/ 3517586 h 3862258"/>
                    <a:gd name="connsiteX1" fmla="*/ 30087 w 1803801"/>
                    <a:gd name="connsiteY1" fmla="*/ 3140577 h 3862258"/>
                    <a:gd name="connsiteX2" fmla="*/ 224163 w 1803801"/>
                    <a:gd name="connsiteY2" fmla="*/ 2903514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75642 w 1803801"/>
                    <a:gd name="connsiteY2" fmla="*/ 2429387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75642 w 1803801"/>
                    <a:gd name="connsiteY2" fmla="*/ 2429387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02862 w 1803801"/>
                    <a:gd name="connsiteY2" fmla="*/ 238755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02862 w 1803801"/>
                    <a:gd name="connsiteY2" fmla="*/ 238755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102862 w 1803801"/>
                    <a:gd name="connsiteY2" fmla="*/ 238755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28959 w 1803801"/>
                    <a:gd name="connsiteY0" fmla="*/ 3517586 h 3862258"/>
                    <a:gd name="connsiteX1" fmla="*/ 30087 w 1803801"/>
                    <a:gd name="connsiteY1" fmla="*/ 3140577 h 3862258"/>
                    <a:gd name="connsiteX2" fmla="*/ 54344 w 1803801"/>
                    <a:gd name="connsiteY2" fmla="*/ 2359662 h 3862258"/>
                    <a:gd name="connsiteX3" fmla="*/ 221656 w 1803801"/>
                    <a:gd name="connsiteY3" fmla="*/ 456535 h 3862258"/>
                    <a:gd name="connsiteX4" fmla="*/ 1267330 w 1803801"/>
                    <a:gd name="connsiteY4" fmla="*/ 449207 h 3862258"/>
                    <a:gd name="connsiteX5" fmla="*/ 1461412 w 1803801"/>
                    <a:gd name="connsiteY5" fmla="*/ 128472 h 3862258"/>
                    <a:gd name="connsiteX6" fmla="*/ 1663878 w 1803801"/>
                    <a:gd name="connsiteY6" fmla="*/ 12896 h 3862258"/>
                    <a:gd name="connsiteX7" fmla="*/ 1752529 w 1803801"/>
                    <a:gd name="connsiteY7" fmla="*/ 463151 h 3862258"/>
                    <a:gd name="connsiteX8" fmla="*/ 1728566 w 1803801"/>
                    <a:gd name="connsiteY8" fmla="*/ 1816305 h 3862258"/>
                    <a:gd name="connsiteX9" fmla="*/ 1752526 w 1803801"/>
                    <a:gd name="connsiteY9" fmla="*/ 3126633 h 3862258"/>
                    <a:gd name="connsiteX10" fmla="*/ 1704006 w 1803801"/>
                    <a:gd name="connsiteY10" fmla="*/ 3628650 h 3862258"/>
                    <a:gd name="connsiteX11" fmla="*/ 1776785 w 1803801"/>
                    <a:gd name="connsiteY11" fmla="*/ 3823879 h 3862258"/>
                    <a:gd name="connsiteX12" fmla="*/ 1073253 w 1803801"/>
                    <a:gd name="connsiteY12" fmla="*/ 3851768 h 3862258"/>
                    <a:gd name="connsiteX13" fmla="*/ 102865 w 1803801"/>
                    <a:gd name="connsiteY13" fmla="*/ 3837823 h 3862258"/>
                    <a:gd name="connsiteX14" fmla="*/ 30087 w 1803801"/>
                    <a:gd name="connsiteY14" fmla="*/ 3698374 h 3862258"/>
                    <a:gd name="connsiteX15" fmla="*/ 28959 w 1803801"/>
                    <a:gd name="connsiteY15" fmla="*/ 3517586 h 3862258"/>
                    <a:gd name="connsiteX0" fmla="*/ 43178 w 1818020"/>
                    <a:gd name="connsiteY0" fmla="*/ 3517586 h 3862258"/>
                    <a:gd name="connsiteX1" fmla="*/ 44306 w 1818020"/>
                    <a:gd name="connsiteY1" fmla="*/ 3140577 h 3862258"/>
                    <a:gd name="connsiteX2" fmla="*/ 68563 w 1818020"/>
                    <a:gd name="connsiteY2" fmla="*/ 2359662 h 3862258"/>
                    <a:gd name="connsiteX3" fmla="*/ 114576 w 1818020"/>
                    <a:gd name="connsiteY3" fmla="*/ 331031 h 3862258"/>
                    <a:gd name="connsiteX4" fmla="*/ 1281549 w 1818020"/>
                    <a:gd name="connsiteY4" fmla="*/ 449207 h 3862258"/>
                    <a:gd name="connsiteX5" fmla="*/ 1475631 w 1818020"/>
                    <a:gd name="connsiteY5" fmla="*/ 128472 h 3862258"/>
                    <a:gd name="connsiteX6" fmla="*/ 1678097 w 1818020"/>
                    <a:gd name="connsiteY6" fmla="*/ 12896 h 3862258"/>
                    <a:gd name="connsiteX7" fmla="*/ 1766748 w 1818020"/>
                    <a:gd name="connsiteY7" fmla="*/ 463151 h 3862258"/>
                    <a:gd name="connsiteX8" fmla="*/ 1742785 w 1818020"/>
                    <a:gd name="connsiteY8" fmla="*/ 1816305 h 3862258"/>
                    <a:gd name="connsiteX9" fmla="*/ 1766745 w 1818020"/>
                    <a:gd name="connsiteY9" fmla="*/ 3126633 h 3862258"/>
                    <a:gd name="connsiteX10" fmla="*/ 1718225 w 1818020"/>
                    <a:gd name="connsiteY10" fmla="*/ 3628650 h 3862258"/>
                    <a:gd name="connsiteX11" fmla="*/ 1791004 w 1818020"/>
                    <a:gd name="connsiteY11" fmla="*/ 3823879 h 3862258"/>
                    <a:gd name="connsiteX12" fmla="*/ 1087472 w 1818020"/>
                    <a:gd name="connsiteY12" fmla="*/ 3851768 h 3862258"/>
                    <a:gd name="connsiteX13" fmla="*/ 117084 w 1818020"/>
                    <a:gd name="connsiteY13" fmla="*/ 3837823 h 3862258"/>
                    <a:gd name="connsiteX14" fmla="*/ 44306 w 1818020"/>
                    <a:gd name="connsiteY14" fmla="*/ 3698374 h 3862258"/>
                    <a:gd name="connsiteX15" fmla="*/ 43178 w 1818020"/>
                    <a:gd name="connsiteY15" fmla="*/ 3517586 h 3862258"/>
                    <a:gd name="connsiteX0" fmla="*/ 28959 w 1803801"/>
                    <a:gd name="connsiteY0" fmla="*/ 3538009 h 3882681"/>
                    <a:gd name="connsiteX1" fmla="*/ 30087 w 1803801"/>
                    <a:gd name="connsiteY1" fmla="*/ 3161000 h 3882681"/>
                    <a:gd name="connsiteX2" fmla="*/ 54344 w 1803801"/>
                    <a:gd name="connsiteY2" fmla="*/ 2380085 h 3882681"/>
                    <a:gd name="connsiteX3" fmla="*/ 100357 w 1803801"/>
                    <a:gd name="connsiteY3" fmla="*/ 351454 h 3882681"/>
                    <a:gd name="connsiteX4" fmla="*/ 54342 w 1803801"/>
                    <a:gd name="connsiteY4" fmla="*/ 51282 h 3882681"/>
                    <a:gd name="connsiteX5" fmla="*/ 1461412 w 1803801"/>
                    <a:gd name="connsiteY5" fmla="*/ 148895 h 3882681"/>
                    <a:gd name="connsiteX6" fmla="*/ 1663878 w 1803801"/>
                    <a:gd name="connsiteY6" fmla="*/ 33319 h 3882681"/>
                    <a:gd name="connsiteX7" fmla="*/ 1752529 w 1803801"/>
                    <a:gd name="connsiteY7" fmla="*/ 483574 h 3882681"/>
                    <a:gd name="connsiteX8" fmla="*/ 1728566 w 1803801"/>
                    <a:gd name="connsiteY8" fmla="*/ 1836728 h 3882681"/>
                    <a:gd name="connsiteX9" fmla="*/ 1752526 w 1803801"/>
                    <a:gd name="connsiteY9" fmla="*/ 3147056 h 3882681"/>
                    <a:gd name="connsiteX10" fmla="*/ 1704006 w 1803801"/>
                    <a:gd name="connsiteY10" fmla="*/ 3649073 h 3882681"/>
                    <a:gd name="connsiteX11" fmla="*/ 1776785 w 1803801"/>
                    <a:gd name="connsiteY11" fmla="*/ 3844302 h 3882681"/>
                    <a:gd name="connsiteX12" fmla="*/ 1073253 w 1803801"/>
                    <a:gd name="connsiteY12" fmla="*/ 3872191 h 3882681"/>
                    <a:gd name="connsiteX13" fmla="*/ 102865 w 1803801"/>
                    <a:gd name="connsiteY13" fmla="*/ 3858246 h 3882681"/>
                    <a:gd name="connsiteX14" fmla="*/ 30087 w 1803801"/>
                    <a:gd name="connsiteY14" fmla="*/ 3718797 h 3882681"/>
                    <a:gd name="connsiteX15" fmla="*/ 28959 w 1803801"/>
                    <a:gd name="connsiteY15" fmla="*/ 3538009 h 3882681"/>
                    <a:gd name="connsiteX0" fmla="*/ 28959 w 1803801"/>
                    <a:gd name="connsiteY0" fmla="*/ 3538009 h 3882681"/>
                    <a:gd name="connsiteX1" fmla="*/ 30087 w 1803801"/>
                    <a:gd name="connsiteY1" fmla="*/ 3161000 h 3882681"/>
                    <a:gd name="connsiteX2" fmla="*/ 54344 w 1803801"/>
                    <a:gd name="connsiteY2" fmla="*/ 2380085 h 3882681"/>
                    <a:gd name="connsiteX3" fmla="*/ 27578 w 1803801"/>
                    <a:gd name="connsiteY3" fmla="*/ 351454 h 3882681"/>
                    <a:gd name="connsiteX4" fmla="*/ 54342 w 1803801"/>
                    <a:gd name="connsiteY4" fmla="*/ 51282 h 3882681"/>
                    <a:gd name="connsiteX5" fmla="*/ 1461412 w 1803801"/>
                    <a:gd name="connsiteY5" fmla="*/ 148895 h 3882681"/>
                    <a:gd name="connsiteX6" fmla="*/ 1663878 w 1803801"/>
                    <a:gd name="connsiteY6" fmla="*/ 33319 h 3882681"/>
                    <a:gd name="connsiteX7" fmla="*/ 1752529 w 1803801"/>
                    <a:gd name="connsiteY7" fmla="*/ 483574 h 3882681"/>
                    <a:gd name="connsiteX8" fmla="*/ 1728566 w 1803801"/>
                    <a:gd name="connsiteY8" fmla="*/ 1836728 h 3882681"/>
                    <a:gd name="connsiteX9" fmla="*/ 1752526 w 1803801"/>
                    <a:gd name="connsiteY9" fmla="*/ 3147056 h 3882681"/>
                    <a:gd name="connsiteX10" fmla="*/ 1704006 w 1803801"/>
                    <a:gd name="connsiteY10" fmla="*/ 3649073 h 3882681"/>
                    <a:gd name="connsiteX11" fmla="*/ 1776785 w 1803801"/>
                    <a:gd name="connsiteY11" fmla="*/ 3844302 h 3882681"/>
                    <a:gd name="connsiteX12" fmla="*/ 1073253 w 1803801"/>
                    <a:gd name="connsiteY12" fmla="*/ 3872191 h 3882681"/>
                    <a:gd name="connsiteX13" fmla="*/ 102865 w 1803801"/>
                    <a:gd name="connsiteY13" fmla="*/ 3858246 h 3882681"/>
                    <a:gd name="connsiteX14" fmla="*/ 30087 w 1803801"/>
                    <a:gd name="connsiteY14" fmla="*/ 3718797 h 3882681"/>
                    <a:gd name="connsiteX15" fmla="*/ 28959 w 1803801"/>
                    <a:gd name="connsiteY15" fmla="*/ 3538009 h 3882681"/>
                    <a:gd name="connsiteX0" fmla="*/ 28959 w 1803801"/>
                    <a:gd name="connsiteY0" fmla="*/ 3538009 h 3882681"/>
                    <a:gd name="connsiteX1" fmla="*/ 30087 w 1803801"/>
                    <a:gd name="connsiteY1" fmla="*/ 3161000 h 3882681"/>
                    <a:gd name="connsiteX2" fmla="*/ 54344 w 1803801"/>
                    <a:gd name="connsiteY2" fmla="*/ 2380085 h 3882681"/>
                    <a:gd name="connsiteX3" fmla="*/ 27578 w 1803801"/>
                    <a:gd name="connsiteY3" fmla="*/ 351454 h 3882681"/>
                    <a:gd name="connsiteX4" fmla="*/ 54342 w 1803801"/>
                    <a:gd name="connsiteY4" fmla="*/ 51282 h 3882681"/>
                    <a:gd name="connsiteX5" fmla="*/ 1461412 w 1803801"/>
                    <a:gd name="connsiteY5" fmla="*/ 148895 h 3882681"/>
                    <a:gd name="connsiteX6" fmla="*/ 1251463 w 1803801"/>
                    <a:gd name="connsiteY6" fmla="*/ 772400 h 3882681"/>
                    <a:gd name="connsiteX7" fmla="*/ 1752529 w 1803801"/>
                    <a:gd name="connsiteY7" fmla="*/ 483574 h 3882681"/>
                    <a:gd name="connsiteX8" fmla="*/ 1728566 w 1803801"/>
                    <a:gd name="connsiteY8" fmla="*/ 1836728 h 3882681"/>
                    <a:gd name="connsiteX9" fmla="*/ 1752526 w 1803801"/>
                    <a:gd name="connsiteY9" fmla="*/ 3147056 h 3882681"/>
                    <a:gd name="connsiteX10" fmla="*/ 1704006 w 1803801"/>
                    <a:gd name="connsiteY10" fmla="*/ 3649073 h 3882681"/>
                    <a:gd name="connsiteX11" fmla="*/ 1776785 w 1803801"/>
                    <a:gd name="connsiteY11" fmla="*/ 3844302 h 3882681"/>
                    <a:gd name="connsiteX12" fmla="*/ 1073253 w 1803801"/>
                    <a:gd name="connsiteY12" fmla="*/ 3872191 h 3882681"/>
                    <a:gd name="connsiteX13" fmla="*/ 102865 w 1803801"/>
                    <a:gd name="connsiteY13" fmla="*/ 3858246 h 3882681"/>
                    <a:gd name="connsiteX14" fmla="*/ 30087 w 1803801"/>
                    <a:gd name="connsiteY14" fmla="*/ 3718797 h 3882681"/>
                    <a:gd name="connsiteX15" fmla="*/ 28959 w 1803801"/>
                    <a:gd name="connsiteY15" fmla="*/ 3538009 h 3882681"/>
                    <a:gd name="connsiteX0" fmla="*/ 28959 w 1803801"/>
                    <a:gd name="connsiteY0" fmla="*/ 3514613 h 3859285"/>
                    <a:gd name="connsiteX1" fmla="*/ 30087 w 1803801"/>
                    <a:gd name="connsiteY1" fmla="*/ 3137604 h 3859285"/>
                    <a:gd name="connsiteX2" fmla="*/ 54344 w 1803801"/>
                    <a:gd name="connsiteY2" fmla="*/ 2356689 h 3859285"/>
                    <a:gd name="connsiteX3" fmla="*/ 27578 w 1803801"/>
                    <a:gd name="connsiteY3" fmla="*/ 328058 h 3859285"/>
                    <a:gd name="connsiteX4" fmla="*/ 54342 w 1803801"/>
                    <a:gd name="connsiteY4" fmla="*/ 27886 h 3859285"/>
                    <a:gd name="connsiteX5" fmla="*/ 757878 w 1803801"/>
                    <a:gd name="connsiteY5" fmla="*/ 502012 h 3859285"/>
                    <a:gd name="connsiteX6" fmla="*/ 1251463 w 1803801"/>
                    <a:gd name="connsiteY6" fmla="*/ 749004 h 3859285"/>
                    <a:gd name="connsiteX7" fmla="*/ 1752529 w 1803801"/>
                    <a:gd name="connsiteY7" fmla="*/ 460178 h 3859285"/>
                    <a:gd name="connsiteX8" fmla="*/ 1728566 w 1803801"/>
                    <a:gd name="connsiteY8" fmla="*/ 1813332 h 3859285"/>
                    <a:gd name="connsiteX9" fmla="*/ 1752526 w 1803801"/>
                    <a:gd name="connsiteY9" fmla="*/ 3123660 h 3859285"/>
                    <a:gd name="connsiteX10" fmla="*/ 1704006 w 1803801"/>
                    <a:gd name="connsiteY10" fmla="*/ 3625677 h 3859285"/>
                    <a:gd name="connsiteX11" fmla="*/ 1776785 w 1803801"/>
                    <a:gd name="connsiteY11" fmla="*/ 3820906 h 3859285"/>
                    <a:gd name="connsiteX12" fmla="*/ 1073253 w 1803801"/>
                    <a:gd name="connsiteY12" fmla="*/ 3848795 h 3859285"/>
                    <a:gd name="connsiteX13" fmla="*/ 102865 w 1803801"/>
                    <a:gd name="connsiteY13" fmla="*/ 3834850 h 3859285"/>
                    <a:gd name="connsiteX14" fmla="*/ 30087 w 1803801"/>
                    <a:gd name="connsiteY14" fmla="*/ 3695401 h 3859285"/>
                    <a:gd name="connsiteX15" fmla="*/ 28959 w 1803801"/>
                    <a:gd name="connsiteY15" fmla="*/ 3514613 h 3859285"/>
                    <a:gd name="connsiteX0" fmla="*/ 28959 w 1803801"/>
                    <a:gd name="connsiteY0" fmla="*/ 3514613 h 3859285"/>
                    <a:gd name="connsiteX1" fmla="*/ 30087 w 1803801"/>
                    <a:gd name="connsiteY1" fmla="*/ 3137604 h 3859285"/>
                    <a:gd name="connsiteX2" fmla="*/ 54344 w 1803801"/>
                    <a:gd name="connsiteY2" fmla="*/ 2356689 h 3859285"/>
                    <a:gd name="connsiteX3" fmla="*/ 27578 w 1803801"/>
                    <a:gd name="connsiteY3" fmla="*/ 328058 h 3859285"/>
                    <a:gd name="connsiteX4" fmla="*/ 54342 w 1803801"/>
                    <a:gd name="connsiteY4" fmla="*/ 27886 h 3859285"/>
                    <a:gd name="connsiteX5" fmla="*/ 757878 w 1803801"/>
                    <a:gd name="connsiteY5" fmla="*/ 502012 h 3859285"/>
                    <a:gd name="connsiteX6" fmla="*/ 1251463 w 1803801"/>
                    <a:gd name="connsiteY6" fmla="*/ 749004 h 3859285"/>
                    <a:gd name="connsiteX7" fmla="*/ 976217 w 1803801"/>
                    <a:gd name="connsiteY7" fmla="*/ 1338709 h 3859285"/>
                    <a:gd name="connsiteX8" fmla="*/ 1728566 w 1803801"/>
                    <a:gd name="connsiteY8" fmla="*/ 1813332 h 3859285"/>
                    <a:gd name="connsiteX9" fmla="*/ 1752526 w 1803801"/>
                    <a:gd name="connsiteY9" fmla="*/ 3123660 h 3859285"/>
                    <a:gd name="connsiteX10" fmla="*/ 1704006 w 1803801"/>
                    <a:gd name="connsiteY10" fmla="*/ 3625677 h 3859285"/>
                    <a:gd name="connsiteX11" fmla="*/ 1776785 w 1803801"/>
                    <a:gd name="connsiteY11" fmla="*/ 3820906 h 3859285"/>
                    <a:gd name="connsiteX12" fmla="*/ 1073253 w 1803801"/>
                    <a:gd name="connsiteY12" fmla="*/ 3848795 h 3859285"/>
                    <a:gd name="connsiteX13" fmla="*/ 102865 w 1803801"/>
                    <a:gd name="connsiteY13" fmla="*/ 3834850 h 3859285"/>
                    <a:gd name="connsiteX14" fmla="*/ 30087 w 1803801"/>
                    <a:gd name="connsiteY14" fmla="*/ 3695401 h 3859285"/>
                    <a:gd name="connsiteX15" fmla="*/ 28959 w 1803801"/>
                    <a:gd name="connsiteY15" fmla="*/ 3514613 h 3859285"/>
                    <a:gd name="connsiteX0" fmla="*/ 28959 w 1803801"/>
                    <a:gd name="connsiteY0" fmla="*/ 3514613 h 3859285"/>
                    <a:gd name="connsiteX1" fmla="*/ 30087 w 1803801"/>
                    <a:gd name="connsiteY1" fmla="*/ 3137604 h 3859285"/>
                    <a:gd name="connsiteX2" fmla="*/ 54344 w 1803801"/>
                    <a:gd name="connsiteY2" fmla="*/ 2356689 h 3859285"/>
                    <a:gd name="connsiteX3" fmla="*/ 27578 w 1803801"/>
                    <a:gd name="connsiteY3" fmla="*/ 328058 h 3859285"/>
                    <a:gd name="connsiteX4" fmla="*/ 54342 w 1803801"/>
                    <a:gd name="connsiteY4" fmla="*/ 27886 h 3859285"/>
                    <a:gd name="connsiteX5" fmla="*/ 757878 w 1803801"/>
                    <a:gd name="connsiteY5" fmla="*/ 502012 h 3859285"/>
                    <a:gd name="connsiteX6" fmla="*/ 790529 w 1803801"/>
                    <a:gd name="connsiteY6" fmla="*/ 1027903 h 3859285"/>
                    <a:gd name="connsiteX7" fmla="*/ 976217 w 1803801"/>
                    <a:gd name="connsiteY7" fmla="*/ 1338709 h 3859285"/>
                    <a:gd name="connsiteX8" fmla="*/ 1728566 w 1803801"/>
                    <a:gd name="connsiteY8" fmla="*/ 1813332 h 3859285"/>
                    <a:gd name="connsiteX9" fmla="*/ 1752526 w 1803801"/>
                    <a:gd name="connsiteY9" fmla="*/ 3123660 h 3859285"/>
                    <a:gd name="connsiteX10" fmla="*/ 1704006 w 1803801"/>
                    <a:gd name="connsiteY10" fmla="*/ 3625677 h 3859285"/>
                    <a:gd name="connsiteX11" fmla="*/ 1776785 w 1803801"/>
                    <a:gd name="connsiteY11" fmla="*/ 3820906 h 3859285"/>
                    <a:gd name="connsiteX12" fmla="*/ 1073253 w 1803801"/>
                    <a:gd name="connsiteY12" fmla="*/ 3848795 h 3859285"/>
                    <a:gd name="connsiteX13" fmla="*/ 102865 w 1803801"/>
                    <a:gd name="connsiteY13" fmla="*/ 3834850 h 3859285"/>
                    <a:gd name="connsiteX14" fmla="*/ 30087 w 1803801"/>
                    <a:gd name="connsiteY14" fmla="*/ 3695401 h 3859285"/>
                    <a:gd name="connsiteX15" fmla="*/ 28959 w 1803801"/>
                    <a:gd name="connsiteY15" fmla="*/ 3514613 h 3859285"/>
                    <a:gd name="connsiteX0" fmla="*/ 28959 w 1803801"/>
                    <a:gd name="connsiteY0" fmla="*/ 3520427 h 3865099"/>
                    <a:gd name="connsiteX1" fmla="*/ 30087 w 1803801"/>
                    <a:gd name="connsiteY1" fmla="*/ 3143418 h 3865099"/>
                    <a:gd name="connsiteX2" fmla="*/ 54344 w 1803801"/>
                    <a:gd name="connsiteY2" fmla="*/ 2362503 h 3865099"/>
                    <a:gd name="connsiteX3" fmla="*/ 27578 w 1803801"/>
                    <a:gd name="connsiteY3" fmla="*/ 333872 h 3865099"/>
                    <a:gd name="connsiteX4" fmla="*/ 54342 w 1803801"/>
                    <a:gd name="connsiteY4" fmla="*/ 33700 h 3865099"/>
                    <a:gd name="connsiteX5" fmla="*/ 757878 w 1803801"/>
                    <a:gd name="connsiteY5" fmla="*/ 507826 h 3865099"/>
                    <a:gd name="connsiteX6" fmla="*/ 586796 w 1803801"/>
                    <a:gd name="connsiteY6" fmla="*/ 706513 h 3865099"/>
                    <a:gd name="connsiteX7" fmla="*/ 790529 w 1803801"/>
                    <a:gd name="connsiteY7" fmla="*/ 1033717 h 3865099"/>
                    <a:gd name="connsiteX8" fmla="*/ 976217 w 1803801"/>
                    <a:gd name="connsiteY8" fmla="*/ 1344523 h 3865099"/>
                    <a:gd name="connsiteX9" fmla="*/ 1728566 w 1803801"/>
                    <a:gd name="connsiteY9" fmla="*/ 1819146 h 3865099"/>
                    <a:gd name="connsiteX10" fmla="*/ 1752526 w 1803801"/>
                    <a:gd name="connsiteY10" fmla="*/ 3129474 h 3865099"/>
                    <a:gd name="connsiteX11" fmla="*/ 1704006 w 1803801"/>
                    <a:gd name="connsiteY11" fmla="*/ 3631491 h 3865099"/>
                    <a:gd name="connsiteX12" fmla="*/ 1776785 w 1803801"/>
                    <a:gd name="connsiteY12" fmla="*/ 3826720 h 3865099"/>
                    <a:gd name="connsiteX13" fmla="*/ 1073253 w 1803801"/>
                    <a:gd name="connsiteY13" fmla="*/ 3854609 h 3865099"/>
                    <a:gd name="connsiteX14" fmla="*/ 102865 w 1803801"/>
                    <a:gd name="connsiteY14" fmla="*/ 3840664 h 3865099"/>
                    <a:gd name="connsiteX15" fmla="*/ 30087 w 1803801"/>
                    <a:gd name="connsiteY15" fmla="*/ 3701215 h 3865099"/>
                    <a:gd name="connsiteX16" fmla="*/ 28959 w 1803801"/>
                    <a:gd name="connsiteY16" fmla="*/ 3520427 h 3865099"/>
                    <a:gd name="connsiteX0" fmla="*/ 28959 w 1803801"/>
                    <a:gd name="connsiteY0" fmla="*/ 3520427 h 3865099"/>
                    <a:gd name="connsiteX1" fmla="*/ 30087 w 1803801"/>
                    <a:gd name="connsiteY1" fmla="*/ 3143418 h 3865099"/>
                    <a:gd name="connsiteX2" fmla="*/ 54344 w 1803801"/>
                    <a:gd name="connsiteY2" fmla="*/ 2362503 h 3865099"/>
                    <a:gd name="connsiteX3" fmla="*/ 27578 w 1803801"/>
                    <a:gd name="connsiteY3" fmla="*/ 333872 h 3865099"/>
                    <a:gd name="connsiteX4" fmla="*/ 54342 w 1803801"/>
                    <a:gd name="connsiteY4" fmla="*/ 33700 h 3865099"/>
                    <a:gd name="connsiteX5" fmla="*/ 757878 w 1803801"/>
                    <a:gd name="connsiteY5" fmla="*/ 507826 h 3865099"/>
                    <a:gd name="connsiteX6" fmla="*/ 683835 w 1803801"/>
                    <a:gd name="connsiteY6" fmla="*/ 776238 h 3865099"/>
                    <a:gd name="connsiteX7" fmla="*/ 790529 w 1803801"/>
                    <a:gd name="connsiteY7" fmla="*/ 1033717 h 3865099"/>
                    <a:gd name="connsiteX8" fmla="*/ 976217 w 1803801"/>
                    <a:gd name="connsiteY8" fmla="*/ 1344523 h 3865099"/>
                    <a:gd name="connsiteX9" fmla="*/ 1728566 w 1803801"/>
                    <a:gd name="connsiteY9" fmla="*/ 1819146 h 3865099"/>
                    <a:gd name="connsiteX10" fmla="*/ 1752526 w 1803801"/>
                    <a:gd name="connsiteY10" fmla="*/ 3129474 h 3865099"/>
                    <a:gd name="connsiteX11" fmla="*/ 1704006 w 1803801"/>
                    <a:gd name="connsiteY11" fmla="*/ 3631491 h 3865099"/>
                    <a:gd name="connsiteX12" fmla="*/ 1776785 w 1803801"/>
                    <a:gd name="connsiteY12" fmla="*/ 3826720 h 3865099"/>
                    <a:gd name="connsiteX13" fmla="*/ 1073253 w 1803801"/>
                    <a:gd name="connsiteY13" fmla="*/ 3854609 h 3865099"/>
                    <a:gd name="connsiteX14" fmla="*/ 102865 w 1803801"/>
                    <a:gd name="connsiteY14" fmla="*/ 3840664 h 3865099"/>
                    <a:gd name="connsiteX15" fmla="*/ 30087 w 1803801"/>
                    <a:gd name="connsiteY15" fmla="*/ 3701215 h 3865099"/>
                    <a:gd name="connsiteX16" fmla="*/ 28959 w 1803801"/>
                    <a:gd name="connsiteY16" fmla="*/ 3520427 h 3865099"/>
                    <a:gd name="connsiteX0" fmla="*/ 28959 w 1803801"/>
                    <a:gd name="connsiteY0" fmla="*/ 3518506 h 3863178"/>
                    <a:gd name="connsiteX1" fmla="*/ 30087 w 1803801"/>
                    <a:gd name="connsiteY1" fmla="*/ 3141497 h 3863178"/>
                    <a:gd name="connsiteX2" fmla="*/ 54344 w 1803801"/>
                    <a:gd name="connsiteY2" fmla="*/ 2360582 h 3863178"/>
                    <a:gd name="connsiteX3" fmla="*/ 27578 w 1803801"/>
                    <a:gd name="connsiteY3" fmla="*/ 331951 h 3863178"/>
                    <a:gd name="connsiteX4" fmla="*/ 54342 w 1803801"/>
                    <a:gd name="connsiteY4" fmla="*/ 31779 h 3863178"/>
                    <a:gd name="connsiteX5" fmla="*/ 636580 w 1803801"/>
                    <a:gd name="connsiteY5" fmla="*/ 547740 h 3863178"/>
                    <a:gd name="connsiteX6" fmla="*/ 683835 w 1803801"/>
                    <a:gd name="connsiteY6" fmla="*/ 774317 h 3863178"/>
                    <a:gd name="connsiteX7" fmla="*/ 790529 w 1803801"/>
                    <a:gd name="connsiteY7" fmla="*/ 1031796 h 3863178"/>
                    <a:gd name="connsiteX8" fmla="*/ 976217 w 1803801"/>
                    <a:gd name="connsiteY8" fmla="*/ 1342602 h 3863178"/>
                    <a:gd name="connsiteX9" fmla="*/ 1728566 w 1803801"/>
                    <a:gd name="connsiteY9" fmla="*/ 1817225 h 3863178"/>
                    <a:gd name="connsiteX10" fmla="*/ 1752526 w 1803801"/>
                    <a:gd name="connsiteY10" fmla="*/ 3127553 h 3863178"/>
                    <a:gd name="connsiteX11" fmla="*/ 1704006 w 1803801"/>
                    <a:gd name="connsiteY11" fmla="*/ 3629570 h 3863178"/>
                    <a:gd name="connsiteX12" fmla="*/ 1776785 w 1803801"/>
                    <a:gd name="connsiteY12" fmla="*/ 3824799 h 3863178"/>
                    <a:gd name="connsiteX13" fmla="*/ 1073253 w 1803801"/>
                    <a:gd name="connsiteY13" fmla="*/ 3852688 h 3863178"/>
                    <a:gd name="connsiteX14" fmla="*/ 102865 w 1803801"/>
                    <a:gd name="connsiteY14" fmla="*/ 3838743 h 3863178"/>
                    <a:gd name="connsiteX15" fmla="*/ 30087 w 1803801"/>
                    <a:gd name="connsiteY15" fmla="*/ 3699294 h 3863178"/>
                    <a:gd name="connsiteX16" fmla="*/ 28959 w 1803801"/>
                    <a:gd name="connsiteY16" fmla="*/ 3518506 h 3863178"/>
                    <a:gd name="connsiteX0" fmla="*/ 28959 w 1754443"/>
                    <a:gd name="connsiteY0" fmla="*/ 3518506 h 3863178"/>
                    <a:gd name="connsiteX1" fmla="*/ 30087 w 1754443"/>
                    <a:gd name="connsiteY1" fmla="*/ 3141497 h 3863178"/>
                    <a:gd name="connsiteX2" fmla="*/ 54344 w 1754443"/>
                    <a:gd name="connsiteY2" fmla="*/ 2360582 h 3863178"/>
                    <a:gd name="connsiteX3" fmla="*/ 27578 w 1754443"/>
                    <a:gd name="connsiteY3" fmla="*/ 331951 h 3863178"/>
                    <a:gd name="connsiteX4" fmla="*/ 54342 w 1754443"/>
                    <a:gd name="connsiteY4" fmla="*/ 31779 h 3863178"/>
                    <a:gd name="connsiteX5" fmla="*/ 636580 w 1754443"/>
                    <a:gd name="connsiteY5" fmla="*/ 547740 h 3863178"/>
                    <a:gd name="connsiteX6" fmla="*/ 683835 w 1754443"/>
                    <a:gd name="connsiteY6" fmla="*/ 774317 h 3863178"/>
                    <a:gd name="connsiteX7" fmla="*/ 790529 w 1754443"/>
                    <a:gd name="connsiteY7" fmla="*/ 1031796 h 3863178"/>
                    <a:gd name="connsiteX8" fmla="*/ 976217 w 1754443"/>
                    <a:gd name="connsiteY8" fmla="*/ 1342602 h 3863178"/>
                    <a:gd name="connsiteX9" fmla="*/ 1728566 w 1754443"/>
                    <a:gd name="connsiteY9" fmla="*/ 1817225 h 3863178"/>
                    <a:gd name="connsiteX10" fmla="*/ 1752526 w 1754443"/>
                    <a:gd name="connsiteY10" fmla="*/ 3127553 h 3863178"/>
                    <a:gd name="connsiteX11" fmla="*/ 1704006 w 1754443"/>
                    <a:gd name="connsiteY11" fmla="*/ 3629570 h 3863178"/>
                    <a:gd name="connsiteX12" fmla="*/ 1704007 w 1754443"/>
                    <a:gd name="connsiteY12" fmla="*/ 3824799 h 3863178"/>
                    <a:gd name="connsiteX13" fmla="*/ 1073253 w 1754443"/>
                    <a:gd name="connsiteY13" fmla="*/ 3852688 h 3863178"/>
                    <a:gd name="connsiteX14" fmla="*/ 102865 w 1754443"/>
                    <a:gd name="connsiteY14" fmla="*/ 3838743 h 3863178"/>
                    <a:gd name="connsiteX15" fmla="*/ 30087 w 1754443"/>
                    <a:gd name="connsiteY15" fmla="*/ 3699294 h 3863178"/>
                    <a:gd name="connsiteX16" fmla="*/ 28959 w 1754443"/>
                    <a:gd name="connsiteY16" fmla="*/ 3518506 h 3863178"/>
                    <a:gd name="connsiteX0" fmla="*/ 28959 w 1754443"/>
                    <a:gd name="connsiteY0" fmla="*/ 3518506 h 3863178"/>
                    <a:gd name="connsiteX1" fmla="*/ 30087 w 1754443"/>
                    <a:gd name="connsiteY1" fmla="*/ 3141497 h 3863178"/>
                    <a:gd name="connsiteX2" fmla="*/ 54344 w 1754443"/>
                    <a:gd name="connsiteY2" fmla="*/ 2360582 h 3863178"/>
                    <a:gd name="connsiteX3" fmla="*/ 27578 w 1754443"/>
                    <a:gd name="connsiteY3" fmla="*/ 331951 h 3863178"/>
                    <a:gd name="connsiteX4" fmla="*/ 54342 w 1754443"/>
                    <a:gd name="connsiteY4" fmla="*/ 31779 h 3863178"/>
                    <a:gd name="connsiteX5" fmla="*/ 636580 w 1754443"/>
                    <a:gd name="connsiteY5" fmla="*/ 547740 h 3863178"/>
                    <a:gd name="connsiteX6" fmla="*/ 683835 w 1754443"/>
                    <a:gd name="connsiteY6" fmla="*/ 774317 h 3863178"/>
                    <a:gd name="connsiteX7" fmla="*/ 790529 w 1754443"/>
                    <a:gd name="connsiteY7" fmla="*/ 1031796 h 3863178"/>
                    <a:gd name="connsiteX8" fmla="*/ 976217 w 1754443"/>
                    <a:gd name="connsiteY8" fmla="*/ 1342602 h 3863178"/>
                    <a:gd name="connsiteX9" fmla="*/ 1170593 w 1754443"/>
                    <a:gd name="connsiteY9" fmla="*/ 1970619 h 3863178"/>
                    <a:gd name="connsiteX10" fmla="*/ 1752526 w 1754443"/>
                    <a:gd name="connsiteY10" fmla="*/ 3127553 h 3863178"/>
                    <a:gd name="connsiteX11" fmla="*/ 1704006 w 1754443"/>
                    <a:gd name="connsiteY11" fmla="*/ 3629570 h 3863178"/>
                    <a:gd name="connsiteX12" fmla="*/ 1704007 w 1754443"/>
                    <a:gd name="connsiteY12" fmla="*/ 3824799 h 3863178"/>
                    <a:gd name="connsiteX13" fmla="*/ 1073253 w 1754443"/>
                    <a:gd name="connsiteY13" fmla="*/ 3852688 h 3863178"/>
                    <a:gd name="connsiteX14" fmla="*/ 102865 w 1754443"/>
                    <a:gd name="connsiteY14" fmla="*/ 3838743 h 3863178"/>
                    <a:gd name="connsiteX15" fmla="*/ 30087 w 1754443"/>
                    <a:gd name="connsiteY15" fmla="*/ 3699294 h 3863178"/>
                    <a:gd name="connsiteX16" fmla="*/ 28959 w 1754443"/>
                    <a:gd name="connsiteY16" fmla="*/ 3518506 h 3863178"/>
                    <a:gd name="connsiteX0" fmla="*/ 28959 w 1742770"/>
                    <a:gd name="connsiteY0" fmla="*/ 3518506 h 3863178"/>
                    <a:gd name="connsiteX1" fmla="*/ 30087 w 1742770"/>
                    <a:gd name="connsiteY1" fmla="*/ 3141497 h 3863178"/>
                    <a:gd name="connsiteX2" fmla="*/ 54344 w 1742770"/>
                    <a:gd name="connsiteY2" fmla="*/ 2360582 h 3863178"/>
                    <a:gd name="connsiteX3" fmla="*/ 27578 w 1742770"/>
                    <a:gd name="connsiteY3" fmla="*/ 331951 h 3863178"/>
                    <a:gd name="connsiteX4" fmla="*/ 54342 w 1742770"/>
                    <a:gd name="connsiteY4" fmla="*/ 31779 h 3863178"/>
                    <a:gd name="connsiteX5" fmla="*/ 636580 w 1742770"/>
                    <a:gd name="connsiteY5" fmla="*/ 547740 h 3863178"/>
                    <a:gd name="connsiteX6" fmla="*/ 683835 w 1742770"/>
                    <a:gd name="connsiteY6" fmla="*/ 774317 h 3863178"/>
                    <a:gd name="connsiteX7" fmla="*/ 790529 w 1742770"/>
                    <a:gd name="connsiteY7" fmla="*/ 1031796 h 3863178"/>
                    <a:gd name="connsiteX8" fmla="*/ 976217 w 1742770"/>
                    <a:gd name="connsiteY8" fmla="*/ 1342602 h 3863178"/>
                    <a:gd name="connsiteX9" fmla="*/ 1170593 w 1742770"/>
                    <a:gd name="connsiteY9" fmla="*/ 1970619 h 3863178"/>
                    <a:gd name="connsiteX10" fmla="*/ 1728266 w 1742770"/>
                    <a:gd name="connsiteY10" fmla="*/ 3113609 h 3863178"/>
                    <a:gd name="connsiteX11" fmla="*/ 1704006 w 1742770"/>
                    <a:gd name="connsiteY11" fmla="*/ 3629570 h 3863178"/>
                    <a:gd name="connsiteX12" fmla="*/ 1704007 w 1742770"/>
                    <a:gd name="connsiteY12" fmla="*/ 3824799 h 3863178"/>
                    <a:gd name="connsiteX13" fmla="*/ 1073253 w 1742770"/>
                    <a:gd name="connsiteY13" fmla="*/ 3852688 h 3863178"/>
                    <a:gd name="connsiteX14" fmla="*/ 102865 w 1742770"/>
                    <a:gd name="connsiteY14" fmla="*/ 3838743 h 3863178"/>
                    <a:gd name="connsiteX15" fmla="*/ 30087 w 1742770"/>
                    <a:gd name="connsiteY15" fmla="*/ 3699294 h 3863178"/>
                    <a:gd name="connsiteX16" fmla="*/ 28959 w 1742770"/>
                    <a:gd name="connsiteY16" fmla="*/ 3518506 h 3863178"/>
                    <a:gd name="connsiteX0" fmla="*/ 28959 w 1742772"/>
                    <a:gd name="connsiteY0" fmla="*/ 3518506 h 3863178"/>
                    <a:gd name="connsiteX1" fmla="*/ 30087 w 1742772"/>
                    <a:gd name="connsiteY1" fmla="*/ 3141497 h 3863178"/>
                    <a:gd name="connsiteX2" fmla="*/ 54344 w 1742772"/>
                    <a:gd name="connsiteY2" fmla="*/ 2360582 h 3863178"/>
                    <a:gd name="connsiteX3" fmla="*/ 27578 w 1742772"/>
                    <a:gd name="connsiteY3" fmla="*/ 331951 h 3863178"/>
                    <a:gd name="connsiteX4" fmla="*/ 54342 w 1742772"/>
                    <a:gd name="connsiteY4" fmla="*/ 31779 h 3863178"/>
                    <a:gd name="connsiteX5" fmla="*/ 636580 w 1742772"/>
                    <a:gd name="connsiteY5" fmla="*/ 547740 h 3863178"/>
                    <a:gd name="connsiteX6" fmla="*/ 683835 w 1742772"/>
                    <a:gd name="connsiteY6" fmla="*/ 774317 h 3863178"/>
                    <a:gd name="connsiteX7" fmla="*/ 790529 w 1742772"/>
                    <a:gd name="connsiteY7" fmla="*/ 1031796 h 3863178"/>
                    <a:gd name="connsiteX8" fmla="*/ 976217 w 1742772"/>
                    <a:gd name="connsiteY8" fmla="*/ 1342602 h 3863178"/>
                    <a:gd name="connsiteX9" fmla="*/ 1170593 w 1742772"/>
                    <a:gd name="connsiteY9" fmla="*/ 1970619 h 3863178"/>
                    <a:gd name="connsiteX10" fmla="*/ 1314589 w 1742772"/>
                    <a:gd name="connsiteY10" fmla="*/ 2322204 h 3863178"/>
                    <a:gd name="connsiteX11" fmla="*/ 1728266 w 1742772"/>
                    <a:gd name="connsiteY11" fmla="*/ 3113609 h 3863178"/>
                    <a:gd name="connsiteX12" fmla="*/ 1704006 w 1742772"/>
                    <a:gd name="connsiteY12" fmla="*/ 3629570 h 3863178"/>
                    <a:gd name="connsiteX13" fmla="*/ 1704007 w 1742772"/>
                    <a:gd name="connsiteY13" fmla="*/ 3824799 h 3863178"/>
                    <a:gd name="connsiteX14" fmla="*/ 1073253 w 1742772"/>
                    <a:gd name="connsiteY14" fmla="*/ 3852688 h 3863178"/>
                    <a:gd name="connsiteX15" fmla="*/ 102865 w 1742772"/>
                    <a:gd name="connsiteY15" fmla="*/ 3838743 h 3863178"/>
                    <a:gd name="connsiteX16" fmla="*/ 30087 w 1742772"/>
                    <a:gd name="connsiteY16" fmla="*/ 3699294 h 3863178"/>
                    <a:gd name="connsiteX17" fmla="*/ 28959 w 1742772"/>
                    <a:gd name="connsiteY17" fmla="*/ 3518506 h 3863178"/>
                    <a:gd name="connsiteX0" fmla="*/ 28959 w 1742770"/>
                    <a:gd name="connsiteY0" fmla="*/ 3518506 h 3863178"/>
                    <a:gd name="connsiteX1" fmla="*/ 30087 w 1742770"/>
                    <a:gd name="connsiteY1" fmla="*/ 3141497 h 3863178"/>
                    <a:gd name="connsiteX2" fmla="*/ 54344 w 1742770"/>
                    <a:gd name="connsiteY2" fmla="*/ 2360582 h 3863178"/>
                    <a:gd name="connsiteX3" fmla="*/ 27578 w 1742770"/>
                    <a:gd name="connsiteY3" fmla="*/ 331951 h 3863178"/>
                    <a:gd name="connsiteX4" fmla="*/ 54342 w 1742770"/>
                    <a:gd name="connsiteY4" fmla="*/ 31779 h 3863178"/>
                    <a:gd name="connsiteX5" fmla="*/ 636580 w 1742770"/>
                    <a:gd name="connsiteY5" fmla="*/ 547740 h 3863178"/>
                    <a:gd name="connsiteX6" fmla="*/ 683835 w 1742770"/>
                    <a:gd name="connsiteY6" fmla="*/ 774317 h 3863178"/>
                    <a:gd name="connsiteX7" fmla="*/ 863309 w 1742770"/>
                    <a:gd name="connsiteY7" fmla="*/ 1017851 h 3863178"/>
                    <a:gd name="connsiteX8" fmla="*/ 976217 w 1742770"/>
                    <a:gd name="connsiteY8" fmla="*/ 1342602 h 3863178"/>
                    <a:gd name="connsiteX9" fmla="*/ 1170593 w 1742770"/>
                    <a:gd name="connsiteY9" fmla="*/ 1970619 h 3863178"/>
                    <a:gd name="connsiteX10" fmla="*/ 1314589 w 1742770"/>
                    <a:gd name="connsiteY10" fmla="*/ 2322204 h 3863178"/>
                    <a:gd name="connsiteX11" fmla="*/ 1728266 w 1742770"/>
                    <a:gd name="connsiteY11" fmla="*/ 3113609 h 3863178"/>
                    <a:gd name="connsiteX12" fmla="*/ 1704006 w 1742770"/>
                    <a:gd name="connsiteY12" fmla="*/ 3629570 h 3863178"/>
                    <a:gd name="connsiteX13" fmla="*/ 1704007 w 1742770"/>
                    <a:gd name="connsiteY13" fmla="*/ 3824799 h 3863178"/>
                    <a:gd name="connsiteX14" fmla="*/ 1073253 w 1742770"/>
                    <a:gd name="connsiteY14" fmla="*/ 3852688 h 3863178"/>
                    <a:gd name="connsiteX15" fmla="*/ 102865 w 1742770"/>
                    <a:gd name="connsiteY15" fmla="*/ 3838743 h 3863178"/>
                    <a:gd name="connsiteX16" fmla="*/ 30087 w 1742770"/>
                    <a:gd name="connsiteY16" fmla="*/ 3699294 h 3863178"/>
                    <a:gd name="connsiteX17" fmla="*/ 28959 w 1742770"/>
                    <a:gd name="connsiteY17" fmla="*/ 3518506 h 3863178"/>
                    <a:gd name="connsiteX0" fmla="*/ 28959 w 1742772"/>
                    <a:gd name="connsiteY0" fmla="*/ 3489549 h 3834221"/>
                    <a:gd name="connsiteX1" fmla="*/ 30087 w 1742772"/>
                    <a:gd name="connsiteY1" fmla="*/ 3112540 h 3834221"/>
                    <a:gd name="connsiteX2" fmla="*/ 54344 w 1742772"/>
                    <a:gd name="connsiteY2" fmla="*/ 2331625 h 3834221"/>
                    <a:gd name="connsiteX3" fmla="*/ 27578 w 1742772"/>
                    <a:gd name="connsiteY3" fmla="*/ 302994 h 3834221"/>
                    <a:gd name="connsiteX4" fmla="*/ 54342 w 1742772"/>
                    <a:gd name="connsiteY4" fmla="*/ 2822 h 3834221"/>
                    <a:gd name="connsiteX5" fmla="*/ 392718 w 1742772"/>
                    <a:gd name="connsiteY5" fmla="*/ 173618 h 3834221"/>
                    <a:gd name="connsiteX6" fmla="*/ 636580 w 1742772"/>
                    <a:gd name="connsiteY6" fmla="*/ 518783 h 3834221"/>
                    <a:gd name="connsiteX7" fmla="*/ 683835 w 1742772"/>
                    <a:gd name="connsiteY7" fmla="*/ 745360 h 3834221"/>
                    <a:gd name="connsiteX8" fmla="*/ 863309 w 1742772"/>
                    <a:gd name="connsiteY8" fmla="*/ 988894 h 3834221"/>
                    <a:gd name="connsiteX9" fmla="*/ 976217 w 1742772"/>
                    <a:gd name="connsiteY9" fmla="*/ 1313645 h 3834221"/>
                    <a:gd name="connsiteX10" fmla="*/ 1170593 w 1742772"/>
                    <a:gd name="connsiteY10" fmla="*/ 1941662 h 3834221"/>
                    <a:gd name="connsiteX11" fmla="*/ 1314589 w 1742772"/>
                    <a:gd name="connsiteY11" fmla="*/ 2293247 h 3834221"/>
                    <a:gd name="connsiteX12" fmla="*/ 1728266 w 1742772"/>
                    <a:gd name="connsiteY12" fmla="*/ 3084652 h 3834221"/>
                    <a:gd name="connsiteX13" fmla="*/ 1704006 w 1742772"/>
                    <a:gd name="connsiteY13" fmla="*/ 3600613 h 3834221"/>
                    <a:gd name="connsiteX14" fmla="*/ 1704007 w 1742772"/>
                    <a:gd name="connsiteY14" fmla="*/ 3795842 h 3834221"/>
                    <a:gd name="connsiteX15" fmla="*/ 1073253 w 1742772"/>
                    <a:gd name="connsiteY15" fmla="*/ 3823731 h 3834221"/>
                    <a:gd name="connsiteX16" fmla="*/ 102865 w 1742772"/>
                    <a:gd name="connsiteY16" fmla="*/ 3809786 h 3834221"/>
                    <a:gd name="connsiteX17" fmla="*/ 30087 w 1742772"/>
                    <a:gd name="connsiteY17" fmla="*/ 3670337 h 3834221"/>
                    <a:gd name="connsiteX18" fmla="*/ 28959 w 1742772"/>
                    <a:gd name="connsiteY18" fmla="*/ 3489549 h 3834221"/>
                    <a:gd name="connsiteX0" fmla="*/ 28959 w 1745385"/>
                    <a:gd name="connsiteY0" fmla="*/ 3489549 h 3834221"/>
                    <a:gd name="connsiteX1" fmla="*/ 30087 w 1745385"/>
                    <a:gd name="connsiteY1" fmla="*/ 3112540 h 3834221"/>
                    <a:gd name="connsiteX2" fmla="*/ 54344 w 1745385"/>
                    <a:gd name="connsiteY2" fmla="*/ 2331625 h 3834221"/>
                    <a:gd name="connsiteX3" fmla="*/ 27578 w 1745385"/>
                    <a:gd name="connsiteY3" fmla="*/ 302994 h 3834221"/>
                    <a:gd name="connsiteX4" fmla="*/ 54342 w 1745385"/>
                    <a:gd name="connsiteY4" fmla="*/ 2822 h 3834221"/>
                    <a:gd name="connsiteX5" fmla="*/ 392718 w 1745385"/>
                    <a:gd name="connsiteY5" fmla="*/ 173618 h 3834221"/>
                    <a:gd name="connsiteX6" fmla="*/ 636580 w 1745385"/>
                    <a:gd name="connsiteY6" fmla="*/ 518783 h 3834221"/>
                    <a:gd name="connsiteX7" fmla="*/ 683835 w 1745385"/>
                    <a:gd name="connsiteY7" fmla="*/ 745360 h 3834221"/>
                    <a:gd name="connsiteX8" fmla="*/ 863309 w 1745385"/>
                    <a:gd name="connsiteY8" fmla="*/ 988894 h 3834221"/>
                    <a:gd name="connsiteX9" fmla="*/ 976217 w 1745385"/>
                    <a:gd name="connsiteY9" fmla="*/ 1313645 h 3834221"/>
                    <a:gd name="connsiteX10" fmla="*/ 1170593 w 1745385"/>
                    <a:gd name="connsiteY10" fmla="*/ 1941662 h 3834221"/>
                    <a:gd name="connsiteX11" fmla="*/ 1314589 w 1745385"/>
                    <a:gd name="connsiteY11" fmla="*/ 2293247 h 3834221"/>
                    <a:gd name="connsiteX12" fmla="*/ 1728266 w 1745385"/>
                    <a:gd name="connsiteY12" fmla="*/ 3084652 h 3834221"/>
                    <a:gd name="connsiteX13" fmla="*/ 1629965 w 1745385"/>
                    <a:gd name="connsiteY13" fmla="*/ 3394895 h 3834221"/>
                    <a:gd name="connsiteX14" fmla="*/ 1704006 w 1745385"/>
                    <a:gd name="connsiteY14" fmla="*/ 3600613 h 3834221"/>
                    <a:gd name="connsiteX15" fmla="*/ 1704007 w 1745385"/>
                    <a:gd name="connsiteY15" fmla="*/ 3795842 h 3834221"/>
                    <a:gd name="connsiteX16" fmla="*/ 1073253 w 1745385"/>
                    <a:gd name="connsiteY16" fmla="*/ 3823731 h 3834221"/>
                    <a:gd name="connsiteX17" fmla="*/ 102865 w 1745385"/>
                    <a:gd name="connsiteY17" fmla="*/ 3809786 h 3834221"/>
                    <a:gd name="connsiteX18" fmla="*/ 30087 w 1745385"/>
                    <a:gd name="connsiteY18" fmla="*/ 3670337 h 3834221"/>
                    <a:gd name="connsiteX19" fmla="*/ 28959 w 1745385"/>
                    <a:gd name="connsiteY19" fmla="*/ 3489549 h 3834221"/>
                    <a:gd name="connsiteX0" fmla="*/ 28959 w 1745385"/>
                    <a:gd name="connsiteY0" fmla="*/ 3489549 h 3834221"/>
                    <a:gd name="connsiteX1" fmla="*/ 30087 w 1745385"/>
                    <a:gd name="connsiteY1" fmla="*/ 3112540 h 3834221"/>
                    <a:gd name="connsiteX2" fmla="*/ 54344 w 1745385"/>
                    <a:gd name="connsiteY2" fmla="*/ 2331625 h 3834221"/>
                    <a:gd name="connsiteX3" fmla="*/ 27578 w 1745385"/>
                    <a:gd name="connsiteY3" fmla="*/ 302994 h 3834221"/>
                    <a:gd name="connsiteX4" fmla="*/ 54342 w 1745385"/>
                    <a:gd name="connsiteY4" fmla="*/ 2822 h 3834221"/>
                    <a:gd name="connsiteX5" fmla="*/ 392718 w 1745385"/>
                    <a:gd name="connsiteY5" fmla="*/ 173618 h 3834221"/>
                    <a:gd name="connsiteX6" fmla="*/ 636580 w 1745385"/>
                    <a:gd name="connsiteY6" fmla="*/ 518783 h 3834221"/>
                    <a:gd name="connsiteX7" fmla="*/ 683835 w 1745385"/>
                    <a:gd name="connsiteY7" fmla="*/ 745360 h 3834221"/>
                    <a:gd name="connsiteX8" fmla="*/ 863309 w 1745385"/>
                    <a:gd name="connsiteY8" fmla="*/ 988894 h 3834221"/>
                    <a:gd name="connsiteX9" fmla="*/ 976217 w 1745385"/>
                    <a:gd name="connsiteY9" fmla="*/ 1313645 h 3834221"/>
                    <a:gd name="connsiteX10" fmla="*/ 1170593 w 1745385"/>
                    <a:gd name="connsiteY10" fmla="*/ 1941662 h 3834221"/>
                    <a:gd name="connsiteX11" fmla="*/ 1314589 w 1745385"/>
                    <a:gd name="connsiteY11" fmla="*/ 2293247 h 3834221"/>
                    <a:gd name="connsiteX12" fmla="*/ 1606968 w 1745385"/>
                    <a:gd name="connsiteY12" fmla="*/ 3112541 h 3834221"/>
                    <a:gd name="connsiteX13" fmla="*/ 1629965 w 1745385"/>
                    <a:gd name="connsiteY13" fmla="*/ 3394895 h 3834221"/>
                    <a:gd name="connsiteX14" fmla="*/ 1704006 w 1745385"/>
                    <a:gd name="connsiteY14" fmla="*/ 3600613 h 3834221"/>
                    <a:gd name="connsiteX15" fmla="*/ 1704007 w 1745385"/>
                    <a:gd name="connsiteY15" fmla="*/ 3795842 h 3834221"/>
                    <a:gd name="connsiteX16" fmla="*/ 1073253 w 1745385"/>
                    <a:gd name="connsiteY16" fmla="*/ 3823731 h 3834221"/>
                    <a:gd name="connsiteX17" fmla="*/ 102865 w 1745385"/>
                    <a:gd name="connsiteY17" fmla="*/ 3809786 h 3834221"/>
                    <a:gd name="connsiteX18" fmla="*/ 30087 w 1745385"/>
                    <a:gd name="connsiteY18" fmla="*/ 3670337 h 3834221"/>
                    <a:gd name="connsiteX19" fmla="*/ 28959 w 1745385"/>
                    <a:gd name="connsiteY19" fmla="*/ 3489549 h 3834221"/>
                    <a:gd name="connsiteX0" fmla="*/ 28959 w 1732356"/>
                    <a:gd name="connsiteY0" fmla="*/ 3489549 h 3834221"/>
                    <a:gd name="connsiteX1" fmla="*/ 30087 w 1732356"/>
                    <a:gd name="connsiteY1" fmla="*/ 3112540 h 3834221"/>
                    <a:gd name="connsiteX2" fmla="*/ 54344 w 1732356"/>
                    <a:gd name="connsiteY2" fmla="*/ 2331625 h 3834221"/>
                    <a:gd name="connsiteX3" fmla="*/ 27578 w 1732356"/>
                    <a:gd name="connsiteY3" fmla="*/ 302994 h 3834221"/>
                    <a:gd name="connsiteX4" fmla="*/ 54342 w 1732356"/>
                    <a:gd name="connsiteY4" fmla="*/ 2822 h 3834221"/>
                    <a:gd name="connsiteX5" fmla="*/ 392718 w 1732356"/>
                    <a:gd name="connsiteY5" fmla="*/ 173618 h 3834221"/>
                    <a:gd name="connsiteX6" fmla="*/ 636580 w 1732356"/>
                    <a:gd name="connsiteY6" fmla="*/ 518783 h 3834221"/>
                    <a:gd name="connsiteX7" fmla="*/ 683835 w 1732356"/>
                    <a:gd name="connsiteY7" fmla="*/ 745360 h 3834221"/>
                    <a:gd name="connsiteX8" fmla="*/ 863309 w 1732356"/>
                    <a:gd name="connsiteY8" fmla="*/ 988894 h 3834221"/>
                    <a:gd name="connsiteX9" fmla="*/ 976217 w 1732356"/>
                    <a:gd name="connsiteY9" fmla="*/ 1313645 h 3834221"/>
                    <a:gd name="connsiteX10" fmla="*/ 1170593 w 1732356"/>
                    <a:gd name="connsiteY10" fmla="*/ 1941662 h 3834221"/>
                    <a:gd name="connsiteX11" fmla="*/ 1314589 w 1732356"/>
                    <a:gd name="connsiteY11" fmla="*/ 2293247 h 3834221"/>
                    <a:gd name="connsiteX12" fmla="*/ 1606968 w 1732356"/>
                    <a:gd name="connsiteY12" fmla="*/ 3112541 h 3834221"/>
                    <a:gd name="connsiteX13" fmla="*/ 1629965 w 1732356"/>
                    <a:gd name="connsiteY13" fmla="*/ 3394895 h 3834221"/>
                    <a:gd name="connsiteX14" fmla="*/ 1631226 w 1732356"/>
                    <a:gd name="connsiteY14" fmla="*/ 3600614 h 3834221"/>
                    <a:gd name="connsiteX15" fmla="*/ 1704007 w 1732356"/>
                    <a:gd name="connsiteY15" fmla="*/ 3795842 h 3834221"/>
                    <a:gd name="connsiteX16" fmla="*/ 1073253 w 1732356"/>
                    <a:gd name="connsiteY16" fmla="*/ 3823731 h 3834221"/>
                    <a:gd name="connsiteX17" fmla="*/ 102865 w 1732356"/>
                    <a:gd name="connsiteY17" fmla="*/ 3809786 h 3834221"/>
                    <a:gd name="connsiteX18" fmla="*/ 30087 w 1732356"/>
                    <a:gd name="connsiteY18" fmla="*/ 3670337 h 3834221"/>
                    <a:gd name="connsiteX19" fmla="*/ 28959 w 1732356"/>
                    <a:gd name="connsiteY19" fmla="*/ 3489549 h 3834221"/>
                    <a:gd name="connsiteX0" fmla="*/ 28959 w 1655745"/>
                    <a:gd name="connsiteY0" fmla="*/ 3489549 h 3841868"/>
                    <a:gd name="connsiteX1" fmla="*/ 30087 w 1655745"/>
                    <a:gd name="connsiteY1" fmla="*/ 3112540 h 3841868"/>
                    <a:gd name="connsiteX2" fmla="*/ 54344 w 1655745"/>
                    <a:gd name="connsiteY2" fmla="*/ 2331625 h 3841868"/>
                    <a:gd name="connsiteX3" fmla="*/ 27578 w 1655745"/>
                    <a:gd name="connsiteY3" fmla="*/ 302994 h 3841868"/>
                    <a:gd name="connsiteX4" fmla="*/ 54342 w 1655745"/>
                    <a:gd name="connsiteY4" fmla="*/ 2822 h 3841868"/>
                    <a:gd name="connsiteX5" fmla="*/ 392718 w 1655745"/>
                    <a:gd name="connsiteY5" fmla="*/ 173618 h 3841868"/>
                    <a:gd name="connsiteX6" fmla="*/ 636580 w 1655745"/>
                    <a:gd name="connsiteY6" fmla="*/ 518783 h 3841868"/>
                    <a:gd name="connsiteX7" fmla="*/ 683835 w 1655745"/>
                    <a:gd name="connsiteY7" fmla="*/ 745360 h 3841868"/>
                    <a:gd name="connsiteX8" fmla="*/ 863309 w 1655745"/>
                    <a:gd name="connsiteY8" fmla="*/ 988894 h 3841868"/>
                    <a:gd name="connsiteX9" fmla="*/ 976217 w 1655745"/>
                    <a:gd name="connsiteY9" fmla="*/ 1313645 h 3841868"/>
                    <a:gd name="connsiteX10" fmla="*/ 1170593 w 1655745"/>
                    <a:gd name="connsiteY10" fmla="*/ 1941662 h 3841868"/>
                    <a:gd name="connsiteX11" fmla="*/ 1314589 w 1655745"/>
                    <a:gd name="connsiteY11" fmla="*/ 2293247 h 3841868"/>
                    <a:gd name="connsiteX12" fmla="*/ 1606968 w 1655745"/>
                    <a:gd name="connsiteY12" fmla="*/ 3112541 h 3841868"/>
                    <a:gd name="connsiteX13" fmla="*/ 1629965 w 1655745"/>
                    <a:gd name="connsiteY13" fmla="*/ 3394895 h 3841868"/>
                    <a:gd name="connsiteX14" fmla="*/ 1631226 w 1655745"/>
                    <a:gd name="connsiteY14" fmla="*/ 3600614 h 3841868"/>
                    <a:gd name="connsiteX15" fmla="*/ 1606968 w 1655745"/>
                    <a:gd name="connsiteY15" fmla="*/ 3809787 h 3841868"/>
                    <a:gd name="connsiteX16" fmla="*/ 1073253 w 1655745"/>
                    <a:gd name="connsiteY16" fmla="*/ 3823731 h 3841868"/>
                    <a:gd name="connsiteX17" fmla="*/ 102865 w 1655745"/>
                    <a:gd name="connsiteY17" fmla="*/ 3809786 h 3841868"/>
                    <a:gd name="connsiteX18" fmla="*/ 30087 w 1655745"/>
                    <a:gd name="connsiteY18" fmla="*/ 3670337 h 3841868"/>
                    <a:gd name="connsiteX19" fmla="*/ 28959 w 1655745"/>
                    <a:gd name="connsiteY19" fmla="*/ 3489549 h 3841868"/>
                    <a:gd name="connsiteX0" fmla="*/ 28959 w 1655743"/>
                    <a:gd name="connsiteY0" fmla="*/ 3489549 h 3841868"/>
                    <a:gd name="connsiteX1" fmla="*/ 30087 w 1655743"/>
                    <a:gd name="connsiteY1" fmla="*/ 3112540 h 3841868"/>
                    <a:gd name="connsiteX2" fmla="*/ 54344 w 1655743"/>
                    <a:gd name="connsiteY2" fmla="*/ 2331625 h 3841868"/>
                    <a:gd name="connsiteX3" fmla="*/ 27578 w 1655743"/>
                    <a:gd name="connsiteY3" fmla="*/ 302994 h 3841868"/>
                    <a:gd name="connsiteX4" fmla="*/ 54342 w 1655743"/>
                    <a:gd name="connsiteY4" fmla="*/ 2822 h 3841868"/>
                    <a:gd name="connsiteX5" fmla="*/ 392718 w 1655743"/>
                    <a:gd name="connsiteY5" fmla="*/ 173618 h 3841868"/>
                    <a:gd name="connsiteX6" fmla="*/ 636580 w 1655743"/>
                    <a:gd name="connsiteY6" fmla="*/ 518783 h 3841868"/>
                    <a:gd name="connsiteX7" fmla="*/ 683835 w 1655743"/>
                    <a:gd name="connsiteY7" fmla="*/ 745360 h 3841868"/>
                    <a:gd name="connsiteX8" fmla="*/ 863309 w 1655743"/>
                    <a:gd name="connsiteY8" fmla="*/ 988894 h 3841868"/>
                    <a:gd name="connsiteX9" fmla="*/ 976217 w 1655743"/>
                    <a:gd name="connsiteY9" fmla="*/ 1313645 h 3841868"/>
                    <a:gd name="connsiteX10" fmla="*/ 1170593 w 1655743"/>
                    <a:gd name="connsiteY10" fmla="*/ 1941662 h 3841868"/>
                    <a:gd name="connsiteX11" fmla="*/ 1314589 w 1655743"/>
                    <a:gd name="connsiteY11" fmla="*/ 2293247 h 3841868"/>
                    <a:gd name="connsiteX12" fmla="*/ 1606968 w 1655743"/>
                    <a:gd name="connsiteY12" fmla="*/ 3112541 h 3841868"/>
                    <a:gd name="connsiteX13" fmla="*/ 1629965 w 1655743"/>
                    <a:gd name="connsiteY13" fmla="*/ 3394895 h 3841868"/>
                    <a:gd name="connsiteX14" fmla="*/ 1631226 w 1655743"/>
                    <a:gd name="connsiteY14" fmla="*/ 3600614 h 3841868"/>
                    <a:gd name="connsiteX15" fmla="*/ 1606968 w 1655743"/>
                    <a:gd name="connsiteY15" fmla="*/ 3809787 h 3841868"/>
                    <a:gd name="connsiteX16" fmla="*/ 1073253 w 1655743"/>
                    <a:gd name="connsiteY16" fmla="*/ 3823731 h 3841868"/>
                    <a:gd name="connsiteX17" fmla="*/ 102865 w 1655743"/>
                    <a:gd name="connsiteY17" fmla="*/ 3809786 h 3841868"/>
                    <a:gd name="connsiteX18" fmla="*/ 30087 w 1655743"/>
                    <a:gd name="connsiteY18" fmla="*/ 3670337 h 3841868"/>
                    <a:gd name="connsiteX19" fmla="*/ 28959 w 1655743"/>
                    <a:gd name="connsiteY19" fmla="*/ 3489549 h 3841868"/>
                    <a:gd name="connsiteX0" fmla="*/ 28959 w 1655745"/>
                    <a:gd name="connsiteY0" fmla="*/ 3489549 h 3841868"/>
                    <a:gd name="connsiteX1" fmla="*/ 30087 w 1655745"/>
                    <a:gd name="connsiteY1" fmla="*/ 3112540 h 3841868"/>
                    <a:gd name="connsiteX2" fmla="*/ 54344 w 1655745"/>
                    <a:gd name="connsiteY2" fmla="*/ 2331625 h 3841868"/>
                    <a:gd name="connsiteX3" fmla="*/ 27578 w 1655745"/>
                    <a:gd name="connsiteY3" fmla="*/ 302994 h 3841868"/>
                    <a:gd name="connsiteX4" fmla="*/ 54342 w 1655745"/>
                    <a:gd name="connsiteY4" fmla="*/ 2822 h 3841868"/>
                    <a:gd name="connsiteX5" fmla="*/ 392718 w 1655745"/>
                    <a:gd name="connsiteY5" fmla="*/ 173618 h 3841868"/>
                    <a:gd name="connsiteX6" fmla="*/ 636580 w 1655745"/>
                    <a:gd name="connsiteY6" fmla="*/ 518783 h 3841868"/>
                    <a:gd name="connsiteX7" fmla="*/ 683835 w 1655745"/>
                    <a:gd name="connsiteY7" fmla="*/ 745360 h 3841868"/>
                    <a:gd name="connsiteX8" fmla="*/ 863309 w 1655745"/>
                    <a:gd name="connsiteY8" fmla="*/ 988894 h 3841868"/>
                    <a:gd name="connsiteX9" fmla="*/ 976217 w 1655745"/>
                    <a:gd name="connsiteY9" fmla="*/ 1313645 h 3841868"/>
                    <a:gd name="connsiteX10" fmla="*/ 1170593 w 1655745"/>
                    <a:gd name="connsiteY10" fmla="*/ 1941662 h 3841868"/>
                    <a:gd name="connsiteX11" fmla="*/ 1314589 w 1655745"/>
                    <a:gd name="connsiteY11" fmla="*/ 2293247 h 3841868"/>
                    <a:gd name="connsiteX12" fmla="*/ 1606968 w 1655745"/>
                    <a:gd name="connsiteY12" fmla="*/ 3112541 h 3841868"/>
                    <a:gd name="connsiteX13" fmla="*/ 1629965 w 1655745"/>
                    <a:gd name="connsiteY13" fmla="*/ 3394895 h 3841868"/>
                    <a:gd name="connsiteX14" fmla="*/ 1631226 w 1655745"/>
                    <a:gd name="connsiteY14" fmla="*/ 3600614 h 3841868"/>
                    <a:gd name="connsiteX15" fmla="*/ 1606968 w 1655745"/>
                    <a:gd name="connsiteY15" fmla="*/ 3809787 h 3841868"/>
                    <a:gd name="connsiteX16" fmla="*/ 1073253 w 1655745"/>
                    <a:gd name="connsiteY16" fmla="*/ 3823731 h 3841868"/>
                    <a:gd name="connsiteX17" fmla="*/ 102865 w 1655745"/>
                    <a:gd name="connsiteY17" fmla="*/ 3809786 h 3841868"/>
                    <a:gd name="connsiteX18" fmla="*/ 30087 w 1655745"/>
                    <a:gd name="connsiteY18" fmla="*/ 3670337 h 3841868"/>
                    <a:gd name="connsiteX19" fmla="*/ 28959 w 1655745"/>
                    <a:gd name="connsiteY19" fmla="*/ 3489549 h 3841868"/>
                    <a:gd name="connsiteX0" fmla="*/ 28959 w 1655745"/>
                    <a:gd name="connsiteY0" fmla="*/ 3489549 h 3825123"/>
                    <a:gd name="connsiteX1" fmla="*/ 30087 w 1655745"/>
                    <a:gd name="connsiteY1" fmla="*/ 3112540 h 3825123"/>
                    <a:gd name="connsiteX2" fmla="*/ 54344 w 1655745"/>
                    <a:gd name="connsiteY2" fmla="*/ 2331625 h 3825123"/>
                    <a:gd name="connsiteX3" fmla="*/ 27578 w 1655745"/>
                    <a:gd name="connsiteY3" fmla="*/ 302994 h 3825123"/>
                    <a:gd name="connsiteX4" fmla="*/ 54342 w 1655745"/>
                    <a:gd name="connsiteY4" fmla="*/ 2822 h 3825123"/>
                    <a:gd name="connsiteX5" fmla="*/ 392718 w 1655745"/>
                    <a:gd name="connsiteY5" fmla="*/ 173618 h 3825123"/>
                    <a:gd name="connsiteX6" fmla="*/ 636580 w 1655745"/>
                    <a:gd name="connsiteY6" fmla="*/ 518783 h 3825123"/>
                    <a:gd name="connsiteX7" fmla="*/ 683835 w 1655745"/>
                    <a:gd name="connsiteY7" fmla="*/ 745360 h 3825123"/>
                    <a:gd name="connsiteX8" fmla="*/ 863309 w 1655745"/>
                    <a:gd name="connsiteY8" fmla="*/ 988894 h 3825123"/>
                    <a:gd name="connsiteX9" fmla="*/ 976217 w 1655745"/>
                    <a:gd name="connsiteY9" fmla="*/ 1313645 h 3825123"/>
                    <a:gd name="connsiteX10" fmla="*/ 1170593 w 1655745"/>
                    <a:gd name="connsiteY10" fmla="*/ 1941662 h 3825123"/>
                    <a:gd name="connsiteX11" fmla="*/ 1314589 w 1655745"/>
                    <a:gd name="connsiteY11" fmla="*/ 2293247 h 3825123"/>
                    <a:gd name="connsiteX12" fmla="*/ 1606968 w 1655745"/>
                    <a:gd name="connsiteY12" fmla="*/ 3112541 h 3825123"/>
                    <a:gd name="connsiteX13" fmla="*/ 1629965 w 1655745"/>
                    <a:gd name="connsiteY13" fmla="*/ 3394895 h 3825123"/>
                    <a:gd name="connsiteX14" fmla="*/ 1631226 w 1655745"/>
                    <a:gd name="connsiteY14" fmla="*/ 3600614 h 3825123"/>
                    <a:gd name="connsiteX15" fmla="*/ 1606969 w 1655745"/>
                    <a:gd name="connsiteY15" fmla="*/ 3754008 h 3825123"/>
                    <a:gd name="connsiteX16" fmla="*/ 1073253 w 1655745"/>
                    <a:gd name="connsiteY16" fmla="*/ 3823731 h 3825123"/>
                    <a:gd name="connsiteX17" fmla="*/ 102865 w 1655745"/>
                    <a:gd name="connsiteY17" fmla="*/ 3809786 h 3825123"/>
                    <a:gd name="connsiteX18" fmla="*/ 30087 w 1655745"/>
                    <a:gd name="connsiteY18" fmla="*/ 3670337 h 3825123"/>
                    <a:gd name="connsiteX19" fmla="*/ 28959 w 1655745"/>
                    <a:gd name="connsiteY19" fmla="*/ 3489549 h 3825123"/>
                    <a:gd name="connsiteX0" fmla="*/ 28959 w 1672606"/>
                    <a:gd name="connsiteY0" fmla="*/ 3489549 h 3828916"/>
                    <a:gd name="connsiteX1" fmla="*/ 30087 w 1672606"/>
                    <a:gd name="connsiteY1" fmla="*/ 3112540 h 3828916"/>
                    <a:gd name="connsiteX2" fmla="*/ 54344 w 1672606"/>
                    <a:gd name="connsiteY2" fmla="*/ 2331625 h 3828916"/>
                    <a:gd name="connsiteX3" fmla="*/ 27578 w 1672606"/>
                    <a:gd name="connsiteY3" fmla="*/ 302994 h 3828916"/>
                    <a:gd name="connsiteX4" fmla="*/ 54342 w 1672606"/>
                    <a:gd name="connsiteY4" fmla="*/ 2822 h 3828916"/>
                    <a:gd name="connsiteX5" fmla="*/ 392718 w 1672606"/>
                    <a:gd name="connsiteY5" fmla="*/ 173618 h 3828916"/>
                    <a:gd name="connsiteX6" fmla="*/ 636580 w 1672606"/>
                    <a:gd name="connsiteY6" fmla="*/ 518783 h 3828916"/>
                    <a:gd name="connsiteX7" fmla="*/ 683835 w 1672606"/>
                    <a:gd name="connsiteY7" fmla="*/ 745360 h 3828916"/>
                    <a:gd name="connsiteX8" fmla="*/ 863309 w 1672606"/>
                    <a:gd name="connsiteY8" fmla="*/ 988894 h 3828916"/>
                    <a:gd name="connsiteX9" fmla="*/ 976217 w 1672606"/>
                    <a:gd name="connsiteY9" fmla="*/ 1313645 h 3828916"/>
                    <a:gd name="connsiteX10" fmla="*/ 1170593 w 1672606"/>
                    <a:gd name="connsiteY10" fmla="*/ 1941662 h 3828916"/>
                    <a:gd name="connsiteX11" fmla="*/ 1314589 w 1672606"/>
                    <a:gd name="connsiteY11" fmla="*/ 2293247 h 3828916"/>
                    <a:gd name="connsiteX12" fmla="*/ 1606968 w 1672606"/>
                    <a:gd name="connsiteY12" fmla="*/ 3112541 h 3828916"/>
                    <a:gd name="connsiteX13" fmla="*/ 1629965 w 1672606"/>
                    <a:gd name="connsiteY13" fmla="*/ 3394895 h 3828916"/>
                    <a:gd name="connsiteX14" fmla="*/ 1631226 w 1672606"/>
                    <a:gd name="connsiteY14" fmla="*/ 3600614 h 3828916"/>
                    <a:gd name="connsiteX15" fmla="*/ 1631228 w 1672606"/>
                    <a:gd name="connsiteY15" fmla="*/ 3781897 h 3828916"/>
                    <a:gd name="connsiteX16" fmla="*/ 1073253 w 1672606"/>
                    <a:gd name="connsiteY16" fmla="*/ 3823731 h 3828916"/>
                    <a:gd name="connsiteX17" fmla="*/ 102865 w 1672606"/>
                    <a:gd name="connsiteY17" fmla="*/ 3809786 h 3828916"/>
                    <a:gd name="connsiteX18" fmla="*/ 30087 w 1672606"/>
                    <a:gd name="connsiteY18" fmla="*/ 3670337 h 3828916"/>
                    <a:gd name="connsiteX19" fmla="*/ 28959 w 1672606"/>
                    <a:gd name="connsiteY19" fmla="*/ 3489549 h 3828916"/>
                    <a:gd name="connsiteX0" fmla="*/ 28959 w 1665511"/>
                    <a:gd name="connsiteY0" fmla="*/ 3489549 h 3824597"/>
                    <a:gd name="connsiteX1" fmla="*/ 30087 w 1665511"/>
                    <a:gd name="connsiteY1" fmla="*/ 3112540 h 3824597"/>
                    <a:gd name="connsiteX2" fmla="*/ 54344 w 1665511"/>
                    <a:gd name="connsiteY2" fmla="*/ 2331625 h 3824597"/>
                    <a:gd name="connsiteX3" fmla="*/ 27578 w 1665511"/>
                    <a:gd name="connsiteY3" fmla="*/ 302994 h 3824597"/>
                    <a:gd name="connsiteX4" fmla="*/ 54342 w 1665511"/>
                    <a:gd name="connsiteY4" fmla="*/ 2822 h 3824597"/>
                    <a:gd name="connsiteX5" fmla="*/ 392718 w 1665511"/>
                    <a:gd name="connsiteY5" fmla="*/ 173618 h 3824597"/>
                    <a:gd name="connsiteX6" fmla="*/ 636580 w 1665511"/>
                    <a:gd name="connsiteY6" fmla="*/ 518783 h 3824597"/>
                    <a:gd name="connsiteX7" fmla="*/ 683835 w 1665511"/>
                    <a:gd name="connsiteY7" fmla="*/ 745360 h 3824597"/>
                    <a:gd name="connsiteX8" fmla="*/ 863309 w 1665511"/>
                    <a:gd name="connsiteY8" fmla="*/ 988894 h 3824597"/>
                    <a:gd name="connsiteX9" fmla="*/ 976217 w 1665511"/>
                    <a:gd name="connsiteY9" fmla="*/ 1313645 h 3824597"/>
                    <a:gd name="connsiteX10" fmla="*/ 1170593 w 1665511"/>
                    <a:gd name="connsiteY10" fmla="*/ 1941662 h 3824597"/>
                    <a:gd name="connsiteX11" fmla="*/ 1314589 w 1665511"/>
                    <a:gd name="connsiteY11" fmla="*/ 2293247 h 3824597"/>
                    <a:gd name="connsiteX12" fmla="*/ 1606968 w 1665511"/>
                    <a:gd name="connsiteY12" fmla="*/ 3112541 h 3824597"/>
                    <a:gd name="connsiteX13" fmla="*/ 1629965 w 1665511"/>
                    <a:gd name="connsiteY13" fmla="*/ 3394895 h 3824597"/>
                    <a:gd name="connsiteX14" fmla="*/ 1631226 w 1665511"/>
                    <a:gd name="connsiteY14" fmla="*/ 3600614 h 3824597"/>
                    <a:gd name="connsiteX15" fmla="*/ 1631228 w 1665511"/>
                    <a:gd name="connsiteY15" fmla="*/ 3781897 h 3824597"/>
                    <a:gd name="connsiteX16" fmla="*/ 1144771 w 1665511"/>
                    <a:gd name="connsiteY16" fmla="*/ 3757464 h 3824597"/>
                    <a:gd name="connsiteX17" fmla="*/ 1073253 w 1665511"/>
                    <a:gd name="connsiteY17" fmla="*/ 3823731 h 3824597"/>
                    <a:gd name="connsiteX18" fmla="*/ 102865 w 1665511"/>
                    <a:gd name="connsiteY18" fmla="*/ 3809786 h 3824597"/>
                    <a:gd name="connsiteX19" fmla="*/ 30087 w 1665511"/>
                    <a:gd name="connsiteY19" fmla="*/ 3670337 h 3824597"/>
                    <a:gd name="connsiteX20" fmla="*/ 28959 w 1665511"/>
                    <a:gd name="connsiteY20" fmla="*/ 3489549 h 3824597"/>
                    <a:gd name="connsiteX0" fmla="*/ 28959 w 1665511"/>
                    <a:gd name="connsiteY0" fmla="*/ 3489549 h 3824598"/>
                    <a:gd name="connsiteX1" fmla="*/ 30087 w 1665511"/>
                    <a:gd name="connsiteY1" fmla="*/ 3112540 h 3824598"/>
                    <a:gd name="connsiteX2" fmla="*/ 54344 w 1665511"/>
                    <a:gd name="connsiteY2" fmla="*/ 2331625 h 3824598"/>
                    <a:gd name="connsiteX3" fmla="*/ 27578 w 1665511"/>
                    <a:gd name="connsiteY3" fmla="*/ 302994 h 3824598"/>
                    <a:gd name="connsiteX4" fmla="*/ 54342 w 1665511"/>
                    <a:gd name="connsiteY4" fmla="*/ 2822 h 3824598"/>
                    <a:gd name="connsiteX5" fmla="*/ 392718 w 1665511"/>
                    <a:gd name="connsiteY5" fmla="*/ 173618 h 3824598"/>
                    <a:gd name="connsiteX6" fmla="*/ 636580 w 1665511"/>
                    <a:gd name="connsiteY6" fmla="*/ 518783 h 3824598"/>
                    <a:gd name="connsiteX7" fmla="*/ 683835 w 1665511"/>
                    <a:gd name="connsiteY7" fmla="*/ 745360 h 3824598"/>
                    <a:gd name="connsiteX8" fmla="*/ 863309 w 1665511"/>
                    <a:gd name="connsiteY8" fmla="*/ 988894 h 3824598"/>
                    <a:gd name="connsiteX9" fmla="*/ 976217 w 1665511"/>
                    <a:gd name="connsiteY9" fmla="*/ 1313645 h 3824598"/>
                    <a:gd name="connsiteX10" fmla="*/ 1170593 w 1665511"/>
                    <a:gd name="connsiteY10" fmla="*/ 1941662 h 3824598"/>
                    <a:gd name="connsiteX11" fmla="*/ 1314589 w 1665511"/>
                    <a:gd name="connsiteY11" fmla="*/ 2293247 h 3824598"/>
                    <a:gd name="connsiteX12" fmla="*/ 1606968 w 1665511"/>
                    <a:gd name="connsiteY12" fmla="*/ 3112541 h 3824598"/>
                    <a:gd name="connsiteX13" fmla="*/ 1629965 w 1665511"/>
                    <a:gd name="connsiteY13" fmla="*/ 3394895 h 3824598"/>
                    <a:gd name="connsiteX14" fmla="*/ 1631226 w 1665511"/>
                    <a:gd name="connsiteY14" fmla="*/ 3600614 h 3824598"/>
                    <a:gd name="connsiteX15" fmla="*/ 1631228 w 1665511"/>
                    <a:gd name="connsiteY15" fmla="*/ 3781897 h 3824598"/>
                    <a:gd name="connsiteX16" fmla="*/ 1144771 w 1665511"/>
                    <a:gd name="connsiteY16" fmla="*/ 3757464 h 3824598"/>
                    <a:gd name="connsiteX17" fmla="*/ 854916 w 1665511"/>
                    <a:gd name="connsiteY17" fmla="*/ 3823731 h 3824598"/>
                    <a:gd name="connsiteX18" fmla="*/ 102865 w 1665511"/>
                    <a:gd name="connsiteY18" fmla="*/ 3809786 h 3824598"/>
                    <a:gd name="connsiteX19" fmla="*/ 30087 w 1665511"/>
                    <a:gd name="connsiteY19" fmla="*/ 3670337 h 3824598"/>
                    <a:gd name="connsiteX20" fmla="*/ 28959 w 1665511"/>
                    <a:gd name="connsiteY20" fmla="*/ 3489549 h 3824598"/>
                    <a:gd name="connsiteX0" fmla="*/ 28959 w 1665511"/>
                    <a:gd name="connsiteY0" fmla="*/ 3489549 h 3816399"/>
                    <a:gd name="connsiteX1" fmla="*/ 30087 w 1665511"/>
                    <a:gd name="connsiteY1" fmla="*/ 3112540 h 3816399"/>
                    <a:gd name="connsiteX2" fmla="*/ 54344 w 1665511"/>
                    <a:gd name="connsiteY2" fmla="*/ 2331625 h 3816399"/>
                    <a:gd name="connsiteX3" fmla="*/ 27578 w 1665511"/>
                    <a:gd name="connsiteY3" fmla="*/ 302994 h 3816399"/>
                    <a:gd name="connsiteX4" fmla="*/ 54342 w 1665511"/>
                    <a:gd name="connsiteY4" fmla="*/ 2822 h 3816399"/>
                    <a:gd name="connsiteX5" fmla="*/ 392718 w 1665511"/>
                    <a:gd name="connsiteY5" fmla="*/ 173618 h 3816399"/>
                    <a:gd name="connsiteX6" fmla="*/ 636580 w 1665511"/>
                    <a:gd name="connsiteY6" fmla="*/ 518783 h 3816399"/>
                    <a:gd name="connsiteX7" fmla="*/ 683835 w 1665511"/>
                    <a:gd name="connsiteY7" fmla="*/ 745360 h 3816399"/>
                    <a:gd name="connsiteX8" fmla="*/ 863309 w 1665511"/>
                    <a:gd name="connsiteY8" fmla="*/ 988894 h 3816399"/>
                    <a:gd name="connsiteX9" fmla="*/ 976217 w 1665511"/>
                    <a:gd name="connsiteY9" fmla="*/ 1313645 h 3816399"/>
                    <a:gd name="connsiteX10" fmla="*/ 1170593 w 1665511"/>
                    <a:gd name="connsiteY10" fmla="*/ 1941662 h 3816399"/>
                    <a:gd name="connsiteX11" fmla="*/ 1314589 w 1665511"/>
                    <a:gd name="connsiteY11" fmla="*/ 2293247 h 3816399"/>
                    <a:gd name="connsiteX12" fmla="*/ 1606968 w 1665511"/>
                    <a:gd name="connsiteY12" fmla="*/ 3112541 h 3816399"/>
                    <a:gd name="connsiteX13" fmla="*/ 1629965 w 1665511"/>
                    <a:gd name="connsiteY13" fmla="*/ 3394895 h 3816399"/>
                    <a:gd name="connsiteX14" fmla="*/ 1631226 w 1665511"/>
                    <a:gd name="connsiteY14" fmla="*/ 3600614 h 3816399"/>
                    <a:gd name="connsiteX15" fmla="*/ 1631228 w 1665511"/>
                    <a:gd name="connsiteY15" fmla="*/ 3781897 h 3816399"/>
                    <a:gd name="connsiteX16" fmla="*/ 1144771 w 1665511"/>
                    <a:gd name="connsiteY16" fmla="*/ 3757464 h 3816399"/>
                    <a:gd name="connsiteX17" fmla="*/ 612319 w 1665511"/>
                    <a:gd name="connsiteY17" fmla="*/ 3795841 h 3816399"/>
                    <a:gd name="connsiteX18" fmla="*/ 102865 w 1665511"/>
                    <a:gd name="connsiteY18" fmla="*/ 3809786 h 3816399"/>
                    <a:gd name="connsiteX19" fmla="*/ 30087 w 1665511"/>
                    <a:gd name="connsiteY19" fmla="*/ 3670337 h 3816399"/>
                    <a:gd name="connsiteX20" fmla="*/ 28959 w 1665511"/>
                    <a:gd name="connsiteY20" fmla="*/ 3489549 h 3816399"/>
                    <a:gd name="connsiteX0" fmla="*/ 28959 w 1665511"/>
                    <a:gd name="connsiteY0" fmla="*/ 3489549 h 3816399"/>
                    <a:gd name="connsiteX1" fmla="*/ 30087 w 1665511"/>
                    <a:gd name="connsiteY1" fmla="*/ 3112540 h 3816399"/>
                    <a:gd name="connsiteX2" fmla="*/ 54344 w 1665511"/>
                    <a:gd name="connsiteY2" fmla="*/ 2331625 h 3816399"/>
                    <a:gd name="connsiteX3" fmla="*/ 27578 w 1665511"/>
                    <a:gd name="connsiteY3" fmla="*/ 302994 h 3816399"/>
                    <a:gd name="connsiteX4" fmla="*/ 54342 w 1665511"/>
                    <a:gd name="connsiteY4" fmla="*/ 2822 h 3816399"/>
                    <a:gd name="connsiteX5" fmla="*/ 392718 w 1665511"/>
                    <a:gd name="connsiteY5" fmla="*/ 173618 h 3816399"/>
                    <a:gd name="connsiteX6" fmla="*/ 636580 w 1665511"/>
                    <a:gd name="connsiteY6" fmla="*/ 518783 h 3816399"/>
                    <a:gd name="connsiteX7" fmla="*/ 683835 w 1665511"/>
                    <a:gd name="connsiteY7" fmla="*/ 745360 h 3816399"/>
                    <a:gd name="connsiteX8" fmla="*/ 863309 w 1665511"/>
                    <a:gd name="connsiteY8" fmla="*/ 988894 h 3816399"/>
                    <a:gd name="connsiteX9" fmla="*/ 976217 w 1665511"/>
                    <a:gd name="connsiteY9" fmla="*/ 1313645 h 3816399"/>
                    <a:gd name="connsiteX10" fmla="*/ 1170593 w 1665511"/>
                    <a:gd name="connsiteY10" fmla="*/ 1941662 h 3816399"/>
                    <a:gd name="connsiteX11" fmla="*/ 1314589 w 1665511"/>
                    <a:gd name="connsiteY11" fmla="*/ 2293247 h 3816399"/>
                    <a:gd name="connsiteX12" fmla="*/ 1606968 w 1665511"/>
                    <a:gd name="connsiteY12" fmla="*/ 3112541 h 3816399"/>
                    <a:gd name="connsiteX13" fmla="*/ 1629965 w 1665511"/>
                    <a:gd name="connsiteY13" fmla="*/ 3394895 h 3816399"/>
                    <a:gd name="connsiteX14" fmla="*/ 1631226 w 1665511"/>
                    <a:gd name="connsiteY14" fmla="*/ 3600614 h 3816399"/>
                    <a:gd name="connsiteX15" fmla="*/ 1631228 w 1665511"/>
                    <a:gd name="connsiteY15" fmla="*/ 3781897 h 3816399"/>
                    <a:gd name="connsiteX16" fmla="*/ 1193289 w 1665511"/>
                    <a:gd name="connsiteY16" fmla="*/ 3799299 h 3816399"/>
                    <a:gd name="connsiteX17" fmla="*/ 612319 w 1665511"/>
                    <a:gd name="connsiteY17" fmla="*/ 3795841 h 3816399"/>
                    <a:gd name="connsiteX18" fmla="*/ 102865 w 1665511"/>
                    <a:gd name="connsiteY18" fmla="*/ 3809786 h 3816399"/>
                    <a:gd name="connsiteX19" fmla="*/ 30087 w 1665511"/>
                    <a:gd name="connsiteY19" fmla="*/ 3670337 h 3816399"/>
                    <a:gd name="connsiteX20" fmla="*/ 28959 w 1665511"/>
                    <a:gd name="connsiteY20" fmla="*/ 3489549 h 3816399"/>
                    <a:gd name="connsiteX0" fmla="*/ 36422 w 1672974"/>
                    <a:gd name="connsiteY0" fmla="*/ 3489549 h 3816399"/>
                    <a:gd name="connsiteX1" fmla="*/ 37550 w 1672974"/>
                    <a:gd name="connsiteY1" fmla="*/ 3112540 h 3816399"/>
                    <a:gd name="connsiteX2" fmla="*/ 13286 w 1672974"/>
                    <a:gd name="connsiteY2" fmla="*/ 2303735 h 3816399"/>
                    <a:gd name="connsiteX3" fmla="*/ 35041 w 1672974"/>
                    <a:gd name="connsiteY3" fmla="*/ 302994 h 3816399"/>
                    <a:gd name="connsiteX4" fmla="*/ 61805 w 1672974"/>
                    <a:gd name="connsiteY4" fmla="*/ 2822 h 3816399"/>
                    <a:gd name="connsiteX5" fmla="*/ 400181 w 1672974"/>
                    <a:gd name="connsiteY5" fmla="*/ 173618 h 3816399"/>
                    <a:gd name="connsiteX6" fmla="*/ 644043 w 1672974"/>
                    <a:gd name="connsiteY6" fmla="*/ 518783 h 3816399"/>
                    <a:gd name="connsiteX7" fmla="*/ 691298 w 1672974"/>
                    <a:gd name="connsiteY7" fmla="*/ 745360 h 3816399"/>
                    <a:gd name="connsiteX8" fmla="*/ 870772 w 1672974"/>
                    <a:gd name="connsiteY8" fmla="*/ 988894 h 3816399"/>
                    <a:gd name="connsiteX9" fmla="*/ 983680 w 1672974"/>
                    <a:gd name="connsiteY9" fmla="*/ 1313645 h 3816399"/>
                    <a:gd name="connsiteX10" fmla="*/ 1178056 w 1672974"/>
                    <a:gd name="connsiteY10" fmla="*/ 1941662 h 3816399"/>
                    <a:gd name="connsiteX11" fmla="*/ 1322052 w 1672974"/>
                    <a:gd name="connsiteY11" fmla="*/ 2293247 h 3816399"/>
                    <a:gd name="connsiteX12" fmla="*/ 1614431 w 1672974"/>
                    <a:gd name="connsiteY12" fmla="*/ 3112541 h 3816399"/>
                    <a:gd name="connsiteX13" fmla="*/ 1637428 w 1672974"/>
                    <a:gd name="connsiteY13" fmla="*/ 3394895 h 3816399"/>
                    <a:gd name="connsiteX14" fmla="*/ 1638689 w 1672974"/>
                    <a:gd name="connsiteY14" fmla="*/ 3600614 h 3816399"/>
                    <a:gd name="connsiteX15" fmla="*/ 1638691 w 1672974"/>
                    <a:gd name="connsiteY15" fmla="*/ 3781897 h 3816399"/>
                    <a:gd name="connsiteX16" fmla="*/ 1200752 w 1672974"/>
                    <a:gd name="connsiteY16" fmla="*/ 3799299 h 3816399"/>
                    <a:gd name="connsiteX17" fmla="*/ 619782 w 1672974"/>
                    <a:gd name="connsiteY17" fmla="*/ 3795841 h 3816399"/>
                    <a:gd name="connsiteX18" fmla="*/ 110328 w 1672974"/>
                    <a:gd name="connsiteY18" fmla="*/ 3809786 h 3816399"/>
                    <a:gd name="connsiteX19" fmla="*/ 37550 w 1672974"/>
                    <a:gd name="connsiteY19" fmla="*/ 3670337 h 3816399"/>
                    <a:gd name="connsiteX20" fmla="*/ 36422 w 1672974"/>
                    <a:gd name="connsiteY20" fmla="*/ 3489549 h 3816399"/>
                    <a:gd name="connsiteX0" fmla="*/ 36424 w 1672976"/>
                    <a:gd name="connsiteY0" fmla="*/ 3489549 h 3816399"/>
                    <a:gd name="connsiteX1" fmla="*/ 37552 w 1672976"/>
                    <a:gd name="connsiteY1" fmla="*/ 3112540 h 3816399"/>
                    <a:gd name="connsiteX2" fmla="*/ 13288 w 1672976"/>
                    <a:gd name="connsiteY2" fmla="*/ 2303735 h 3816399"/>
                    <a:gd name="connsiteX3" fmla="*/ 35043 w 1672976"/>
                    <a:gd name="connsiteY3" fmla="*/ 302994 h 3816399"/>
                    <a:gd name="connsiteX4" fmla="*/ 61807 w 1672976"/>
                    <a:gd name="connsiteY4" fmla="*/ 2822 h 3816399"/>
                    <a:gd name="connsiteX5" fmla="*/ 400183 w 1672976"/>
                    <a:gd name="connsiteY5" fmla="*/ 173618 h 3816399"/>
                    <a:gd name="connsiteX6" fmla="*/ 644045 w 1672976"/>
                    <a:gd name="connsiteY6" fmla="*/ 518783 h 3816399"/>
                    <a:gd name="connsiteX7" fmla="*/ 691300 w 1672976"/>
                    <a:gd name="connsiteY7" fmla="*/ 745360 h 3816399"/>
                    <a:gd name="connsiteX8" fmla="*/ 773735 w 1672976"/>
                    <a:gd name="connsiteY8" fmla="*/ 1002839 h 3816399"/>
                    <a:gd name="connsiteX9" fmla="*/ 983682 w 1672976"/>
                    <a:gd name="connsiteY9" fmla="*/ 1313645 h 3816399"/>
                    <a:gd name="connsiteX10" fmla="*/ 1178058 w 1672976"/>
                    <a:gd name="connsiteY10" fmla="*/ 1941662 h 3816399"/>
                    <a:gd name="connsiteX11" fmla="*/ 1322054 w 1672976"/>
                    <a:gd name="connsiteY11" fmla="*/ 2293247 h 3816399"/>
                    <a:gd name="connsiteX12" fmla="*/ 1614433 w 1672976"/>
                    <a:gd name="connsiteY12" fmla="*/ 3112541 h 3816399"/>
                    <a:gd name="connsiteX13" fmla="*/ 1637430 w 1672976"/>
                    <a:gd name="connsiteY13" fmla="*/ 3394895 h 3816399"/>
                    <a:gd name="connsiteX14" fmla="*/ 1638691 w 1672976"/>
                    <a:gd name="connsiteY14" fmla="*/ 3600614 h 3816399"/>
                    <a:gd name="connsiteX15" fmla="*/ 1638693 w 1672976"/>
                    <a:gd name="connsiteY15" fmla="*/ 3781897 h 3816399"/>
                    <a:gd name="connsiteX16" fmla="*/ 1200754 w 1672976"/>
                    <a:gd name="connsiteY16" fmla="*/ 3799299 h 3816399"/>
                    <a:gd name="connsiteX17" fmla="*/ 619784 w 1672976"/>
                    <a:gd name="connsiteY17" fmla="*/ 3795841 h 3816399"/>
                    <a:gd name="connsiteX18" fmla="*/ 110330 w 1672976"/>
                    <a:gd name="connsiteY18" fmla="*/ 3809786 h 3816399"/>
                    <a:gd name="connsiteX19" fmla="*/ 37552 w 1672976"/>
                    <a:gd name="connsiteY19" fmla="*/ 3670337 h 3816399"/>
                    <a:gd name="connsiteX20" fmla="*/ 36424 w 1672976"/>
                    <a:gd name="connsiteY20" fmla="*/ 3489549 h 3816399"/>
                    <a:gd name="connsiteX0" fmla="*/ 36424 w 1672976"/>
                    <a:gd name="connsiteY0" fmla="*/ 3489549 h 3816399"/>
                    <a:gd name="connsiteX1" fmla="*/ 37552 w 1672976"/>
                    <a:gd name="connsiteY1" fmla="*/ 3112540 h 3816399"/>
                    <a:gd name="connsiteX2" fmla="*/ 13288 w 1672976"/>
                    <a:gd name="connsiteY2" fmla="*/ 2303735 h 3816399"/>
                    <a:gd name="connsiteX3" fmla="*/ 35043 w 1672976"/>
                    <a:gd name="connsiteY3" fmla="*/ 302994 h 3816399"/>
                    <a:gd name="connsiteX4" fmla="*/ 61807 w 1672976"/>
                    <a:gd name="connsiteY4" fmla="*/ 2822 h 3816399"/>
                    <a:gd name="connsiteX5" fmla="*/ 400183 w 1672976"/>
                    <a:gd name="connsiteY5" fmla="*/ 173618 h 3816399"/>
                    <a:gd name="connsiteX6" fmla="*/ 644045 w 1672976"/>
                    <a:gd name="connsiteY6" fmla="*/ 518783 h 3816399"/>
                    <a:gd name="connsiteX7" fmla="*/ 691300 w 1672976"/>
                    <a:gd name="connsiteY7" fmla="*/ 745360 h 3816399"/>
                    <a:gd name="connsiteX8" fmla="*/ 773735 w 1672976"/>
                    <a:gd name="connsiteY8" fmla="*/ 1002839 h 3816399"/>
                    <a:gd name="connsiteX9" fmla="*/ 910903 w 1672976"/>
                    <a:gd name="connsiteY9" fmla="*/ 1313645 h 3816399"/>
                    <a:gd name="connsiteX10" fmla="*/ 1178058 w 1672976"/>
                    <a:gd name="connsiteY10" fmla="*/ 1941662 h 3816399"/>
                    <a:gd name="connsiteX11" fmla="*/ 1322054 w 1672976"/>
                    <a:gd name="connsiteY11" fmla="*/ 2293247 h 3816399"/>
                    <a:gd name="connsiteX12" fmla="*/ 1614433 w 1672976"/>
                    <a:gd name="connsiteY12" fmla="*/ 3112541 h 3816399"/>
                    <a:gd name="connsiteX13" fmla="*/ 1637430 w 1672976"/>
                    <a:gd name="connsiteY13" fmla="*/ 3394895 h 3816399"/>
                    <a:gd name="connsiteX14" fmla="*/ 1638691 w 1672976"/>
                    <a:gd name="connsiteY14" fmla="*/ 3600614 h 3816399"/>
                    <a:gd name="connsiteX15" fmla="*/ 1638693 w 1672976"/>
                    <a:gd name="connsiteY15" fmla="*/ 3781897 h 3816399"/>
                    <a:gd name="connsiteX16" fmla="*/ 1200754 w 1672976"/>
                    <a:gd name="connsiteY16" fmla="*/ 3799299 h 3816399"/>
                    <a:gd name="connsiteX17" fmla="*/ 619784 w 1672976"/>
                    <a:gd name="connsiteY17" fmla="*/ 3795841 h 3816399"/>
                    <a:gd name="connsiteX18" fmla="*/ 110330 w 1672976"/>
                    <a:gd name="connsiteY18" fmla="*/ 3809786 h 3816399"/>
                    <a:gd name="connsiteX19" fmla="*/ 37552 w 1672976"/>
                    <a:gd name="connsiteY19" fmla="*/ 3670337 h 3816399"/>
                    <a:gd name="connsiteX20" fmla="*/ 36424 w 1672976"/>
                    <a:gd name="connsiteY20" fmla="*/ 3489549 h 3816399"/>
                    <a:gd name="connsiteX0" fmla="*/ 36424 w 1672976"/>
                    <a:gd name="connsiteY0" fmla="*/ 3489549 h 3816399"/>
                    <a:gd name="connsiteX1" fmla="*/ 37552 w 1672976"/>
                    <a:gd name="connsiteY1" fmla="*/ 3112540 h 3816399"/>
                    <a:gd name="connsiteX2" fmla="*/ 13288 w 1672976"/>
                    <a:gd name="connsiteY2" fmla="*/ 2303735 h 3816399"/>
                    <a:gd name="connsiteX3" fmla="*/ 35043 w 1672976"/>
                    <a:gd name="connsiteY3" fmla="*/ 302994 h 3816399"/>
                    <a:gd name="connsiteX4" fmla="*/ 61807 w 1672976"/>
                    <a:gd name="connsiteY4" fmla="*/ 2822 h 3816399"/>
                    <a:gd name="connsiteX5" fmla="*/ 400183 w 1672976"/>
                    <a:gd name="connsiteY5" fmla="*/ 173618 h 3816399"/>
                    <a:gd name="connsiteX6" fmla="*/ 547006 w 1672976"/>
                    <a:gd name="connsiteY6" fmla="*/ 532728 h 3816399"/>
                    <a:gd name="connsiteX7" fmla="*/ 691300 w 1672976"/>
                    <a:gd name="connsiteY7" fmla="*/ 745360 h 3816399"/>
                    <a:gd name="connsiteX8" fmla="*/ 773735 w 1672976"/>
                    <a:gd name="connsiteY8" fmla="*/ 1002839 h 3816399"/>
                    <a:gd name="connsiteX9" fmla="*/ 910903 w 1672976"/>
                    <a:gd name="connsiteY9" fmla="*/ 1313645 h 3816399"/>
                    <a:gd name="connsiteX10" fmla="*/ 1178058 w 1672976"/>
                    <a:gd name="connsiteY10" fmla="*/ 1941662 h 3816399"/>
                    <a:gd name="connsiteX11" fmla="*/ 1322054 w 1672976"/>
                    <a:gd name="connsiteY11" fmla="*/ 2293247 h 3816399"/>
                    <a:gd name="connsiteX12" fmla="*/ 1614433 w 1672976"/>
                    <a:gd name="connsiteY12" fmla="*/ 3112541 h 3816399"/>
                    <a:gd name="connsiteX13" fmla="*/ 1637430 w 1672976"/>
                    <a:gd name="connsiteY13" fmla="*/ 3394895 h 3816399"/>
                    <a:gd name="connsiteX14" fmla="*/ 1638691 w 1672976"/>
                    <a:gd name="connsiteY14" fmla="*/ 3600614 h 3816399"/>
                    <a:gd name="connsiteX15" fmla="*/ 1638693 w 1672976"/>
                    <a:gd name="connsiteY15" fmla="*/ 3781897 h 3816399"/>
                    <a:gd name="connsiteX16" fmla="*/ 1200754 w 1672976"/>
                    <a:gd name="connsiteY16" fmla="*/ 3799299 h 3816399"/>
                    <a:gd name="connsiteX17" fmla="*/ 619784 w 1672976"/>
                    <a:gd name="connsiteY17" fmla="*/ 3795841 h 3816399"/>
                    <a:gd name="connsiteX18" fmla="*/ 110330 w 1672976"/>
                    <a:gd name="connsiteY18" fmla="*/ 3809786 h 3816399"/>
                    <a:gd name="connsiteX19" fmla="*/ 37552 w 1672976"/>
                    <a:gd name="connsiteY19" fmla="*/ 3670337 h 3816399"/>
                    <a:gd name="connsiteX20" fmla="*/ 36424 w 1672976"/>
                    <a:gd name="connsiteY20" fmla="*/ 3489549 h 3816399"/>
                    <a:gd name="connsiteX0" fmla="*/ 36424 w 1672976"/>
                    <a:gd name="connsiteY0" fmla="*/ 3489038 h 3815888"/>
                    <a:gd name="connsiteX1" fmla="*/ 37552 w 1672976"/>
                    <a:gd name="connsiteY1" fmla="*/ 3112029 h 3815888"/>
                    <a:gd name="connsiteX2" fmla="*/ 13288 w 1672976"/>
                    <a:gd name="connsiteY2" fmla="*/ 2303224 h 3815888"/>
                    <a:gd name="connsiteX3" fmla="*/ 35043 w 1672976"/>
                    <a:gd name="connsiteY3" fmla="*/ 302483 h 3815888"/>
                    <a:gd name="connsiteX4" fmla="*/ 61807 w 1672976"/>
                    <a:gd name="connsiteY4" fmla="*/ 2311 h 3815888"/>
                    <a:gd name="connsiteX5" fmla="*/ 303144 w 1672976"/>
                    <a:gd name="connsiteY5" fmla="*/ 200997 h 3815888"/>
                    <a:gd name="connsiteX6" fmla="*/ 547006 w 1672976"/>
                    <a:gd name="connsiteY6" fmla="*/ 532217 h 3815888"/>
                    <a:gd name="connsiteX7" fmla="*/ 691300 w 1672976"/>
                    <a:gd name="connsiteY7" fmla="*/ 744849 h 3815888"/>
                    <a:gd name="connsiteX8" fmla="*/ 773735 w 1672976"/>
                    <a:gd name="connsiteY8" fmla="*/ 1002328 h 3815888"/>
                    <a:gd name="connsiteX9" fmla="*/ 910903 w 1672976"/>
                    <a:gd name="connsiteY9" fmla="*/ 1313134 h 3815888"/>
                    <a:gd name="connsiteX10" fmla="*/ 1178058 w 1672976"/>
                    <a:gd name="connsiteY10" fmla="*/ 1941151 h 3815888"/>
                    <a:gd name="connsiteX11" fmla="*/ 1322054 w 1672976"/>
                    <a:gd name="connsiteY11" fmla="*/ 2292736 h 3815888"/>
                    <a:gd name="connsiteX12" fmla="*/ 1614433 w 1672976"/>
                    <a:gd name="connsiteY12" fmla="*/ 3112030 h 3815888"/>
                    <a:gd name="connsiteX13" fmla="*/ 1637430 w 1672976"/>
                    <a:gd name="connsiteY13" fmla="*/ 3394384 h 3815888"/>
                    <a:gd name="connsiteX14" fmla="*/ 1638691 w 1672976"/>
                    <a:gd name="connsiteY14" fmla="*/ 3600103 h 3815888"/>
                    <a:gd name="connsiteX15" fmla="*/ 1638693 w 1672976"/>
                    <a:gd name="connsiteY15" fmla="*/ 3781386 h 3815888"/>
                    <a:gd name="connsiteX16" fmla="*/ 1200754 w 1672976"/>
                    <a:gd name="connsiteY16" fmla="*/ 3798788 h 3815888"/>
                    <a:gd name="connsiteX17" fmla="*/ 619784 w 1672976"/>
                    <a:gd name="connsiteY17" fmla="*/ 3795330 h 3815888"/>
                    <a:gd name="connsiteX18" fmla="*/ 110330 w 1672976"/>
                    <a:gd name="connsiteY18" fmla="*/ 3809275 h 3815888"/>
                    <a:gd name="connsiteX19" fmla="*/ 37552 w 1672976"/>
                    <a:gd name="connsiteY19" fmla="*/ 3669826 h 3815888"/>
                    <a:gd name="connsiteX20" fmla="*/ 36424 w 1672976"/>
                    <a:gd name="connsiteY20" fmla="*/ 3489038 h 3815888"/>
                    <a:gd name="connsiteX0" fmla="*/ 36424 w 1672976"/>
                    <a:gd name="connsiteY0" fmla="*/ 3489038 h 3815888"/>
                    <a:gd name="connsiteX1" fmla="*/ 37552 w 1672976"/>
                    <a:gd name="connsiteY1" fmla="*/ 3112029 h 3815888"/>
                    <a:gd name="connsiteX2" fmla="*/ 13288 w 1672976"/>
                    <a:gd name="connsiteY2" fmla="*/ 2303224 h 3815888"/>
                    <a:gd name="connsiteX3" fmla="*/ 35043 w 1672976"/>
                    <a:gd name="connsiteY3" fmla="*/ 302483 h 3815888"/>
                    <a:gd name="connsiteX4" fmla="*/ 61807 w 1672976"/>
                    <a:gd name="connsiteY4" fmla="*/ 2311 h 3815888"/>
                    <a:gd name="connsiteX5" fmla="*/ 375924 w 1672976"/>
                    <a:gd name="connsiteY5" fmla="*/ 200997 h 3815888"/>
                    <a:gd name="connsiteX6" fmla="*/ 547006 w 1672976"/>
                    <a:gd name="connsiteY6" fmla="*/ 532217 h 3815888"/>
                    <a:gd name="connsiteX7" fmla="*/ 691300 w 1672976"/>
                    <a:gd name="connsiteY7" fmla="*/ 744849 h 3815888"/>
                    <a:gd name="connsiteX8" fmla="*/ 773735 w 1672976"/>
                    <a:gd name="connsiteY8" fmla="*/ 1002328 h 3815888"/>
                    <a:gd name="connsiteX9" fmla="*/ 910903 w 1672976"/>
                    <a:gd name="connsiteY9" fmla="*/ 1313134 h 3815888"/>
                    <a:gd name="connsiteX10" fmla="*/ 1178058 w 1672976"/>
                    <a:gd name="connsiteY10" fmla="*/ 1941151 h 3815888"/>
                    <a:gd name="connsiteX11" fmla="*/ 1322054 w 1672976"/>
                    <a:gd name="connsiteY11" fmla="*/ 2292736 h 3815888"/>
                    <a:gd name="connsiteX12" fmla="*/ 1614433 w 1672976"/>
                    <a:gd name="connsiteY12" fmla="*/ 3112030 h 3815888"/>
                    <a:gd name="connsiteX13" fmla="*/ 1637430 w 1672976"/>
                    <a:gd name="connsiteY13" fmla="*/ 3394384 h 3815888"/>
                    <a:gd name="connsiteX14" fmla="*/ 1638691 w 1672976"/>
                    <a:gd name="connsiteY14" fmla="*/ 3600103 h 3815888"/>
                    <a:gd name="connsiteX15" fmla="*/ 1638693 w 1672976"/>
                    <a:gd name="connsiteY15" fmla="*/ 3781386 h 3815888"/>
                    <a:gd name="connsiteX16" fmla="*/ 1200754 w 1672976"/>
                    <a:gd name="connsiteY16" fmla="*/ 3798788 h 3815888"/>
                    <a:gd name="connsiteX17" fmla="*/ 619784 w 1672976"/>
                    <a:gd name="connsiteY17" fmla="*/ 3795330 h 3815888"/>
                    <a:gd name="connsiteX18" fmla="*/ 110330 w 1672976"/>
                    <a:gd name="connsiteY18" fmla="*/ 3809275 h 3815888"/>
                    <a:gd name="connsiteX19" fmla="*/ 37552 w 1672976"/>
                    <a:gd name="connsiteY19" fmla="*/ 3669826 h 3815888"/>
                    <a:gd name="connsiteX20" fmla="*/ 36424 w 1672976"/>
                    <a:gd name="connsiteY20" fmla="*/ 3489038 h 381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72976" h="3815888">
                      <a:moveTo>
                        <a:pt x="36424" y="3489038"/>
                      </a:moveTo>
                      <a:cubicBezTo>
                        <a:pt x="40468" y="3372830"/>
                        <a:pt x="17148" y="3214374"/>
                        <a:pt x="37552" y="3112029"/>
                      </a:cubicBezTo>
                      <a:cubicBezTo>
                        <a:pt x="57956" y="3009684"/>
                        <a:pt x="-22683" y="2622736"/>
                        <a:pt x="13288" y="2303224"/>
                      </a:cubicBezTo>
                      <a:cubicBezTo>
                        <a:pt x="-23518" y="1662980"/>
                        <a:pt x="26957" y="685968"/>
                        <a:pt x="35043" y="302483"/>
                      </a:cubicBezTo>
                      <a:cubicBezTo>
                        <a:pt x="43129" y="-81002"/>
                        <a:pt x="13080" y="23874"/>
                        <a:pt x="61807" y="2311"/>
                      </a:cubicBezTo>
                      <a:cubicBezTo>
                        <a:pt x="110534" y="-19252"/>
                        <a:pt x="278884" y="115004"/>
                        <a:pt x="375924" y="200997"/>
                      </a:cubicBezTo>
                      <a:cubicBezTo>
                        <a:pt x="472964" y="286991"/>
                        <a:pt x="486357" y="436927"/>
                        <a:pt x="547006" y="532217"/>
                      </a:cubicBezTo>
                      <a:cubicBezTo>
                        <a:pt x="607655" y="627507"/>
                        <a:pt x="685858" y="657201"/>
                        <a:pt x="691300" y="744849"/>
                      </a:cubicBezTo>
                      <a:cubicBezTo>
                        <a:pt x="696742" y="832497"/>
                        <a:pt x="737135" y="870428"/>
                        <a:pt x="773735" y="1002328"/>
                      </a:cubicBezTo>
                      <a:cubicBezTo>
                        <a:pt x="810336" y="1134229"/>
                        <a:pt x="900122" y="1021863"/>
                        <a:pt x="910903" y="1313134"/>
                      </a:cubicBezTo>
                      <a:cubicBezTo>
                        <a:pt x="921684" y="1604405"/>
                        <a:pt x="1137836" y="1777884"/>
                        <a:pt x="1178058" y="1941151"/>
                      </a:cubicBezTo>
                      <a:cubicBezTo>
                        <a:pt x="1218280" y="2104418"/>
                        <a:pt x="1229109" y="2102238"/>
                        <a:pt x="1322054" y="2292736"/>
                      </a:cubicBezTo>
                      <a:cubicBezTo>
                        <a:pt x="1414999" y="2483234"/>
                        <a:pt x="1719557" y="2814539"/>
                        <a:pt x="1614433" y="3112030"/>
                      </a:cubicBezTo>
                      <a:cubicBezTo>
                        <a:pt x="1679126" y="3297962"/>
                        <a:pt x="1641473" y="3308391"/>
                        <a:pt x="1637430" y="3394384"/>
                      </a:cubicBezTo>
                      <a:cubicBezTo>
                        <a:pt x="1633387" y="3480377"/>
                        <a:pt x="1638481" y="3535603"/>
                        <a:pt x="1638691" y="3600103"/>
                      </a:cubicBezTo>
                      <a:cubicBezTo>
                        <a:pt x="1638901" y="3664603"/>
                        <a:pt x="1715726" y="3745948"/>
                        <a:pt x="1638693" y="3781386"/>
                      </a:cubicBezTo>
                      <a:cubicBezTo>
                        <a:pt x="1561660" y="3816824"/>
                        <a:pt x="1293750" y="3791816"/>
                        <a:pt x="1200754" y="3798788"/>
                      </a:cubicBezTo>
                      <a:cubicBezTo>
                        <a:pt x="1107758" y="3805760"/>
                        <a:pt x="797478" y="3795906"/>
                        <a:pt x="619784" y="3795330"/>
                      </a:cubicBezTo>
                      <a:cubicBezTo>
                        <a:pt x="442090" y="3794754"/>
                        <a:pt x="296321" y="3830192"/>
                        <a:pt x="110330" y="3809275"/>
                      </a:cubicBezTo>
                      <a:cubicBezTo>
                        <a:pt x="-75661" y="3788358"/>
                        <a:pt x="49870" y="3723199"/>
                        <a:pt x="37552" y="3669826"/>
                      </a:cubicBezTo>
                      <a:cubicBezTo>
                        <a:pt x="25234" y="3616453"/>
                        <a:pt x="24294" y="3586652"/>
                        <a:pt x="36424" y="3489038"/>
                      </a:cubicBezTo>
                      <a:close/>
                    </a:path>
                  </a:pathLst>
                </a:custGeom>
                <a:pattFill prst="pct20">
                  <a:fgClr>
                    <a:srgbClr val="C0504D"/>
                  </a:fgClr>
                  <a:bgClr>
                    <a:prstClr val="white"/>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a:p>
              </p:txBody>
            </p:sp>
          </p:grpSp>
        </p:grpSp>
        <p:sp>
          <p:nvSpPr>
            <p:cNvPr id="6" name="TextBox 5"/>
            <p:cNvSpPr txBox="1"/>
            <p:nvPr/>
          </p:nvSpPr>
          <p:spPr>
            <a:xfrm>
              <a:off x="4655146" y="1296103"/>
              <a:ext cx="2231906" cy="877201"/>
            </a:xfrm>
            <a:prstGeom prst="rect">
              <a:avLst/>
            </a:prstGeom>
            <a:noFill/>
            <a:ln>
              <a:solidFill>
                <a:schemeClr val="tx2"/>
              </a:solidFill>
            </a:ln>
          </p:spPr>
          <p:txBody>
            <a:bodyPr wrap="square" rtlCol="0">
              <a:spAutoFit/>
            </a:bodyPr>
            <a:lstStyle/>
            <a:p>
              <a:pPr algn="just"/>
              <a:r>
                <a:rPr lang="x-none" sz="1400"/>
                <a:t>Эх олонлог доторх хувь хүний авах шаардлагатай илчлэгийн тархалт</a:t>
              </a:r>
              <a:endParaRPr lang="x-none" sz="1400" dirty="0"/>
            </a:p>
          </p:txBody>
        </p:sp>
        <p:cxnSp>
          <p:nvCxnSpPr>
            <p:cNvPr id="7" name="Straight Connector 6"/>
            <p:cNvCxnSpPr/>
            <p:nvPr/>
          </p:nvCxnSpPr>
          <p:spPr>
            <a:xfrm flipH="1">
              <a:off x="3795481" y="1880879"/>
              <a:ext cx="872758" cy="345107"/>
            </a:xfrm>
            <a:prstGeom prst="line">
              <a:avLst/>
            </a:prstGeom>
            <a:ln w="19050" cmpd="sng">
              <a:solidFill>
                <a:srgbClr val="1F497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681332" y="2958498"/>
              <a:ext cx="2231906" cy="1388901"/>
            </a:xfrm>
            <a:prstGeom prst="rect">
              <a:avLst/>
            </a:prstGeom>
            <a:noFill/>
            <a:ln w="12700" cmpd="sng">
              <a:solidFill>
                <a:srgbClr val="FF0000"/>
              </a:solidFill>
            </a:ln>
          </p:spPr>
          <p:txBody>
            <a:bodyPr wrap="square" rtlCol="0">
              <a:spAutoFit/>
            </a:bodyPr>
            <a:lstStyle/>
            <a:p>
              <a:pPr algn="just"/>
              <a:r>
                <a:rPr lang="mn-MN" sz="1400" dirty="0"/>
                <a:t>Урт хугацаанд эрүүл байхад нийцсэн хоол хүнснээс авах шаардлагатай илчлэгийн хүлээн зөвшөөрөгдсөн хязгаар</a:t>
              </a:r>
              <a:endParaRPr lang="en-US" sz="1400" dirty="0"/>
            </a:p>
          </p:txBody>
        </p:sp>
        <p:cxnSp>
          <p:nvCxnSpPr>
            <p:cNvPr id="9" name="Straight Connector 8"/>
            <p:cNvCxnSpPr/>
            <p:nvPr/>
          </p:nvCxnSpPr>
          <p:spPr>
            <a:xfrm flipH="1">
              <a:off x="3808574" y="3375383"/>
              <a:ext cx="872758" cy="345107"/>
            </a:xfrm>
            <a:prstGeom prst="line">
              <a:avLst/>
            </a:prstGeom>
            <a:ln w="19050" cmpd="sng">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42325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376" y="212725"/>
            <a:ext cx="9938124" cy="1325563"/>
          </a:xfrm>
        </p:spPr>
        <p:txBody>
          <a:bodyPr>
            <a:normAutofit/>
          </a:bodyPr>
          <a:lstStyle/>
          <a:p>
            <a:r>
              <a:rPr lang="mn-MN" sz="3600" b="1" u="sng" dirty="0">
                <a:solidFill>
                  <a:schemeClr val="accent1">
                    <a:lumMod val="50000"/>
                  </a:schemeClr>
                </a:solidFill>
              </a:rPr>
              <a:t>Хоол тэжээлийн илчлэгийн хэрэглээний  магадлалт тархалт</a:t>
            </a:r>
            <a:endParaRPr lang="en-US" sz="3600" b="1" u="sng" dirty="0"/>
          </a:p>
        </p:txBody>
      </p:sp>
      <p:grpSp>
        <p:nvGrpSpPr>
          <p:cNvPr id="4" name="Group 3"/>
          <p:cNvGrpSpPr/>
          <p:nvPr/>
        </p:nvGrpSpPr>
        <p:grpSpPr>
          <a:xfrm>
            <a:off x="6453965" y="2171595"/>
            <a:ext cx="3892544" cy="2747742"/>
            <a:chOff x="1521178" y="4765053"/>
            <a:chExt cx="2365549" cy="1690757"/>
          </a:xfrm>
        </p:grpSpPr>
        <p:grpSp>
          <p:nvGrpSpPr>
            <p:cNvPr id="5" name="Group 4"/>
            <p:cNvGrpSpPr/>
            <p:nvPr/>
          </p:nvGrpSpPr>
          <p:grpSpPr>
            <a:xfrm>
              <a:off x="1521178" y="4765053"/>
              <a:ext cx="2146142" cy="1479161"/>
              <a:chOff x="1116701" y="2637431"/>
              <a:chExt cx="4961225" cy="2800419"/>
            </a:xfrm>
          </p:grpSpPr>
          <p:sp>
            <p:nvSpPr>
              <p:cNvPr id="7" name="Freeform 6"/>
              <p:cNvSpPr/>
              <p:nvPr/>
            </p:nvSpPr>
            <p:spPr>
              <a:xfrm>
                <a:off x="1359462" y="2750039"/>
                <a:ext cx="4718464" cy="2687810"/>
              </a:xfrm>
              <a:custGeom>
                <a:avLst/>
                <a:gdLst>
                  <a:gd name="connsiteX0" fmla="*/ 0 w 2662280"/>
                  <a:gd name="connsiteY0" fmla="*/ 2233406 h 2233406"/>
                  <a:gd name="connsiteX1" fmla="*/ 1367554 w 2662280"/>
                  <a:gd name="connsiteY1" fmla="*/ 4 h 2233406"/>
                  <a:gd name="connsiteX2" fmla="*/ 2662280 w 2662280"/>
                  <a:gd name="connsiteY2" fmla="*/ 2217222 h 2233406"/>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367554 w 2662280"/>
                  <a:gd name="connsiteY1" fmla="*/ 3 h 2233405"/>
                  <a:gd name="connsiteX2" fmla="*/ 2662280 w 2662280"/>
                  <a:gd name="connsiteY2" fmla="*/ 2217221 h 2233405"/>
                  <a:gd name="connsiteX0" fmla="*/ 0 w 2662280"/>
                  <a:gd name="connsiteY0" fmla="*/ 2233405 h 2233405"/>
                  <a:gd name="connsiteX1" fmla="*/ 1267425 w 2662280"/>
                  <a:gd name="connsiteY1" fmla="*/ 3 h 2233405"/>
                  <a:gd name="connsiteX2" fmla="*/ 2662280 w 2662280"/>
                  <a:gd name="connsiteY2" fmla="*/ 2217221 h 2233405"/>
                </a:gdLst>
                <a:ahLst/>
                <a:cxnLst>
                  <a:cxn ang="0">
                    <a:pos x="connsiteX0" y="connsiteY0"/>
                  </a:cxn>
                  <a:cxn ang="0">
                    <a:pos x="connsiteX1" y="connsiteY1"/>
                  </a:cxn>
                  <a:cxn ang="0">
                    <a:pos x="connsiteX2" y="connsiteY2"/>
                  </a:cxn>
                </a:cxnLst>
                <a:rect l="l" t="t" r="r" b="b"/>
                <a:pathLst>
                  <a:path w="2662280" h="2233405">
                    <a:moveTo>
                      <a:pt x="0" y="2233405"/>
                    </a:moveTo>
                    <a:cubicBezTo>
                      <a:pt x="882706" y="2226523"/>
                      <a:pt x="823712" y="2700"/>
                      <a:pt x="1267425" y="3"/>
                    </a:cubicBezTo>
                    <a:cubicBezTo>
                      <a:pt x="1711138" y="-2694"/>
                      <a:pt x="1637962" y="2226710"/>
                      <a:pt x="2662280" y="221722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Arrow Connector 7"/>
              <p:cNvCxnSpPr/>
              <p:nvPr/>
            </p:nvCxnSpPr>
            <p:spPr>
              <a:xfrm flipV="1">
                <a:off x="1116701" y="2637431"/>
                <a:ext cx="8092" cy="2800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24793" y="5437849"/>
                <a:ext cx="49531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2778592" y="6228550"/>
              <a:ext cx="1108135" cy="227260"/>
            </a:xfrm>
            <a:prstGeom prst="rect">
              <a:avLst/>
            </a:prstGeom>
            <a:noFill/>
          </p:spPr>
          <p:txBody>
            <a:bodyPr wrap="square" rtlCol="0">
              <a:spAutoFit/>
            </a:bodyPr>
            <a:lstStyle/>
            <a:p>
              <a:r>
                <a:rPr lang="en-US" dirty="0"/>
                <a:t>K</a:t>
              </a:r>
              <a:r>
                <a:rPr lang="mn-MN" dirty="0"/>
                <a:t>кал</a:t>
              </a:r>
              <a:r>
                <a:rPr lang="en-US" dirty="0"/>
                <a:t>/</a:t>
              </a:r>
              <a:r>
                <a:rPr lang="mn-MN" dirty="0"/>
                <a:t>хүн</a:t>
              </a:r>
              <a:r>
                <a:rPr lang="en-US" dirty="0"/>
                <a:t>/</a:t>
              </a:r>
              <a:r>
                <a:rPr lang="mn-MN" dirty="0"/>
                <a:t>өдөр</a:t>
              </a:r>
              <a:endParaRPr lang="en-GB" dirty="0"/>
            </a:p>
          </p:txBody>
        </p:sp>
      </p:grpSp>
      <p:sp>
        <p:nvSpPr>
          <p:cNvPr id="10" name="TextBox 9"/>
          <p:cNvSpPr txBox="1"/>
          <p:nvPr/>
        </p:nvSpPr>
        <p:spPr>
          <a:xfrm>
            <a:off x="9400067" y="1727561"/>
            <a:ext cx="2260600" cy="1077218"/>
          </a:xfrm>
          <a:prstGeom prst="rect">
            <a:avLst/>
          </a:prstGeom>
          <a:noFill/>
        </p:spPr>
        <p:txBody>
          <a:bodyPr wrap="square" rtlCol="0">
            <a:spAutoFit/>
          </a:bodyPr>
          <a:lstStyle/>
          <a:p>
            <a:pPr algn="just"/>
            <a:r>
              <a:rPr lang="x-none" sz="1600"/>
              <a:t>Эх олонлог дахь хувь хүний авах илчлэгийн хэрэглээний магадлалт  тархалт</a:t>
            </a:r>
          </a:p>
        </p:txBody>
      </p:sp>
      <p:cxnSp>
        <p:nvCxnSpPr>
          <p:cNvPr id="11" name="Straight Arrow Connector 10"/>
          <p:cNvCxnSpPr/>
          <p:nvPr/>
        </p:nvCxnSpPr>
        <p:spPr>
          <a:xfrm flipH="1">
            <a:off x="8814662" y="2817926"/>
            <a:ext cx="1170810" cy="5234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5555305" y="2620113"/>
            <a:ext cx="1276229" cy="369332"/>
          </a:xfrm>
          <a:prstGeom prst="rect">
            <a:avLst/>
          </a:prstGeom>
          <a:noFill/>
        </p:spPr>
        <p:txBody>
          <a:bodyPr wrap="square" rtlCol="0">
            <a:spAutoFit/>
          </a:bodyPr>
          <a:lstStyle/>
          <a:p>
            <a:r>
              <a:rPr lang="mn-MN" dirty="0"/>
              <a:t>Давтамж </a:t>
            </a:r>
            <a:endParaRPr lang="en-GB" dirty="0"/>
          </a:p>
        </p:txBody>
      </p:sp>
      <p:sp>
        <p:nvSpPr>
          <p:cNvPr id="14" name="Content Placeholder 2"/>
          <p:cNvSpPr>
            <a:spLocks noGrp="1"/>
          </p:cNvSpPr>
          <p:nvPr>
            <p:ph idx="1"/>
          </p:nvPr>
        </p:nvSpPr>
        <p:spPr>
          <a:xfrm>
            <a:off x="2088776" y="1825625"/>
            <a:ext cx="3626224" cy="4351338"/>
          </a:xfrm>
        </p:spPr>
        <p:txBody>
          <a:bodyPr>
            <a:normAutofit fontScale="77500" lnSpcReduction="20000"/>
          </a:bodyPr>
          <a:lstStyle/>
          <a:p>
            <a:pPr algn="just"/>
            <a:r>
              <a:rPr lang="mn-MN" dirty="0">
                <a:solidFill>
                  <a:schemeClr val="accent1">
                    <a:lumMod val="50000"/>
                  </a:schemeClr>
                </a:solidFill>
              </a:rPr>
              <a:t>Хувь хүний авах шаардлагатай илчлэг нь эх олонлогт </a:t>
            </a:r>
            <a:r>
              <a:rPr lang="en-US" dirty="0">
                <a:solidFill>
                  <a:schemeClr val="accent1">
                    <a:lumMod val="50000"/>
                  </a:schemeClr>
                </a:solidFill>
              </a:rPr>
              <a:t>(</a:t>
            </a:r>
            <a:r>
              <a:rPr lang="mn-MN" dirty="0">
                <a:solidFill>
                  <a:schemeClr val="accent1">
                    <a:lumMod val="50000"/>
                  </a:schemeClr>
                </a:solidFill>
              </a:rPr>
              <a:t>хүн амын дотор</a:t>
            </a:r>
            <a:r>
              <a:rPr lang="en-US" dirty="0">
                <a:solidFill>
                  <a:schemeClr val="accent1">
                    <a:lumMod val="50000"/>
                  </a:schemeClr>
                </a:solidFill>
              </a:rPr>
              <a:t>)</a:t>
            </a:r>
            <a:r>
              <a:rPr lang="mn-MN" dirty="0">
                <a:solidFill>
                  <a:schemeClr val="accent1">
                    <a:lumMod val="50000"/>
                  </a:schemeClr>
                </a:solidFill>
              </a:rPr>
              <a:t> хэрхэн тархаагдсныг авах шаардлагатай илчлэгийн тоон утгууд нь магадлалт тохиолдолтой  давхцах үеийн магадлалт тархалтаар төлөөлүүлэн авна. </a:t>
            </a:r>
          </a:p>
          <a:p>
            <a:pPr algn="just"/>
            <a:r>
              <a:rPr lang="mn-MN" dirty="0">
                <a:solidFill>
                  <a:schemeClr val="accent1">
                    <a:lumMod val="50000"/>
                  </a:schemeClr>
                </a:solidFill>
              </a:rPr>
              <a:t>Олонлог тус бүр өөрсдийн хоол тэжээлээс авах шаардлагатай илчлэгийн магадлалт тархалттай байна. </a:t>
            </a:r>
          </a:p>
        </p:txBody>
      </p:sp>
    </p:spTree>
    <p:extLst>
      <p:ext uri="{BB962C8B-B14F-4D97-AF65-F5344CB8AC3E}">
        <p14:creationId xmlns:p14="http://schemas.microsoft.com/office/powerpoint/2010/main" val="3700566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𝑃𝑜𝑈</m:t>
                      </m:r>
                      <m:r>
                        <a:rPr lang="en-US" i="1">
                          <a:latin typeface="Cambria Math" panose="02040503050406030204" pitchFamily="18" charset="0"/>
                        </a:rPr>
                        <m:t>=</m:t>
                      </m:r>
                      <m:nary>
                        <m:naryPr>
                          <m:limLoc m:val="subSup"/>
                          <m:ctrlPr>
                            <a:rPr lang="en-US" i="1">
                              <a:latin typeface="Cambria Math" panose="02040503050406030204" pitchFamily="18" charset="0"/>
                            </a:rPr>
                          </m:ctrlPr>
                        </m:naryPr>
                        <m:sub>
                          <m:r>
                            <a:rPr lang="en-US" i="1">
                              <a:latin typeface="Cambria Math" panose="02040503050406030204" pitchFamily="18" charset="0"/>
                            </a:rPr>
                            <m:t>𝑥</m:t>
                          </m:r>
                          <m:r>
                            <a:rPr lang="en-US" i="1">
                              <a:latin typeface="Cambria Math" panose="02040503050406030204" pitchFamily="18" charset="0"/>
                            </a:rPr>
                            <m:t>&lt;</m:t>
                          </m:r>
                          <m:r>
                            <a:rPr lang="en-US" i="1">
                              <a:latin typeface="Cambria Math" panose="02040503050406030204" pitchFamily="18" charset="0"/>
                            </a:rPr>
                            <m:t>𝑀𝐷𝐸𝑅</m:t>
                          </m:r>
                        </m:sub>
                        <m:sup>
                          <m:r>
                            <a:rPr lang="en-US" i="1">
                              <a:latin typeface="Cambria Math" panose="02040503050406030204" pitchFamily="18" charset="0"/>
                            </a:rPr>
                            <m:t> </m:t>
                          </m:r>
                        </m:sup>
                        <m:e>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𝐷𝐸𝐶</m:t>
                              </m:r>
                              <m:r>
                                <a:rPr lang="en-US" i="1">
                                  <a:latin typeface="Cambria Math" panose="02040503050406030204" pitchFamily="18" charset="0"/>
                                </a:rPr>
                                <m:t>;</m:t>
                              </m:r>
                              <m:r>
                                <a:rPr lang="en-US" i="1">
                                  <a:latin typeface="Cambria Math" panose="02040503050406030204" pitchFamily="18" charset="0"/>
                                </a:rPr>
                                <m:t>𝐶𝑉</m:t>
                              </m:r>
                            </m:e>
                          </m:d>
                          <m:r>
                            <a:rPr lang="en-US" i="1">
                              <a:latin typeface="Cambria Math" panose="02040503050406030204" pitchFamily="18" charset="0"/>
                            </a:rPr>
                            <m:t>𝑑𝑥</m:t>
                          </m:r>
                        </m:e>
                      </m:nary>
                    </m:oMath>
                  </m:oMathPara>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cstate="print"/>
                <a:stretch>
                  <a:fillRect/>
                </a:stretch>
              </a:blipFill>
            </p:spPr>
            <p:txBody>
              <a:bodyPr/>
              <a:lstStyle/>
              <a:p>
                <a:r>
                  <a:rPr lang="en-US">
                    <a:noFill/>
                  </a:rPr>
                  <a:t> </a:t>
                </a:r>
              </a:p>
            </p:txBody>
          </p:sp>
        </mc:Fallback>
      </mc:AlternateContent>
      <p:sp>
        <p:nvSpPr>
          <p:cNvPr id="3" name="Content Placeholder 2"/>
          <p:cNvSpPr>
            <a:spLocks noGrp="1"/>
          </p:cNvSpPr>
          <p:nvPr>
            <p:ph idx="1"/>
          </p:nvPr>
        </p:nvSpPr>
        <p:spPr/>
        <p:txBody>
          <a:bodyPr/>
          <a:lstStyle/>
          <a:p>
            <a:pPr marL="0" indent="0">
              <a:buNone/>
            </a:pPr>
            <a:endParaRPr lang="en-US" sz="2400" dirty="0"/>
          </a:p>
          <a:p>
            <a:pPr marL="0" indent="0">
              <a:buNone/>
            </a:pPr>
            <a:endParaRPr lang="en-US" dirty="0"/>
          </a:p>
        </p:txBody>
      </p:sp>
      <p:pic>
        <p:nvPicPr>
          <p:cNvPr id="4" name="Picture 3"/>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15999" y="1825625"/>
            <a:ext cx="5210577" cy="4351338"/>
          </a:xfrm>
          <a:prstGeom prst="rect">
            <a:avLst/>
          </a:prstGeom>
          <a:noFill/>
          <a:ln>
            <a:noFill/>
          </a:ln>
        </p:spPr>
      </p:pic>
    </p:spTree>
    <p:extLst>
      <p:ext uri="{BB962C8B-B14F-4D97-AF65-F5344CB8AC3E}">
        <p14:creationId xmlns:p14="http://schemas.microsoft.com/office/powerpoint/2010/main" val="288229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876" y="1"/>
            <a:ext cx="9265024" cy="1028700"/>
          </a:xfrm>
        </p:spPr>
        <p:txBody>
          <a:bodyPr>
            <a:normAutofit/>
          </a:bodyPr>
          <a:lstStyle/>
          <a:p>
            <a:r>
              <a:rPr lang="mn-MN" sz="4000" b="1" u="sng" dirty="0">
                <a:solidFill>
                  <a:schemeClr val="accent1">
                    <a:lumMod val="50000"/>
                  </a:schemeClr>
                </a:solidFill>
              </a:rPr>
              <a:t>Тодорхойлолт</a:t>
            </a:r>
            <a:endParaRPr lang="en-US" sz="4000" b="1" u="sng" dirty="0">
              <a:solidFill>
                <a:schemeClr val="accent1">
                  <a:lumMod val="50000"/>
                </a:schemeClr>
              </a:solidFill>
            </a:endParaRPr>
          </a:p>
        </p:txBody>
      </p:sp>
      <p:sp>
        <p:nvSpPr>
          <p:cNvPr id="3" name="Content Placeholder 2"/>
          <p:cNvSpPr>
            <a:spLocks noGrp="1"/>
          </p:cNvSpPr>
          <p:nvPr>
            <p:ph idx="1"/>
          </p:nvPr>
        </p:nvSpPr>
        <p:spPr>
          <a:xfrm>
            <a:off x="2126876" y="1169988"/>
            <a:ext cx="9265024" cy="4486275"/>
          </a:xfrm>
        </p:spPr>
        <p:txBody>
          <a:bodyPr>
            <a:normAutofit/>
          </a:bodyPr>
          <a:lstStyle/>
          <a:p>
            <a:pPr marL="0" indent="0" algn="just">
              <a:buNone/>
            </a:pPr>
            <a:r>
              <a:rPr lang="mn-MN" dirty="0">
                <a:solidFill>
                  <a:schemeClr val="accent1">
                    <a:lumMod val="50000"/>
                  </a:schemeClr>
                </a:solidFill>
              </a:rPr>
              <a:t>Магадлалт тархалт дах хоол тэжээлийн дутагдлын тархалт </a:t>
            </a:r>
            <a:r>
              <a:rPr lang="en-US" dirty="0">
                <a:solidFill>
                  <a:schemeClr val="accent1">
                    <a:lumMod val="50000"/>
                  </a:schemeClr>
                </a:solidFill>
              </a:rPr>
              <a:t>(</a:t>
            </a:r>
            <a:r>
              <a:rPr lang="en-US" dirty="0" err="1">
                <a:solidFill>
                  <a:schemeClr val="accent1">
                    <a:lumMod val="50000"/>
                  </a:schemeClr>
                </a:solidFill>
              </a:rPr>
              <a:t>PoU</a:t>
            </a:r>
            <a:r>
              <a:rPr lang="en-US" dirty="0">
                <a:solidFill>
                  <a:schemeClr val="accent1">
                    <a:lumMod val="50000"/>
                  </a:schemeClr>
                </a:solidFill>
              </a:rPr>
              <a:t>) </a:t>
            </a:r>
            <a:r>
              <a:rPr lang="mn-MN" dirty="0">
                <a:solidFill>
                  <a:schemeClr val="accent1">
                    <a:lumMod val="50000"/>
                  </a:schemeClr>
                </a:solidFill>
              </a:rPr>
              <a:t> нь эх олонлогоос санамсаргүй байдлаар сонгогдсон хувь хүний хоол, хүнсний хэвшмэл хэрэглээ нь тухайн хүний авах шаардлагатай илчлэгийг хангахгүй  байх магадлал юм. </a:t>
            </a:r>
          </a:p>
          <a:p>
            <a:pPr algn="just"/>
            <a:r>
              <a:rPr lang="mn-MN" dirty="0">
                <a:solidFill>
                  <a:schemeClr val="accent1">
                    <a:lumMod val="50000"/>
                  </a:schemeClr>
                </a:solidFill>
              </a:rPr>
              <a:t>Энэ нь хүн амын дотор архаг өлсгөлөнгөөр шаналж байгаа хүмүүсийн эзлэх хувийг хэмждэг </a:t>
            </a:r>
            <a:r>
              <a:rPr lang="en-US" dirty="0">
                <a:solidFill>
                  <a:schemeClr val="accent1">
                    <a:lumMod val="50000"/>
                  </a:schemeClr>
                </a:solidFill>
              </a:rPr>
              <a:t>(</a:t>
            </a:r>
            <a:r>
              <a:rPr lang="mn-MN" dirty="0">
                <a:solidFill>
                  <a:schemeClr val="accent1">
                    <a:lumMod val="50000"/>
                  </a:schemeClr>
                </a:solidFill>
              </a:rPr>
              <a:t>хамгийн багадаа нэг жил үргэлжилсэн,  шаардлагатай илчлэгийг авах хангалттай хоол, хүнс идэх чадамжгүй</a:t>
            </a:r>
            <a:r>
              <a:rPr lang="en-US" dirty="0">
                <a:solidFill>
                  <a:schemeClr val="accent1">
                    <a:lumMod val="50000"/>
                  </a:schemeClr>
                </a:solidFill>
              </a:rPr>
              <a:t>)</a:t>
            </a:r>
            <a:endParaRPr lang="mn-MN" dirty="0">
              <a:solidFill>
                <a:schemeClr val="accent1">
                  <a:lumMod val="50000"/>
                </a:schemeClr>
              </a:solidFill>
            </a:endParaRPr>
          </a:p>
          <a:p>
            <a:pPr algn="just"/>
            <a:r>
              <a:rPr lang="mn-MN" dirty="0">
                <a:solidFill>
                  <a:schemeClr val="accent1">
                    <a:lumMod val="50000"/>
                  </a:schemeClr>
                </a:solidFill>
              </a:rPr>
              <a:t>Энэ нь  тооцоолол бөгөөд шууд хэмжилт биш юм. </a:t>
            </a:r>
            <a:endParaRPr lang="en-US" dirty="0">
              <a:solidFill>
                <a:schemeClr val="accent1">
                  <a:lumMod val="50000"/>
                </a:schemeClr>
              </a:solidFill>
            </a:endParaRPr>
          </a:p>
          <a:p>
            <a:pPr algn="just"/>
            <a:endParaRPr lang="en-US" dirty="0">
              <a:solidFill>
                <a:schemeClr val="accent1">
                  <a:lumMod val="50000"/>
                </a:schemeClr>
              </a:solidFill>
            </a:endParaRPr>
          </a:p>
        </p:txBody>
      </p:sp>
    </p:spTree>
    <p:extLst>
      <p:ext uri="{BB962C8B-B14F-4D97-AF65-F5344CB8AC3E}">
        <p14:creationId xmlns:p14="http://schemas.microsoft.com/office/powerpoint/2010/main" val="218688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6076" y="200025"/>
            <a:ext cx="9265024" cy="968375"/>
          </a:xfrm>
        </p:spPr>
        <p:txBody>
          <a:bodyPr>
            <a:normAutofit/>
          </a:bodyPr>
          <a:lstStyle/>
          <a:p>
            <a:r>
              <a:rPr lang="it-IT" sz="4000" b="1" u="sng" dirty="0">
                <a:solidFill>
                  <a:schemeClr val="accent1">
                    <a:lumMod val="50000"/>
                  </a:schemeClr>
                </a:solidFill>
              </a:rPr>
              <a:t>PoU</a:t>
            </a:r>
            <a:r>
              <a:rPr lang="en-US" sz="4000" b="1" u="sng" dirty="0">
                <a:solidFill>
                  <a:schemeClr val="accent1">
                    <a:lumMod val="50000"/>
                  </a:schemeClr>
                </a:solidFill>
              </a:rPr>
              <a:t>-</a:t>
            </a:r>
            <a:r>
              <a:rPr lang="mn-MN" sz="4000" b="1" u="sng" dirty="0">
                <a:solidFill>
                  <a:schemeClr val="accent1">
                    <a:lumMod val="50000"/>
                  </a:schemeClr>
                </a:solidFill>
              </a:rPr>
              <a:t>гийн үндсэн элементүүд</a:t>
            </a:r>
            <a:endParaRPr lang="it-IT" sz="4000" b="1" u="sng" dirty="0">
              <a:solidFill>
                <a:schemeClr val="accent1">
                  <a:lumMod val="50000"/>
                </a:schemeClr>
              </a:solidFill>
            </a:endParaRPr>
          </a:p>
        </p:txBody>
      </p:sp>
      <p:sp>
        <p:nvSpPr>
          <p:cNvPr id="3" name="Content Placeholder 2"/>
          <p:cNvSpPr>
            <a:spLocks noGrp="1"/>
          </p:cNvSpPr>
          <p:nvPr>
            <p:ph idx="1"/>
          </p:nvPr>
        </p:nvSpPr>
        <p:spPr>
          <a:xfrm>
            <a:off x="2088776" y="1244600"/>
            <a:ext cx="9265024" cy="4576763"/>
          </a:xfrm>
        </p:spPr>
        <p:txBody>
          <a:bodyPr>
            <a:normAutofit/>
          </a:bodyPr>
          <a:lstStyle/>
          <a:p>
            <a:pPr marL="514350" indent="-514350" algn="just">
              <a:buFont typeface="+mj-lt"/>
              <a:buAutoNum type="arabicPeriod"/>
            </a:pPr>
            <a:r>
              <a:rPr lang="mn-MN" dirty="0">
                <a:solidFill>
                  <a:schemeClr val="accent1">
                    <a:lumMod val="50000"/>
                  </a:schemeClr>
                </a:solidFill>
              </a:rPr>
              <a:t>Хоол тэжээлийн илчлэгийн хэрэглээний дундаж </a:t>
            </a:r>
            <a:r>
              <a:rPr lang="en-US" dirty="0">
                <a:solidFill>
                  <a:schemeClr val="accent1">
                    <a:lumMod val="50000"/>
                  </a:schemeClr>
                </a:solidFill>
              </a:rPr>
              <a:t>(DEC), </a:t>
            </a:r>
            <a:r>
              <a:rPr lang="mn-MN" dirty="0">
                <a:solidFill>
                  <a:schemeClr val="accent1">
                    <a:lumMod val="50000"/>
                  </a:schemeClr>
                </a:solidFill>
              </a:rPr>
              <a:t>ккал</a:t>
            </a:r>
            <a:r>
              <a:rPr lang="en-US" dirty="0">
                <a:solidFill>
                  <a:schemeClr val="accent1">
                    <a:lumMod val="50000"/>
                  </a:schemeClr>
                </a:solidFill>
              </a:rPr>
              <a:t>/</a:t>
            </a:r>
            <a:r>
              <a:rPr lang="mn-MN" dirty="0">
                <a:solidFill>
                  <a:schemeClr val="accent1">
                    <a:lumMod val="50000"/>
                  </a:schemeClr>
                </a:solidFill>
              </a:rPr>
              <a:t>са</a:t>
            </a:r>
            <a:r>
              <a:rPr lang="en-US" dirty="0">
                <a:solidFill>
                  <a:schemeClr val="accent1">
                    <a:lumMod val="50000"/>
                  </a:schemeClr>
                </a:solidFill>
              </a:rPr>
              <a:t>p/</a:t>
            </a:r>
            <a:r>
              <a:rPr lang="mn-MN" dirty="0">
                <a:solidFill>
                  <a:schemeClr val="accent1">
                    <a:lumMod val="50000"/>
                  </a:schemeClr>
                </a:solidFill>
              </a:rPr>
              <a:t>өдөр </a:t>
            </a:r>
          </a:p>
          <a:p>
            <a:pPr marL="514350" indent="-514350" algn="just">
              <a:buFont typeface="+mj-lt"/>
              <a:buAutoNum type="arabicPeriod"/>
            </a:pPr>
            <a:r>
              <a:rPr lang="mn-MN" dirty="0">
                <a:solidFill>
                  <a:schemeClr val="accent1">
                    <a:lumMod val="50000"/>
                  </a:schemeClr>
                </a:solidFill>
              </a:rPr>
              <a:t>Хоол, хүнсний хүртээмжийн тэгш бус байдал, </a:t>
            </a:r>
            <a:r>
              <a:rPr lang="en-US" dirty="0">
                <a:solidFill>
                  <a:schemeClr val="accent1">
                    <a:lumMod val="50000"/>
                  </a:schemeClr>
                </a:solidFill>
              </a:rPr>
              <a:t>(</a:t>
            </a:r>
            <a:r>
              <a:rPr lang="mn-MN" dirty="0">
                <a:solidFill>
                  <a:schemeClr val="accent1">
                    <a:lumMod val="50000"/>
                  </a:schemeClr>
                </a:solidFill>
              </a:rPr>
              <a:t>Вариацийн коэф</a:t>
            </a:r>
            <a:r>
              <a:rPr lang="en-US" dirty="0">
                <a:solidFill>
                  <a:schemeClr val="accent1">
                    <a:lumMod val="50000"/>
                  </a:schemeClr>
                </a:solidFill>
              </a:rPr>
              <a:t> </a:t>
            </a:r>
            <a:r>
              <a:rPr lang="mn-MN" dirty="0">
                <a:solidFill>
                  <a:schemeClr val="accent1">
                    <a:lumMod val="50000"/>
                  </a:schemeClr>
                </a:solidFill>
              </a:rPr>
              <a:t>, </a:t>
            </a:r>
            <a:r>
              <a:rPr lang="en-US" dirty="0">
                <a:solidFill>
                  <a:schemeClr val="accent1">
                    <a:lumMod val="50000"/>
                  </a:schemeClr>
                </a:solidFill>
              </a:rPr>
              <a:t>CV)</a:t>
            </a:r>
          </a:p>
          <a:p>
            <a:pPr marL="514350" indent="-514350" algn="just">
              <a:buFont typeface="+mj-lt"/>
              <a:buAutoNum type="arabicPeriod"/>
            </a:pPr>
            <a:r>
              <a:rPr lang="mn-MN" dirty="0">
                <a:solidFill>
                  <a:schemeClr val="accent1">
                    <a:lumMod val="50000"/>
                  </a:schemeClr>
                </a:solidFill>
              </a:rPr>
              <a:t>Хоол хүнснээс авах илчлэгийн хамгийн бага хэмжээ, шаардлага, </a:t>
            </a:r>
            <a:r>
              <a:rPr lang="en-US" dirty="0">
                <a:solidFill>
                  <a:schemeClr val="accent1">
                    <a:lumMod val="50000"/>
                  </a:schemeClr>
                </a:solidFill>
              </a:rPr>
              <a:t>(MDER) </a:t>
            </a:r>
            <a:r>
              <a:rPr lang="mn-MN" dirty="0">
                <a:solidFill>
                  <a:schemeClr val="accent1">
                    <a:lumMod val="50000"/>
                  </a:schemeClr>
                </a:solidFill>
              </a:rPr>
              <a:t>босго, ккал</a:t>
            </a:r>
            <a:r>
              <a:rPr lang="en-US" dirty="0">
                <a:solidFill>
                  <a:schemeClr val="accent1">
                    <a:lumMod val="50000"/>
                  </a:schemeClr>
                </a:solidFill>
              </a:rPr>
              <a:t>/</a:t>
            </a:r>
            <a:r>
              <a:rPr lang="mn-MN" dirty="0">
                <a:solidFill>
                  <a:schemeClr val="accent1">
                    <a:lumMod val="50000"/>
                  </a:schemeClr>
                </a:solidFill>
              </a:rPr>
              <a:t>са</a:t>
            </a:r>
            <a:r>
              <a:rPr lang="en-US" dirty="0">
                <a:solidFill>
                  <a:schemeClr val="accent1">
                    <a:lumMod val="50000"/>
                  </a:schemeClr>
                </a:solidFill>
              </a:rPr>
              <a:t>p/</a:t>
            </a:r>
            <a:r>
              <a:rPr lang="mn-MN" dirty="0">
                <a:solidFill>
                  <a:schemeClr val="accent1">
                    <a:lumMod val="50000"/>
                  </a:schemeClr>
                </a:solidFill>
              </a:rPr>
              <a:t>өдөр </a:t>
            </a:r>
          </a:p>
          <a:p>
            <a:pPr marL="514350" indent="-514350" algn="just">
              <a:buFont typeface="+mj-lt"/>
              <a:buAutoNum type="arabicPeriod"/>
            </a:pPr>
            <a:r>
              <a:rPr lang="mn-MN" dirty="0">
                <a:solidFill>
                  <a:schemeClr val="accent1">
                    <a:lumMod val="50000"/>
                  </a:schemeClr>
                </a:solidFill>
              </a:rPr>
              <a:t>Хоол, тэжээлийн илчлэгийн хэрэглээний тархалтын фүнкциональ хэлбэр, түүний тэгш бус байдлыг нарийсгах замаар тооцоолох </a:t>
            </a:r>
            <a:r>
              <a:rPr lang="en-US" dirty="0">
                <a:solidFill>
                  <a:schemeClr val="accent1">
                    <a:lumMod val="50000"/>
                  </a:schemeClr>
                </a:solidFill>
              </a:rPr>
              <a:t> </a:t>
            </a:r>
            <a:r>
              <a:rPr lang="en-US" dirty="0"/>
              <a:t>(</a:t>
            </a:r>
            <a:r>
              <a:rPr lang="en-US" dirty="0" err="1">
                <a:solidFill>
                  <a:schemeClr val="accent1">
                    <a:lumMod val="50000"/>
                  </a:schemeClr>
                </a:solidFill>
              </a:rPr>
              <a:t>skewness</a:t>
            </a:r>
            <a:r>
              <a:rPr lang="en-US" dirty="0">
                <a:solidFill>
                  <a:schemeClr val="accent1">
                    <a:lumMod val="50000"/>
                  </a:schemeClr>
                </a:solidFill>
              </a:rPr>
              <a:t>-</a:t>
            </a:r>
            <a:r>
              <a:rPr lang="mn-MN" dirty="0">
                <a:solidFill>
                  <a:schemeClr val="accent1">
                    <a:lumMod val="50000"/>
                  </a:schemeClr>
                </a:solidFill>
              </a:rPr>
              <a:t>ээр </a:t>
            </a:r>
            <a:r>
              <a:rPr lang="en-US" dirty="0">
                <a:solidFill>
                  <a:schemeClr val="accent1">
                    <a:lumMod val="50000"/>
                  </a:schemeClr>
                </a:solidFill>
              </a:rPr>
              <a:t>(SK)</a:t>
            </a:r>
            <a:r>
              <a:rPr lang="mn-MN" dirty="0">
                <a:solidFill>
                  <a:schemeClr val="accent1">
                    <a:lumMod val="50000"/>
                  </a:schemeClr>
                </a:solidFill>
              </a:rPr>
              <a:t> харуулсан тооцоолол</a:t>
            </a:r>
            <a:r>
              <a:rPr lang="en-US" dirty="0">
                <a:solidFill>
                  <a:schemeClr val="accent1">
                    <a:lumMod val="50000"/>
                  </a:schemeClr>
                </a:solidFill>
              </a:rPr>
              <a:t>)</a:t>
            </a:r>
            <a:endParaRPr lang="mn-MN" dirty="0">
              <a:solidFill>
                <a:schemeClr val="accent1">
                  <a:lumMod val="50000"/>
                </a:schemeClr>
              </a:solidFill>
            </a:endParaRPr>
          </a:p>
          <a:p>
            <a:pPr marL="514350" indent="-514350" algn="just">
              <a:buFont typeface="+mj-lt"/>
              <a:buAutoNum type="arabicPeriod"/>
            </a:pPr>
            <a:endParaRPr lang="en-US" dirty="0">
              <a:solidFill>
                <a:schemeClr val="accent1">
                  <a:lumMod val="50000"/>
                </a:schemeClr>
              </a:solidFill>
            </a:endParaRPr>
          </a:p>
          <a:p>
            <a:pPr marL="0" indent="0" algn="just">
              <a:buNone/>
            </a:pPr>
            <a:endParaRPr lang="it-IT" dirty="0">
              <a:solidFill>
                <a:schemeClr val="accent1">
                  <a:lumMod val="50000"/>
                </a:schemeClr>
              </a:solidFill>
            </a:endParaRPr>
          </a:p>
          <a:p>
            <a:pPr marL="514350" indent="-514350" algn="just">
              <a:buFont typeface="+mj-lt"/>
              <a:buAutoNum type="arabicPeriod"/>
            </a:pPr>
            <a:endParaRPr lang="it-IT" dirty="0">
              <a:solidFill>
                <a:schemeClr val="accent1">
                  <a:lumMod val="50000"/>
                </a:schemeClr>
              </a:solidFill>
            </a:endParaRPr>
          </a:p>
        </p:txBody>
      </p:sp>
    </p:spTree>
    <p:extLst>
      <p:ext uri="{BB962C8B-B14F-4D97-AF65-F5344CB8AC3E}">
        <p14:creationId xmlns:p14="http://schemas.microsoft.com/office/powerpoint/2010/main" val="1341003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190501"/>
            <a:ext cx="9950824" cy="901699"/>
          </a:xfrm>
        </p:spPr>
        <p:txBody>
          <a:bodyPr>
            <a:normAutofit/>
          </a:bodyPr>
          <a:lstStyle/>
          <a:p>
            <a:r>
              <a:rPr lang="mn-MN" sz="3200" b="1" u="sng" dirty="0">
                <a:solidFill>
                  <a:schemeClr val="accent1">
                    <a:lumMod val="50000"/>
                  </a:schemeClr>
                </a:solidFill>
              </a:rPr>
              <a:t>Хоол тэжээлийн илчлэгийн хэрэглээний дундаж</a:t>
            </a:r>
            <a:r>
              <a:rPr lang="en-US" sz="3200" b="1" u="sng" dirty="0">
                <a:solidFill>
                  <a:schemeClr val="accent1">
                    <a:lumMod val="50000"/>
                  </a:schemeClr>
                </a:solidFill>
              </a:rPr>
              <a:t> (DEC</a:t>
            </a:r>
            <a:r>
              <a:rPr lang="en-US" sz="2800" dirty="0">
                <a:solidFill>
                  <a:schemeClr val="accent1">
                    <a:lumMod val="50000"/>
                  </a:schemeClr>
                </a:solidFill>
              </a:rPr>
              <a:t>)</a:t>
            </a:r>
            <a:endParaRPr lang="it-IT" sz="2800" dirty="0">
              <a:solidFill>
                <a:schemeClr val="accent1">
                  <a:lumMod val="50000"/>
                </a:schemeClr>
              </a:solidFill>
            </a:endParaRPr>
          </a:p>
        </p:txBody>
      </p:sp>
      <p:sp>
        <p:nvSpPr>
          <p:cNvPr id="3" name="Content Placeholder 2"/>
          <p:cNvSpPr>
            <a:spLocks noGrp="1"/>
          </p:cNvSpPr>
          <p:nvPr>
            <p:ph idx="1"/>
          </p:nvPr>
        </p:nvSpPr>
        <p:spPr>
          <a:xfrm>
            <a:off x="2076076" y="1165224"/>
            <a:ext cx="9671424" cy="5019675"/>
          </a:xfrm>
        </p:spPr>
        <p:txBody>
          <a:bodyPr>
            <a:noAutofit/>
          </a:bodyPr>
          <a:lstStyle/>
          <a:p>
            <a:pPr marL="0" indent="0" algn="just">
              <a:buNone/>
            </a:pPr>
            <a:r>
              <a:rPr lang="mn-MN" sz="2400" dirty="0">
                <a:solidFill>
                  <a:schemeClr val="accent1">
                    <a:lumMod val="50000"/>
                  </a:schemeClr>
                </a:solidFill>
              </a:rPr>
              <a:t>Дунджийг дараах байдлаар тооцоолно:</a:t>
            </a:r>
            <a:endParaRPr lang="en-US" sz="2400" dirty="0">
              <a:solidFill>
                <a:schemeClr val="accent1">
                  <a:lumMod val="50000"/>
                </a:schemeClr>
              </a:solidFill>
            </a:endParaRPr>
          </a:p>
          <a:p>
            <a:pPr marL="514350" indent="-514350" algn="just">
              <a:buFont typeface="+mj-lt"/>
              <a:buAutoNum type="arabicPeriod"/>
            </a:pPr>
            <a:r>
              <a:rPr lang="mn-MN" sz="2400" dirty="0">
                <a:solidFill>
                  <a:schemeClr val="accent1">
                    <a:lumMod val="50000"/>
                  </a:schemeClr>
                </a:solidFill>
              </a:rPr>
              <a:t>Хоол тэжээлийн илчлэгийн хэрэглээний дунджийг  хувь хүний хоол тэжээлийн хэрэглээний судалгаагаар гаргана. Үндэсний болон бүс нутгийн түвшинд хүн амын бүлгээс төлөөлүүлсэн судалгааг ховор явуулдаг. </a:t>
            </a:r>
          </a:p>
          <a:p>
            <a:pPr marL="514350" indent="-514350" algn="just">
              <a:buFont typeface="+mj-lt"/>
              <a:buAutoNum type="arabicPeriod"/>
            </a:pPr>
            <a:r>
              <a:rPr lang="mn-MN" sz="2400" dirty="0">
                <a:solidFill>
                  <a:schemeClr val="accent1">
                    <a:lumMod val="50000"/>
                  </a:schemeClr>
                </a:solidFill>
              </a:rPr>
              <a:t>Өрхийн хэрэглээ, зарлагын судалгаанаас </a:t>
            </a:r>
            <a:r>
              <a:rPr lang="en-US" sz="2400" dirty="0">
                <a:solidFill>
                  <a:schemeClr val="accent1">
                    <a:lumMod val="50000"/>
                  </a:schemeClr>
                </a:solidFill>
              </a:rPr>
              <a:t>(</a:t>
            </a:r>
            <a:r>
              <a:rPr lang="mn-MN" sz="2400" dirty="0">
                <a:solidFill>
                  <a:schemeClr val="accent1">
                    <a:lumMod val="50000"/>
                  </a:schemeClr>
                </a:solidFill>
              </a:rPr>
              <a:t>ӨХЗС</a:t>
            </a:r>
            <a:r>
              <a:rPr lang="en-US" sz="2400" dirty="0">
                <a:solidFill>
                  <a:schemeClr val="accent1">
                    <a:lumMod val="50000"/>
                  </a:schemeClr>
                </a:solidFill>
              </a:rPr>
              <a:t>)</a:t>
            </a:r>
            <a:r>
              <a:rPr lang="mn-MN" sz="2400" dirty="0">
                <a:solidFill>
                  <a:schemeClr val="accent1">
                    <a:lumMod val="50000"/>
                  </a:schemeClr>
                </a:solidFill>
              </a:rPr>
              <a:t> хоол тэжээлийн илчлэгийн хэрэглээний дунджийг гаргана. </a:t>
            </a:r>
          </a:p>
          <a:p>
            <a:pPr lvl="2" algn="just"/>
            <a:r>
              <a:rPr lang="mn-MN" sz="1800" dirty="0">
                <a:solidFill>
                  <a:schemeClr val="accent1">
                    <a:lumMod val="50000"/>
                  </a:schemeClr>
                </a:solidFill>
              </a:rPr>
              <a:t>Судалгаанд өрх доторх өрхийн хоол хүнсний тархалтын талаарх мэдээлэл байхгүй</a:t>
            </a:r>
          </a:p>
          <a:p>
            <a:pPr lvl="2" algn="just"/>
            <a:r>
              <a:rPr lang="mn-MN" sz="1800" dirty="0">
                <a:solidFill>
                  <a:schemeClr val="accent1">
                    <a:lumMod val="50000"/>
                  </a:schemeClr>
                </a:solidFill>
              </a:rPr>
              <a:t>Хоол, хүнсний хэрэглээг  тооцож гаргадаггүй  эдийн засгийн бодлогыг мэдээлэх зорилгоор боловсруулагддаг</a:t>
            </a:r>
          </a:p>
          <a:p>
            <a:pPr marL="514350" indent="-514350" algn="just">
              <a:buFont typeface="+mj-lt"/>
              <a:buAutoNum type="arabicPeriod"/>
            </a:pPr>
            <a:r>
              <a:rPr lang="mn-MN" sz="2400" dirty="0">
                <a:solidFill>
                  <a:schemeClr val="accent1">
                    <a:lumMod val="50000"/>
                  </a:schemeClr>
                </a:solidFill>
              </a:rPr>
              <a:t>Хүнсний балансаас </a:t>
            </a:r>
            <a:r>
              <a:rPr lang="en-US" sz="2400" dirty="0">
                <a:solidFill>
                  <a:schemeClr val="accent1">
                    <a:lumMod val="50000"/>
                  </a:schemeClr>
                </a:solidFill>
              </a:rPr>
              <a:t>(FBS)</a:t>
            </a:r>
            <a:r>
              <a:rPr lang="mn-MN" sz="2400" dirty="0">
                <a:solidFill>
                  <a:schemeClr val="accent1">
                    <a:lumMod val="50000"/>
                  </a:schemeClr>
                </a:solidFill>
              </a:rPr>
              <a:t> хоол, тэжээлийн илчлэгийн нийлүүлэлтийн дунджийг гаргана. </a:t>
            </a:r>
            <a:r>
              <a:rPr lang="mn-MN" sz="2000" b="1" dirty="0">
                <a:solidFill>
                  <a:schemeClr val="accent1">
                    <a:lumMod val="50000"/>
                  </a:schemeClr>
                </a:solidFill>
              </a:rPr>
              <a:t>Хамралтын асуудал </a:t>
            </a:r>
            <a:r>
              <a:rPr lang="en-US" sz="2000" dirty="0">
                <a:solidFill>
                  <a:schemeClr val="accent1">
                    <a:lumMod val="50000"/>
                  </a:schemeClr>
                </a:solidFill>
              </a:rPr>
              <a:t>(</a:t>
            </a:r>
            <a:r>
              <a:rPr lang="mn-MN" sz="2000" dirty="0">
                <a:solidFill>
                  <a:schemeClr val="accent1">
                    <a:lumMod val="50000"/>
                  </a:schemeClr>
                </a:solidFill>
              </a:rPr>
              <a:t>тухайлбал, арилжааны бус бүтээгдэхүүн, </a:t>
            </a:r>
            <a:r>
              <a:rPr lang="en-US" sz="2000" dirty="0">
                <a:solidFill>
                  <a:schemeClr val="accent1">
                    <a:lumMod val="50000"/>
                  </a:schemeClr>
                </a:solidFill>
              </a:rPr>
              <a:t> </a:t>
            </a:r>
            <a:r>
              <a:rPr lang="mn-MN" sz="2000" dirty="0">
                <a:solidFill>
                  <a:schemeClr val="accent1">
                    <a:lumMod val="50000"/>
                  </a:schemeClr>
                </a:solidFill>
              </a:rPr>
              <a:t>хаягдлын тооцоо</a:t>
            </a:r>
            <a:r>
              <a:rPr lang="en-US" sz="2000" dirty="0">
                <a:solidFill>
                  <a:schemeClr val="accent1">
                    <a:lumMod val="50000"/>
                  </a:schemeClr>
                </a:solidFill>
              </a:rPr>
              <a:t>)  </a:t>
            </a:r>
            <a:r>
              <a:rPr lang="mn-MN" sz="2000" dirty="0">
                <a:solidFill>
                  <a:schemeClr val="accent1">
                    <a:lumMod val="50000"/>
                  </a:schemeClr>
                </a:solidFill>
              </a:rPr>
              <a:t>гэх мэт</a:t>
            </a:r>
            <a:r>
              <a:rPr lang="en-US" sz="2000" dirty="0">
                <a:solidFill>
                  <a:schemeClr val="accent1">
                    <a:lumMod val="50000"/>
                  </a:schemeClr>
                </a:solidFill>
              </a:rPr>
              <a:t>), </a:t>
            </a:r>
            <a:r>
              <a:rPr lang="mn-MN" sz="2000" dirty="0">
                <a:solidFill>
                  <a:schemeClr val="accent1">
                    <a:lumMod val="50000"/>
                  </a:schemeClr>
                </a:solidFill>
              </a:rPr>
              <a:t>бодит байдал</a:t>
            </a:r>
            <a:r>
              <a:rPr lang="en-US" sz="2000" dirty="0">
                <a:solidFill>
                  <a:schemeClr val="accent1">
                    <a:lumMod val="50000"/>
                  </a:schemeClr>
                </a:solidFill>
              </a:rPr>
              <a:t> (</a:t>
            </a:r>
            <a:r>
              <a:rPr lang="mn-MN" sz="2000" dirty="0">
                <a:solidFill>
                  <a:schemeClr val="accent1">
                    <a:lumMod val="50000"/>
                  </a:schemeClr>
                </a:solidFill>
              </a:rPr>
              <a:t>мэдээ, тооцоонд хамрагдаагүй худалдаа, хувьцаа</a:t>
            </a:r>
            <a:r>
              <a:rPr lang="en-US" sz="2000" dirty="0">
                <a:solidFill>
                  <a:schemeClr val="accent1">
                    <a:lumMod val="50000"/>
                  </a:schemeClr>
                </a:solidFill>
              </a:rPr>
              <a:t>).</a:t>
            </a:r>
          </a:p>
          <a:p>
            <a:pPr marL="0" indent="0" algn="just">
              <a:buNone/>
            </a:pPr>
            <a:endParaRPr lang="it-IT" sz="2400" dirty="0">
              <a:solidFill>
                <a:schemeClr val="accent1">
                  <a:lumMod val="50000"/>
                </a:schemeClr>
              </a:solidFill>
            </a:endParaRPr>
          </a:p>
        </p:txBody>
      </p:sp>
    </p:spTree>
    <p:extLst>
      <p:ext uri="{BB962C8B-B14F-4D97-AF65-F5344CB8AC3E}">
        <p14:creationId xmlns:p14="http://schemas.microsoft.com/office/powerpoint/2010/main" val="4179117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876" y="111125"/>
            <a:ext cx="9265024" cy="1019175"/>
          </a:xfrm>
        </p:spPr>
        <p:txBody>
          <a:bodyPr>
            <a:normAutofit/>
          </a:bodyPr>
          <a:lstStyle/>
          <a:p>
            <a:r>
              <a:rPr lang="mn-MN" sz="4000" b="1" u="sng" dirty="0">
                <a:solidFill>
                  <a:schemeClr val="accent1">
                    <a:lumMod val="50000"/>
                  </a:schemeClr>
                </a:solidFill>
              </a:rPr>
              <a:t>Вариацын коэффицент </a:t>
            </a:r>
            <a:r>
              <a:rPr lang="en-US" sz="4000" b="1" u="sng" dirty="0">
                <a:solidFill>
                  <a:schemeClr val="accent1">
                    <a:lumMod val="50000"/>
                  </a:schemeClr>
                </a:solidFill>
              </a:rPr>
              <a:t>(CV)</a:t>
            </a:r>
            <a:endParaRPr lang="it-IT" sz="4000" b="1" u="sng" dirty="0">
              <a:solidFill>
                <a:schemeClr val="accent1">
                  <a:lumMod val="50000"/>
                </a:schemeClr>
              </a:solidFill>
            </a:endParaRPr>
          </a:p>
        </p:txBody>
      </p:sp>
      <p:sp>
        <p:nvSpPr>
          <p:cNvPr id="3" name="Content Placeholder 2"/>
          <p:cNvSpPr>
            <a:spLocks noGrp="1"/>
          </p:cNvSpPr>
          <p:nvPr>
            <p:ph idx="1"/>
          </p:nvPr>
        </p:nvSpPr>
        <p:spPr>
          <a:xfrm>
            <a:off x="2076076" y="1050924"/>
            <a:ext cx="9265024" cy="4841875"/>
          </a:xfrm>
        </p:spPr>
        <p:txBody>
          <a:bodyPr>
            <a:noAutofit/>
          </a:bodyPr>
          <a:lstStyle/>
          <a:p>
            <a:pPr marL="114300" indent="0" algn="just">
              <a:buNone/>
            </a:pPr>
            <a:r>
              <a:rPr lang="en-US" sz="2000" spc="-10" dirty="0">
                <a:solidFill>
                  <a:schemeClr val="accent1">
                    <a:lumMod val="50000"/>
                  </a:schemeClr>
                </a:solidFill>
              </a:rPr>
              <a:t>CV-</a:t>
            </a:r>
            <a:r>
              <a:rPr lang="mn-MN" sz="2000" spc="-10" dirty="0">
                <a:solidFill>
                  <a:schemeClr val="accent1">
                    <a:lumMod val="50000"/>
                  </a:schemeClr>
                </a:solidFill>
              </a:rPr>
              <a:t>г дараах байдлаар тооцно</a:t>
            </a:r>
            <a:r>
              <a:rPr lang="en-US" sz="2000" spc="-10" dirty="0">
                <a:solidFill>
                  <a:schemeClr val="accent1">
                    <a:lumMod val="50000"/>
                  </a:schemeClr>
                </a:solidFill>
              </a:rPr>
              <a:t>:</a:t>
            </a:r>
          </a:p>
          <a:p>
            <a:pPr marL="628650" indent="-514350" algn="just">
              <a:buFont typeface="+mj-lt"/>
              <a:buAutoNum type="arabicPeriod"/>
            </a:pPr>
            <a:r>
              <a:rPr lang="mn-MN" sz="2000" dirty="0">
                <a:solidFill>
                  <a:schemeClr val="accent1">
                    <a:lumMod val="50000"/>
                  </a:schemeClr>
                </a:solidFill>
              </a:rPr>
              <a:t>Хоол тэжээлийн илчлэгийн хэрэглээний </a:t>
            </a:r>
            <a:r>
              <a:rPr lang="en-US" sz="2000" dirty="0">
                <a:solidFill>
                  <a:schemeClr val="accent1">
                    <a:lumMod val="50000"/>
                  </a:schemeClr>
                </a:solidFill>
              </a:rPr>
              <a:t>CV-</a:t>
            </a:r>
            <a:r>
              <a:rPr lang="mn-MN" sz="2000" dirty="0">
                <a:solidFill>
                  <a:schemeClr val="accent1">
                    <a:lumMod val="50000"/>
                  </a:schemeClr>
                </a:solidFill>
              </a:rPr>
              <a:t>г  тусгайлсан хоол тэжээлийн хэрэглээний судалгаагаар гаргана. </a:t>
            </a:r>
          </a:p>
          <a:p>
            <a:pPr marL="1028700" lvl="1" indent="-457200" algn="just"/>
            <a:r>
              <a:rPr lang="mn-MN" sz="2000" dirty="0">
                <a:solidFill>
                  <a:schemeClr val="accent1">
                    <a:lumMod val="50000"/>
                  </a:schemeClr>
                </a:solidFill>
              </a:rPr>
              <a:t>Үндэсний болон бүс нутгийн түвшинд хүн амын бүлгээс төлөөлүүлсэн судалгааг ховор явуулдаг. </a:t>
            </a:r>
          </a:p>
          <a:p>
            <a:pPr marL="1028700" lvl="1" indent="-457200" algn="just"/>
            <a:r>
              <a:rPr lang="mn-MN" sz="2000" spc="-10" dirty="0">
                <a:solidFill>
                  <a:schemeClr val="accent1">
                    <a:lumMod val="50000"/>
                  </a:schemeClr>
                </a:solidFill>
              </a:rPr>
              <a:t>Хувь хүний өдөр тутмын хэрэглээний өөрчлөлтөөс шалтгаалсан   хэт хэлбэлзэл </a:t>
            </a:r>
          </a:p>
          <a:p>
            <a:pPr marL="628650" indent="-514350" algn="just">
              <a:buFont typeface="+mj-lt"/>
              <a:buAutoNum type="arabicPeriod"/>
            </a:pPr>
            <a:r>
              <a:rPr lang="mn-MN" sz="2000" dirty="0">
                <a:solidFill>
                  <a:schemeClr val="accent1">
                    <a:lumMod val="50000"/>
                  </a:schemeClr>
                </a:solidFill>
              </a:rPr>
              <a:t>Өрхийн хэрэглээ, зарлагын судалгаанаас </a:t>
            </a:r>
            <a:r>
              <a:rPr lang="en-US" sz="2000" dirty="0">
                <a:solidFill>
                  <a:schemeClr val="accent1">
                    <a:lumMod val="50000"/>
                  </a:schemeClr>
                </a:solidFill>
              </a:rPr>
              <a:t>(</a:t>
            </a:r>
            <a:r>
              <a:rPr lang="mn-MN" sz="2000" dirty="0">
                <a:solidFill>
                  <a:schemeClr val="accent1">
                    <a:lumMod val="50000"/>
                  </a:schemeClr>
                </a:solidFill>
              </a:rPr>
              <a:t>ӨХЗС</a:t>
            </a:r>
            <a:r>
              <a:rPr lang="en-US" sz="2000" dirty="0">
                <a:solidFill>
                  <a:schemeClr val="accent1">
                    <a:lumMod val="50000"/>
                  </a:schemeClr>
                </a:solidFill>
              </a:rPr>
              <a:t>)</a:t>
            </a:r>
            <a:r>
              <a:rPr lang="mn-MN" sz="2000" dirty="0">
                <a:solidFill>
                  <a:schemeClr val="accent1">
                    <a:lumMod val="50000"/>
                  </a:schemeClr>
                </a:solidFill>
              </a:rPr>
              <a:t> хоол тэжээлийн илчлэгийн хэрэглээний </a:t>
            </a:r>
            <a:r>
              <a:rPr lang="en-US" sz="2000" dirty="0">
                <a:solidFill>
                  <a:schemeClr val="accent1">
                    <a:lumMod val="50000"/>
                  </a:schemeClr>
                </a:solidFill>
              </a:rPr>
              <a:t>CV-</a:t>
            </a:r>
            <a:r>
              <a:rPr lang="mn-MN" sz="2000" dirty="0">
                <a:solidFill>
                  <a:schemeClr val="accent1">
                    <a:lumMod val="50000"/>
                  </a:schemeClr>
                </a:solidFill>
              </a:rPr>
              <a:t>г гаргана. </a:t>
            </a:r>
          </a:p>
          <a:p>
            <a:pPr lvl="2" algn="just"/>
            <a:r>
              <a:rPr lang="mn-MN" dirty="0">
                <a:solidFill>
                  <a:schemeClr val="accent1">
                    <a:lumMod val="50000"/>
                  </a:schemeClr>
                </a:solidFill>
              </a:rPr>
              <a:t>Судалгаанд өрх доторх өрхийн хоол хүнсний тархалтын талаарх мэдээлэл байхгүй</a:t>
            </a:r>
          </a:p>
          <a:p>
            <a:pPr lvl="2" algn="just"/>
            <a:r>
              <a:rPr lang="mn-MN" dirty="0">
                <a:solidFill>
                  <a:schemeClr val="accent1">
                    <a:lumMod val="50000"/>
                  </a:schemeClr>
                </a:solidFill>
              </a:rPr>
              <a:t>Хоол, хүнсний хэрэглээг  тооцож гаргахад чиглэгдээгүй, эдийн засгийн бодлогод шаардлагатай  мэдээллийг гаргах зорилгоор хийгддэг</a:t>
            </a:r>
          </a:p>
          <a:p>
            <a:pPr lvl="2" algn="just">
              <a:lnSpc>
                <a:spcPct val="100000"/>
              </a:lnSpc>
            </a:pPr>
            <a:r>
              <a:rPr lang="mn-MN" dirty="0">
                <a:solidFill>
                  <a:schemeClr val="accent1">
                    <a:lumMod val="50000"/>
                  </a:schemeClr>
                </a:solidFill>
              </a:rPr>
              <a:t>Хэт их, бага утга болон судалгааны дизайнаас шалтгаалсан хэт хэлбэлзэл  гардаг</a:t>
            </a:r>
            <a:endParaRPr lang="it-IT" dirty="0">
              <a:solidFill>
                <a:schemeClr val="accent1">
                  <a:lumMod val="50000"/>
                </a:schemeClr>
              </a:solidFill>
            </a:endParaRPr>
          </a:p>
        </p:txBody>
      </p:sp>
    </p:spTree>
    <p:extLst>
      <p:ext uri="{BB962C8B-B14F-4D97-AF65-F5344CB8AC3E}">
        <p14:creationId xmlns:p14="http://schemas.microsoft.com/office/powerpoint/2010/main" val="1407595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5"/>
            <a:ext cx="9760324" cy="1325563"/>
          </a:xfrm>
        </p:spPr>
        <p:txBody>
          <a:bodyPr>
            <a:normAutofit/>
          </a:bodyPr>
          <a:lstStyle/>
          <a:p>
            <a:r>
              <a:rPr lang="mn-MN" sz="3200" b="1" u="sng" dirty="0">
                <a:solidFill>
                  <a:schemeClr val="accent1">
                    <a:lumMod val="50000"/>
                  </a:schemeClr>
                </a:solidFill>
              </a:rPr>
              <a:t>Хоол, тэжээлээс авах шаардлагатай илчлэгийн  хамгийн бага утга </a:t>
            </a:r>
            <a:r>
              <a:rPr lang="en-US" sz="3200" b="1" u="sng" dirty="0">
                <a:solidFill>
                  <a:schemeClr val="accent1">
                    <a:lumMod val="50000"/>
                  </a:schemeClr>
                </a:solidFill>
              </a:rPr>
              <a:t>(MDER)</a:t>
            </a:r>
            <a:endParaRPr lang="it-IT" sz="3200" b="1" u="sng" dirty="0">
              <a:solidFill>
                <a:schemeClr val="accent1">
                  <a:lumMod val="50000"/>
                </a:schemeClr>
              </a:solidFill>
            </a:endParaRPr>
          </a:p>
        </p:txBody>
      </p:sp>
      <p:sp>
        <p:nvSpPr>
          <p:cNvPr id="3" name="Content Placeholder 2"/>
          <p:cNvSpPr>
            <a:spLocks noGrp="1"/>
          </p:cNvSpPr>
          <p:nvPr>
            <p:ph idx="1"/>
          </p:nvPr>
        </p:nvSpPr>
        <p:spPr>
          <a:xfrm>
            <a:off x="2114176" y="1665077"/>
            <a:ext cx="9265024" cy="3775286"/>
          </a:xfrm>
        </p:spPr>
        <p:txBody>
          <a:bodyPr/>
          <a:lstStyle/>
          <a:p>
            <a:pPr marL="0" indent="0" algn="just">
              <a:buNone/>
            </a:pPr>
            <a:r>
              <a:rPr lang="mn-MN" dirty="0">
                <a:solidFill>
                  <a:schemeClr val="accent1">
                    <a:lumMod val="50000"/>
                  </a:schemeClr>
                </a:solidFill>
              </a:rPr>
              <a:t>Хоол, тэжээлээс авах шаардлагатай илчлэгийн  хамгийн бага утгыг дараах байдлаар тооцно: </a:t>
            </a:r>
            <a:endParaRPr lang="it-IT" dirty="0">
              <a:solidFill>
                <a:schemeClr val="accent1">
                  <a:lumMod val="50000"/>
                </a:schemeClr>
              </a:solidFill>
            </a:endParaRPr>
          </a:p>
          <a:p>
            <a:pPr marL="1428750" lvl="2" indent="-514350" algn="just">
              <a:buFont typeface="+mj-lt"/>
              <a:buAutoNum type="arabicPeriod"/>
            </a:pPr>
            <a:r>
              <a:rPr lang="mn-MN" sz="2800" dirty="0">
                <a:solidFill>
                  <a:schemeClr val="accent1">
                    <a:lumMod val="50000"/>
                  </a:schemeClr>
                </a:solidFill>
              </a:rPr>
              <a:t>Хүн амын тоо, нас, хүйсээр</a:t>
            </a:r>
            <a:r>
              <a:rPr lang="it-IT" sz="2800" dirty="0">
                <a:solidFill>
                  <a:schemeClr val="accent1">
                    <a:lumMod val="50000"/>
                  </a:schemeClr>
                </a:solidFill>
              </a:rPr>
              <a:t>,</a:t>
            </a:r>
          </a:p>
          <a:p>
            <a:pPr marL="1428750" lvl="2" indent="-514350" algn="just">
              <a:buFont typeface="+mj-lt"/>
              <a:buAutoNum type="arabicPeriod"/>
            </a:pPr>
            <a:r>
              <a:rPr lang="mn-MN" sz="2800" dirty="0">
                <a:solidFill>
                  <a:schemeClr val="accent1">
                    <a:lumMod val="50000"/>
                  </a:schemeClr>
                </a:solidFill>
              </a:rPr>
              <a:t>Дундаж өндөр, нас, хүйс</a:t>
            </a:r>
            <a:r>
              <a:rPr lang="it-IT" sz="2800" dirty="0">
                <a:solidFill>
                  <a:schemeClr val="accent1">
                    <a:lumMod val="50000"/>
                  </a:schemeClr>
                </a:solidFill>
              </a:rPr>
              <a:t>,</a:t>
            </a:r>
          </a:p>
          <a:p>
            <a:pPr marL="1428750" lvl="2" indent="-514350" algn="just">
              <a:buFont typeface="+mj-lt"/>
              <a:buAutoNum type="arabicPeriod"/>
            </a:pPr>
            <a:r>
              <a:rPr lang="mn-MN" sz="2800" dirty="0">
                <a:solidFill>
                  <a:schemeClr val="accent1">
                    <a:lumMod val="50000"/>
                  </a:schemeClr>
                </a:solidFill>
              </a:rPr>
              <a:t>Биеийн жингийн индекс </a:t>
            </a:r>
            <a:r>
              <a:rPr lang="en-US" sz="2800" dirty="0">
                <a:solidFill>
                  <a:schemeClr val="accent1">
                    <a:lumMod val="50000"/>
                  </a:schemeClr>
                </a:solidFill>
              </a:rPr>
              <a:t>(BMI)-</a:t>
            </a:r>
            <a:r>
              <a:rPr lang="mn-MN" sz="2800" dirty="0">
                <a:solidFill>
                  <a:schemeClr val="accent1">
                    <a:lumMod val="50000"/>
                  </a:schemeClr>
                </a:solidFill>
              </a:rPr>
              <a:t>ийн олон улсын стандарт</a:t>
            </a:r>
            <a:r>
              <a:rPr lang="it-IT" sz="2800" dirty="0">
                <a:solidFill>
                  <a:schemeClr val="accent1">
                    <a:lumMod val="50000"/>
                  </a:schemeClr>
                </a:solidFill>
              </a:rPr>
              <a:t>,</a:t>
            </a:r>
          </a:p>
          <a:p>
            <a:pPr marL="1428750" lvl="2" indent="-514350" algn="just">
              <a:buFont typeface="+mj-lt"/>
              <a:buAutoNum type="arabicPeriod"/>
            </a:pPr>
            <a:r>
              <a:rPr lang="mn-MN" sz="2800" dirty="0">
                <a:solidFill>
                  <a:schemeClr val="accent1">
                    <a:lumMod val="50000"/>
                  </a:schemeClr>
                </a:solidFill>
              </a:rPr>
              <a:t>Хүн амын дундах  идэвхт хөдөлгөөний түвшин </a:t>
            </a:r>
            <a:endParaRPr lang="it-IT" sz="2800" dirty="0">
              <a:solidFill>
                <a:schemeClr val="accent1">
                  <a:lumMod val="50000"/>
                </a:schemeClr>
              </a:solidFill>
            </a:endParaRPr>
          </a:p>
        </p:txBody>
      </p:sp>
    </p:spTree>
    <p:extLst>
      <p:ext uri="{BB962C8B-B14F-4D97-AF65-F5344CB8AC3E}">
        <p14:creationId xmlns:p14="http://schemas.microsoft.com/office/powerpoint/2010/main" val="1613828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5"/>
            <a:ext cx="9265024" cy="701675"/>
          </a:xfrm>
        </p:spPr>
        <p:txBody>
          <a:bodyPr>
            <a:normAutofit/>
          </a:bodyPr>
          <a:lstStyle/>
          <a:p>
            <a:r>
              <a:rPr lang="en-US" sz="4000" b="1" u="sng" dirty="0" err="1">
                <a:solidFill>
                  <a:schemeClr val="accent1">
                    <a:lumMod val="50000"/>
                  </a:schemeClr>
                </a:solidFill>
              </a:rPr>
              <a:t>PoU</a:t>
            </a:r>
            <a:r>
              <a:rPr lang="mn-MN" sz="4000" b="1" u="sng" dirty="0">
                <a:solidFill>
                  <a:schemeClr val="accent1">
                    <a:lumMod val="50000"/>
                  </a:schemeClr>
                </a:solidFill>
              </a:rPr>
              <a:t> юуг хэмждэг вэ</a:t>
            </a:r>
            <a:endParaRPr lang="it-IT" sz="4000" b="1" u="sng" dirty="0">
              <a:solidFill>
                <a:schemeClr val="accent1">
                  <a:lumMod val="50000"/>
                </a:schemeClr>
              </a:solidFill>
            </a:endParaRPr>
          </a:p>
        </p:txBody>
      </p:sp>
      <p:sp>
        <p:nvSpPr>
          <p:cNvPr id="3" name="Content Placeholder 2"/>
          <p:cNvSpPr>
            <a:spLocks noGrp="1"/>
          </p:cNvSpPr>
          <p:nvPr>
            <p:ph idx="1"/>
          </p:nvPr>
        </p:nvSpPr>
        <p:spPr>
          <a:xfrm>
            <a:off x="2076076" y="1393825"/>
            <a:ext cx="9582524" cy="4351338"/>
          </a:xfrm>
        </p:spPr>
        <p:txBody>
          <a:bodyPr>
            <a:normAutofit/>
          </a:bodyPr>
          <a:lstStyle/>
          <a:p>
            <a:pPr lvl="0" algn="just"/>
            <a:r>
              <a:rPr lang="mn-MN" dirty="0">
                <a:solidFill>
                  <a:schemeClr val="accent1">
                    <a:lumMod val="50000"/>
                  </a:schemeClr>
                </a:solidFill>
              </a:rPr>
              <a:t>Хоол тэжээлийн дутагдал, өлсгөлөн гэсэн нэр томъёог ихэвчлэн хангалттай хоол хүнс авч чадахгүй байгаа хувь хүний хүнсний баталгаат бус байдал гэж тайлбарладаг</a:t>
            </a:r>
            <a:r>
              <a:rPr lang="en-US" dirty="0">
                <a:solidFill>
                  <a:schemeClr val="accent1">
                    <a:lumMod val="50000"/>
                  </a:schemeClr>
                </a:solidFill>
              </a:rPr>
              <a:t> (</a:t>
            </a:r>
            <a:r>
              <a:rPr lang="mn-MN" dirty="0">
                <a:solidFill>
                  <a:schemeClr val="accent1">
                    <a:lumMod val="50000"/>
                  </a:schemeClr>
                </a:solidFill>
              </a:rPr>
              <a:t>идэвхтэй, эрүүл амьдрахад шаардлагатай хоол, хүнс  </a:t>
            </a:r>
            <a:r>
              <a:rPr lang="en-US" dirty="0">
                <a:solidFill>
                  <a:schemeClr val="accent1">
                    <a:lumMod val="50000"/>
                  </a:schemeClr>
                </a:solidFill>
              </a:rPr>
              <a:t>)</a:t>
            </a:r>
            <a:endParaRPr lang="mn-MN" dirty="0">
              <a:solidFill>
                <a:schemeClr val="accent1">
                  <a:lumMod val="50000"/>
                </a:schemeClr>
              </a:solidFill>
            </a:endParaRPr>
          </a:p>
          <a:p>
            <a:r>
              <a:rPr lang="mn-MN" dirty="0">
                <a:solidFill>
                  <a:schemeClr val="accent1">
                    <a:lumMod val="50000"/>
                  </a:schemeClr>
                </a:solidFill>
              </a:rPr>
              <a:t>... гэхдээ үүний утга нь хэт өнгөц </a:t>
            </a:r>
          </a:p>
          <a:p>
            <a:pPr lvl="0" algn="just"/>
            <a:r>
              <a:rPr lang="mn-MN" dirty="0">
                <a:solidFill>
                  <a:schemeClr val="accent1">
                    <a:lumMod val="50000"/>
                  </a:schemeClr>
                </a:solidFill>
              </a:rPr>
              <a:t>НҮБ</a:t>
            </a:r>
            <a:r>
              <a:rPr lang="en-US" dirty="0">
                <a:solidFill>
                  <a:schemeClr val="accent1">
                    <a:lumMod val="50000"/>
                  </a:schemeClr>
                </a:solidFill>
              </a:rPr>
              <a:t>-</a:t>
            </a:r>
            <a:r>
              <a:rPr lang="mn-MN" dirty="0">
                <a:solidFill>
                  <a:schemeClr val="accent1">
                    <a:lumMod val="50000"/>
                  </a:schemeClr>
                </a:solidFill>
              </a:rPr>
              <a:t>ын ХХААБ</a:t>
            </a:r>
            <a:r>
              <a:rPr lang="en-US" dirty="0">
                <a:solidFill>
                  <a:schemeClr val="accent1">
                    <a:lumMod val="50000"/>
                  </a:schemeClr>
                </a:solidFill>
              </a:rPr>
              <a:t>-</a:t>
            </a:r>
            <a:r>
              <a:rPr lang="mn-MN" dirty="0">
                <a:solidFill>
                  <a:schemeClr val="accent1">
                    <a:lumMod val="50000"/>
                  </a:schemeClr>
                </a:solidFill>
              </a:rPr>
              <a:t>аас хоол тэжээлийн дутагдал нь хүнсний баталгаат бус байдлын аюултай хэлбэр бөгөөд энэ нь  илчлэгийн хэмжээ нь хангалттай ч  үндсэн хэрэгцээг дөнгөж хангаж байх үед  бий болж эхэлдэг гэж үздэг.  </a:t>
            </a:r>
          </a:p>
        </p:txBody>
      </p:sp>
    </p:spTree>
    <p:extLst>
      <p:ext uri="{BB962C8B-B14F-4D97-AF65-F5344CB8AC3E}">
        <p14:creationId xmlns:p14="http://schemas.microsoft.com/office/powerpoint/2010/main" val="311014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0676" y="152401"/>
            <a:ext cx="9265024" cy="990600"/>
          </a:xfrm>
        </p:spPr>
        <p:txBody>
          <a:bodyPr>
            <a:normAutofit/>
          </a:bodyPr>
          <a:lstStyle/>
          <a:p>
            <a:r>
              <a:rPr lang="en-US" sz="4000" b="1" u="sng" dirty="0" err="1">
                <a:solidFill>
                  <a:schemeClr val="accent1">
                    <a:lumMod val="50000"/>
                  </a:schemeClr>
                </a:solidFill>
              </a:rPr>
              <a:t>PoU</a:t>
            </a:r>
            <a:r>
              <a:rPr lang="mn-MN" sz="4000" b="1" u="sng" dirty="0">
                <a:solidFill>
                  <a:schemeClr val="accent1">
                    <a:lumMod val="50000"/>
                  </a:schemeClr>
                </a:solidFill>
              </a:rPr>
              <a:t> юуг хэмждэг вэ</a:t>
            </a:r>
            <a:endParaRPr lang="it-IT" sz="4000" b="1" u="sng" dirty="0"/>
          </a:p>
        </p:txBody>
      </p:sp>
      <p:sp>
        <p:nvSpPr>
          <p:cNvPr id="3" name="Content Placeholder 2"/>
          <p:cNvSpPr>
            <a:spLocks noGrp="1"/>
          </p:cNvSpPr>
          <p:nvPr>
            <p:ph idx="1"/>
          </p:nvPr>
        </p:nvSpPr>
        <p:spPr>
          <a:xfrm>
            <a:off x="2164976" y="1104900"/>
            <a:ext cx="9366624" cy="5092700"/>
          </a:xfrm>
        </p:spPr>
        <p:txBody>
          <a:bodyPr>
            <a:noAutofit/>
          </a:bodyPr>
          <a:lstStyle/>
          <a:p>
            <a:pPr lvl="1" algn="just"/>
            <a:r>
              <a:rPr lang="mn-MN" dirty="0">
                <a:solidFill>
                  <a:schemeClr val="accent1">
                    <a:lumMod val="50000"/>
                  </a:schemeClr>
                </a:solidFill>
              </a:rPr>
              <a:t>НҮБ</a:t>
            </a:r>
            <a:r>
              <a:rPr lang="en-US" dirty="0">
                <a:solidFill>
                  <a:schemeClr val="accent1">
                    <a:lumMod val="50000"/>
                  </a:schemeClr>
                </a:solidFill>
              </a:rPr>
              <a:t>-</a:t>
            </a:r>
            <a:r>
              <a:rPr lang="mn-MN" dirty="0">
                <a:solidFill>
                  <a:schemeClr val="accent1">
                    <a:lumMod val="50000"/>
                  </a:schemeClr>
                </a:solidFill>
              </a:rPr>
              <a:t>ын ХХААБ</a:t>
            </a:r>
            <a:r>
              <a:rPr lang="en-US" dirty="0">
                <a:solidFill>
                  <a:schemeClr val="accent1">
                    <a:lumMod val="50000"/>
                  </a:schemeClr>
                </a:solidFill>
              </a:rPr>
              <a:t>-</a:t>
            </a:r>
            <a:r>
              <a:rPr lang="mn-MN" dirty="0">
                <a:solidFill>
                  <a:schemeClr val="accent1">
                    <a:lumMod val="50000"/>
                  </a:schemeClr>
                </a:solidFill>
              </a:rPr>
              <a:t>аас хоол, тэжээлээс авсан илчлэгийн  хэмжээг ашиглан “Хоол хүнс хангалттай эсэх”</a:t>
            </a:r>
            <a:r>
              <a:rPr lang="en-US" dirty="0">
                <a:solidFill>
                  <a:schemeClr val="accent1">
                    <a:lumMod val="50000"/>
                  </a:schemeClr>
                </a:solidFill>
              </a:rPr>
              <a:t>-</a:t>
            </a:r>
            <a:r>
              <a:rPr lang="mn-MN" dirty="0">
                <a:solidFill>
                  <a:schemeClr val="accent1">
                    <a:lumMod val="50000"/>
                  </a:schemeClr>
                </a:solidFill>
              </a:rPr>
              <a:t>ийг хянадаг. Хэрэв  тухайн хүний хэрэглэж хэвшсэн хоол тэжээлээсээ авдаг илчлэгийн хэмжээ нь хоол тэжээлийн мэргэжилтнүүдийн зохистой гэж үзсэн хамгийн бага хэмжээнээс доогуур байвал хоол тэжээлийн дутагдалтай гэж үздэг. </a:t>
            </a:r>
          </a:p>
          <a:p>
            <a:pPr lvl="1" algn="just"/>
            <a:r>
              <a:rPr lang="mn-MN" dirty="0">
                <a:solidFill>
                  <a:schemeClr val="accent1">
                    <a:lumMod val="50000"/>
                  </a:schemeClr>
                </a:solidFill>
              </a:rPr>
              <a:t>НҮБ</a:t>
            </a:r>
            <a:r>
              <a:rPr lang="en-US" dirty="0">
                <a:solidFill>
                  <a:schemeClr val="accent1">
                    <a:lumMod val="50000"/>
                  </a:schemeClr>
                </a:solidFill>
              </a:rPr>
              <a:t>-</a:t>
            </a:r>
            <a:r>
              <a:rPr lang="mn-MN" dirty="0">
                <a:solidFill>
                  <a:schemeClr val="accent1">
                    <a:lumMod val="50000"/>
                  </a:schemeClr>
                </a:solidFill>
              </a:rPr>
              <a:t>ын ХХААБ</a:t>
            </a:r>
            <a:r>
              <a:rPr lang="en-US" dirty="0">
                <a:solidFill>
                  <a:schemeClr val="accent1">
                    <a:lumMod val="50000"/>
                  </a:schemeClr>
                </a:solidFill>
              </a:rPr>
              <a:t>-</a:t>
            </a:r>
            <a:r>
              <a:rPr lang="mn-MN" dirty="0">
                <a:solidFill>
                  <a:schemeClr val="accent1">
                    <a:lumMod val="50000"/>
                  </a:schemeClr>
                </a:solidFill>
              </a:rPr>
              <a:t>аас  архаг хоол тэжээлийн дутагдалд анхаарал хандуулах үүднээс “Тогтвортой бус байдал”</a:t>
            </a:r>
            <a:r>
              <a:rPr lang="en-US" dirty="0">
                <a:solidFill>
                  <a:schemeClr val="accent1">
                    <a:lumMod val="50000"/>
                  </a:schemeClr>
                </a:solidFill>
              </a:rPr>
              <a:t>-</a:t>
            </a:r>
            <a:r>
              <a:rPr lang="mn-MN" dirty="0">
                <a:solidFill>
                  <a:schemeClr val="accent1">
                    <a:lumMod val="50000"/>
                  </a:schemeClr>
                </a:solidFill>
              </a:rPr>
              <a:t>ыг жилийн турш хянадаг.  </a:t>
            </a:r>
            <a:r>
              <a:rPr lang="en-US" dirty="0">
                <a:solidFill>
                  <a:schemeClr val="accent1">
                    <a:lumMod val="50000"/>
                  </a:schemeClr>
                </a:solidFill>
              </a:rPr>
              <a:t>(</a:t>
            </a:r>
            <a:r>
              <a:rPr lang="mn-MN" dirty="0">
                <a:solidFill>
                  <a:schemeClr val="accent1">
                    <a:lumMod val="50000"/>
                  </a:schemeClr>
                </a:solidFill>
              </a:rPr>
              <a:t>хоол хүнсний бага хэрэглээ нь урт хугацаагаар  үргэлжлэх  нь  эрүүл мэндэд хортой</a:t>
            </a:r>
            <a:r>
              <a:rPr lang="en-US" dirty="0">
                <a:solidFill>
                  <a:schemeClr val="accent1">
                    <a:lumMod val="50000"/>
                  </a:schemeClr>
                </a:solidFill>
              </a:rPr>
              <a:t>)</a:t>
            </a:r>
            <a:r>
              <a:rPr lang="mn-MN" dirty="0">
                <a:solidFill>
                  <a:schemeClr val="accent1">
                    <a:lumMod val="50000"/>
                  </a:schemeClr>
                </a:solidFill>
              </a:rPr>
              <a:t> </a:t>
            </a:r>
          </a:p>
          <a:p>
            <a:pPr lvl="1" algn="just"/>
            <a:r>
              <a:rPr lang="mn-MN" dirty="0">
                <a:solidFill>
                  <a:schemeClr val="accent1">
                    <a:lumMod val="50000"/>
                  </a:schemeClr>
                </a:solidFill>
              </a:rPr>
              <a:t>Тухайн үеийн хүнсний дундаж хэрэглээг хоол хүнсний хэрэглээний хэвшсэн түвшин гэж үзнэ.</a:t>
            </a:r>
          </a:p>
          <a:p>
            <a:pPr lvl="2" algn="just"/>
            <a:r>
              <a:rPr lang="mn-MN" dirty="0">
                <a:solidFill>
                  <a:schemeClr val="accent1">
                    <a:lumMod val="50000"/>
                  </a:schemeClr>
                </a:solidFill>
              </a:rPr>
              <a:t>Жич</a:t>
            </a:r>
            <a:r>
              <a:rPr lang="en-US" dirty="0">
                <a:solidFill>
                  <a:schemeClr val="accent1">
                    <a:lumMod val="50000"/>
                  </a:schemeClr>
                </a:solidFill>
              </a:rPr>
              <a:t>: </a:t>
            </a:r>
            <a:r>
              <a:rPr lang="mn-MN" dirty="0">
                <a:solidFill>
                  <a:schemeClr val="accent1">
                    <a:lumMod val="50000"/>
                  </a:schemeClr>
                </a:solidFill>
              </a:rPr>
              <a:t>энэ нь түр зуурын хямралын үр нөлөө богино хугацаанд гарахгүй гэсэн утгатай </a:t>
            </a:r>
            <a:r>
              <a:rPr lang="en-US" dirty="0">
                <a:solidFill>
                  <a:schemeClr val="accent1">
                    <a:lumMod val="50000"/>
                  </a:schemeClr>
                </a:solidFill>
              </a:rPr>
              <a:t>(</a:t>
            </a:r>
            <a:r>
              <a:rPr lang="mn-MN" dirty="0">
                <a:solidFill>
                  <a:schemeClr val="accent1">
                    <a:lumMod val="50000"/>
                  </a:schemeClr>
                </a:solidFill>
              </a:rPr>
              <a:t>түр зуурын</a:t>
            </a:r>
            <a:r>
              <a:rPr lang="en-US" dirty="0">
                <a:solidFill>
                  <a:schemeClr val="accent1">
                    <a:lumMod val="50000"/>
                  </a:schemeClr>
                </a:solidFill>
              </a:rPr>
              <a:t>/</a:t>
            </a:r>
            <a:r>
              <a:rPr lang="mn-MN" dirty="0">
                <a:solidFill>
                  <a:schemeClr val="accent1">
                    <a:lumMod val="50000"/>
                  </a:schemeClr>
                </a:solidFill>
              </a:rPr>
              <a:t> хоол хүнсний цочмог дутагдал</a:t>
            </a:r>
            <a:r>
              <a:rPr lang="en-US" dirty="0">
                <a:solidFill>
                  <a:schemeClr val="accent1">
                    <a:lumMod val="50000"/>
                  </a:schemeClr>
                </a:solidFill>
              </a:rPr>
              <a:t>)</a:t>
            </a:r>
            <a:endParaRPr lang="it-IT" dirty="0">
              <a:solidFill>
                <a:schemeClr val="accent1">
                  <a:lumMod val="50000"/>
                </a:schemeClr>
              </a:solidFill>
            </a:endParaRPr>
          </a:p>
        </p:txBody>
      </p:sp>
    </p:spTree>
    <p:extLst>
      <p:ext uri="{BB962C8B-B14F-4D97-AF65-F5344CB8AC3E}">
        <p14:creationId xmlns:p14="http://schemas.microsoft.com/office/powerpoint/2010/main" val="2066658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5"/>
            <a:ext cx="9696824" cy="803275"/>
          </a:xfrm>
        </p:spPr>
        <p:txBody>
          <a:bodyPr>
            <a:normAutofit/>
          </a:bodyPr>
          <a:lstStyle/>
          <a:p>
            <a:r>
              <a:rPr lang="mn-MN" sz="3600" b="1" u="sng" dirty="0">
                <a:solidFill>
                  <a:schemeClr val="accent1">
                    <a:lumMod val="50000"/>
                  </a:schemeClr>
                </a:solidFill>
              </a:rPr>
              <a:t>Байнга тохиолддог  3 буруу  ойлголт</a:t>
            </a:r>
            <a:endParaRPr lang="en-US" sz="3600" b="1" u="sng" dirty="0">
              <a:solidFill>
                <a:schemeClr val="accent1">
                  <a:lumMod val="50000"/>
                </a:schemeClr>
              </a:solidFill>
            </a:endParaRPr>
          </a:p>
        </p:txBody>
      </p:sp>
      <p:sp>
        <p:nvSpPr>
          <p:cNvPr id="3" name="Content Placeholder 2"/>
          <p:cNvSpPr>
            <a:spLocks noGrp="1"/>
          </p:cNvSpPr>
          <p:nvPr>
            <p:ph idx="1"/>
          </p:nvPr>
        </p:nvSpPr>
        <p:spPr>
          <a:xfrm>
            <a:off x="2190376" y="1217975"/>
            <a:ext cx="9265024" cy="3841387"/>
          </a:xfrm>
        </p:spPr>
        <p:txBody>
          <a:bodyPr>
            <a:normAutofit/>
          </a:bodyPr>
          <a:lstStyle/>
          <a:p>
            <a:pPr marL="514350" indent="-514350" algn="just">
              <a:buFont typeface="+mj-lt"/>
              <a:buAutoNum type="arabicPeriod"/>
            </a:pPr>
            <a:r>
              <a:rPr lang="en-GB" dirty="0" err="1">
                <a:solidFill>
                  <a:schemeClr val="accent1">
                    <a:lumMod val="50000"/>
                  </a:schemeClr>
                </a:solidFill>
              </a:rPr>
              <a:t>PoU</a:t>
            </a:r>
            <a:r>
              <a:rPr lang="mn-MN" dirty="0">
                <a:solidFill>
                  <a:schemeClr val="accent1">
                    <a:lumMod val="50000"/>
                  </a:schemeClr>
                </a:solidFill>
              </a:rPr>
              <a:t> нь хоол, хүнсний хангамжийн үзүүлэлт биш юм.</a:t>
            </a:r>
            <a:endParaRPr lang="en-GB" dirty="0">
              <a:solidFill>
                <a:schemeClr val="accent1">
                  <a:lumMod val="50000"/>
                </a:schemeClr>
              </a:solidFill>
            </a:endParaRPr>
          </a:p>
          <a:p>
            <a:pPr marL="514350" indent="-514350" algn="just">
              <a:buFont typeface="+mj-lt"/>
              <a:buAutoNum type="arabicPeriod"/>
            </a:pPr>
            <a:r>
              <a:rPr lang="mn-MN" dirty="0">
                <a:solidFill>
                  <a:schemeClr val="accent1">
                    <a:lumMod val="50000"/>
                  </a:schemeClr>
                </a:solidFill>
              </a:rPr>
              <a:t>Хоол, тэжээлээс авах шаардлагатай илчлэгийн дундаж хэмжээг  хязгаарлах үзүүлэлтээр ашиглахгүй. </a:t>
            </a:r>
          </a:p>
          <a:p>
            <a:pPr marL="514350" indent="-514350" algn="just">
              <a:buFont typeface="+mj-lt"/>
              <a:buAutoNum type="arabicPeriod"/>
            </a:pPr>
            <a:r>
              <a:rPr lang="en-GB" dirty="0" err="1">
                <a:solidFill>
                  <a:schemeClr val="accent1">
                    <a:lumMod val="50000"/>
                  </a:schemeClr>
                </a:solidFill>
              </a:rPr>
              <a:t>PoU</a:t>
            </a:r>
            <a:r>
              <a:rPr lang="en-US" dirty="0">
                <a:solidFill>
                  <a:schemeClr val="accent1">
                    <a:lumMod val="50000"/>
                  </a:schemeClr>
                </a:solidFill>
              </a:rPr>
              <a:t>-</a:t>
            </a:r>
            <a:r>
              <a:rPr lang="mn-MN" dirty="0">
                <a:solidFill>
                  <a:schemeClr val="accent1">
                    <a:lumMod val="50000"/>
                  </a:schemeClr>
                </a:solidFill>
              </a:rPr>
              <a:t>гийн тооцоолол нь  хоол, хүнсний хэрэглээ нь тухайн өгөгдсөн босгоос доогуур гэж мэдээлсэн өрхийн тоонд үндэслэхгүй. </a:t>
            </a:r>
          </a:p>
          <a:p>
            <a:pPr marL="0" indent="0" algn="just">
              <a:buNone/>
            </a:pPr>
            <a:endParaRPr lang="en-GB" dirty="0">
              <a:solidFill>
                <a:schemeClr val="accent1">
                  <a:lumMod val="50000"/>
                </a:schemeClr>
              </a:solidFill>
            </a:endParaRPr>
          </a:p>
          <a:p>
            <a:pPr marL="514350" indent="-514350" algn="just">
              <a:buFont typeface="+mj-lt"/>
              <a:buAutoNum type="arabicPeriod"/>
            </a:pPr>
            <a:endParaRPr lang="en-US" dirty="0">
              <a:solidFill>
                <a:schemeClr val="accent1">
                  <a:lumMod val="50000"/>
                </a:schemeClr>
              </a:solidFill>
            </a:endParaRPr>
          </a:p>
        </p:txBody>
      </p:sp>
    </p:spTree>
    <p:extLst>
      <p:ext uri="{BB962C8B-B14F-4D97-AF65-F5344CB8AC3E}">
        <p14:creationId xmlns:p14="http://schemas.microsoft.com/office/powerpoint/2010/main" val="3519437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776" y="365125"/>
            <a:ext cx="9798424" cy="892175"/>
          </a:xfrm>
        </p:spPr>
        <p:txBody>
          <a:bodyPr>
            <a:normAutofit/>
          </a:bodyPr>
          <a:lstStyle/>
          <a:p>
            <a:r>
              <a:rPr lang="mn-MN" sz="4000" b="1" u="sng" dirty="0">
                <a:solidFill>
                  <a:schemeClr val="accent1">
                    <a:lumMod val="50000"/>
                  </a:schemeClr>
                </a:solidFill>
              </a:rPr>
              <a:t>Байнга тохиолддог 3 буруу ойлголт</a:t>
            </a:r>
            <a:endParaRPr lang="it-IT" sz="4000" b="1" u="sng" dirty="0">
              <a:solidFill>
                <a:schemeClr val="accent1">
                  <a:lumMod val="50000"/>
                </a:schemeClr>
              </a:solidFill>
            </a:endParaRPr>
          </a:p>
        </p:txBody>
      </p:sp>
      <p:sp>
        <p:nvSpPr>
          <p:cNvPr id="3" name="Content Placeholder 2"/>
          <p:cNvSpPr>
            <a:spLocks noGrp="1"/>
          </p:cNvSpPr>
          <p:nvPr>
            <p:ph idx="1"/>
          </p:nvPr>
        </p:nvSpPr>
        <p:spPr>
          <a:xfrm>
            <a:off x="2241176" y="1416585"/>
            <a:ext cx="9265024" cy="4587002"/>
          </a:xfrm>
        </p:spPr>
        <p:txBody>
          <a:bodyPr>
            <a:normAutofit fontScale="92500" lnSpcReduction="20000"/>
          </a:bodyPr>
          <a:lstStyle/>
          <a:p>
            <a:pPr marL="0" indent="0" algn="just">
              <a:buNone/>
            </a:pPr>
            <a:r>
              <a:rPr lang="mn-MN" dirty="0">
                <a:solidFill>
                  <a:schemeClr val="accent1">
                    <a:lumMod val="50000"/>
                  </a:schemeClr>
                </a:solidFill>
              </a:rPr>
              <a:t>Хүнсний хэрэглээг  яагаад параметр тархалтаар  таамаглах ёстой вэ?</a:t>
            </a:r>
            <a:endParaRPr lang="mn-MN" i="1" dirty="0">
              <a:solidFill>
                <a:schemeClr val="accent1">
                  <a:lumMod val="50000"/>
                </a:schemeClr>
              </a:solidFill>
              <a:latin typeface="Cambria" panose="02040503050406030204" pitchFamily="18" charset="0"/>
            </a:endParaRPr>
          </a:p>
          <a:p>
            <a:pPr marL="0" indent="0" algn="just">
              <a:buNone/>
            </a:pPr>
            <a:r>
              <a:rPr lang="mn-MN" i="1" dirty="0">
                <a:solidFill>
                  <a:schemeClr val="accent1">
                    <a:lumMod val="50000"/>
                  </a:schemeClr>
                </a:solidFill>
                <a:latin typeface="Cambria" panose="02040503050406030204" pitchFamily="18" charset="0"/>
              </a:rPr>
              <a:t>Хязгаар тавьдаг, хүн бүрээр тоолох шаардлагагүй арга, Түүврийн эмпирик тархалтыг яагаад авч үздэггүй вэ?</a:t>
            </a:r>
            <a:r>
              <a:rPr lang="en-US" i="1" dirty="0">
                <a:solidFill>
                  <a:schemeClr val="accent1">
                    <a:lumMod val="50000"/>
                  </a:schemeClr>
                </a:solidFill>
                <a:latin typeface="Cambria" panose="02040503050406030204" pitchFamily="18" charset="0"/>
              </a:rPr>
              <a:t> </a:t>
            </a:r>
            <a:r>
              <a:rPr lang="en-US" dirty="0">
                <a:solidFill>
                  <a:schemeClr val="accent1">
                    <a:lumMod val="50000"/>
                  </a:schemeClr>
                </a:solidFill>
                <a:latin typeface="Cambria" panose="02040503050406030204" pitchFamily="18" charset="0"/>
              </a:rPr>
              <a:t>[</a:t>
            </a:r>
            <a:r>
              <a:rPr lang="mn-MN" dirty="0">
                <a:solidFill>
                  <a:schemeClr val="accent1">
                    <a:lumMod val="50000"/>
                  </a:schemeClr>
                </a:solidFill>
                <a:latin typeface="Cambria" panose="02040503050406030204" pitchFamily="18" charset="0"/>
              </a:rPr>
              <a:t>Жишээ</a:t>
            </a:r>
            <a:r>
              <a:rPr lang="en-US" dirty="0">
                <a:solidFill>
                  <a:schemeClr val="accent1">
                    <a:lumMod val="50000"/>
                  </a:schemeClr>
                </a:solidFill>
                <a:latin typeface="Cambria" panose="02040503050406030204" pitchFamily="18" charset="0"/>
              </a:rPr>
              <a:t>: </a:t>
            </a:r>
            <a:r>
              <a:rPr lang="mn-MN" dirty="0">
                <a:solidFill>
                  <a:schemeClr val="accent1">
                    <a:lumMod val="50000"/>
                  </a:schemeClr>
                </a:solidFill>
                <a:latin typeface="Cambria" panose="02040503050406030204" pitchFamily="18" charset="0"/>
              </a:rPr>
              <a:t>Смит</a:t>
            </a:r>
            <a:r>
              <a:rPr lang="en-US" dirty="0">
                <a:solidFill>
                  <a:schemeClr val="accent1">
                    <a:lumMod val="50000"/>
                  </a:schemeClr>
                </a:solidFill>
                <a:latin typeface="Cambria" panose="02040503050406030204" pitchFamily="18" charset="0"/>
              </a:rPr>
              <a:t> 1999; IFPRI, 2006]</a:t>
            </a:r>
          </a:p>
          <a:p>
            <a:pPr marL="0" indent="0" algn="just">
              <a:buNone/>
            </a:pPr>
            <a:endParaRPr lang="en-US" dirty="0">
              <a:solidFill>
                <a:schemeClr val="accent1">
                  <a:lumMod val="50000"/>
                </a:schemeClr>
              </a:solidFill>
              <a:latin typeface="Cambria" panose="02040503050406030204" pitchFamily="18" charset="0"/>
            </a:endParaRPr>
          </a:p>
          <a:p>
            <a:pPr marL="0" lvl="0" indent="0" algn="just">
              <a:buNone/>
            </a:pPr>
            <a:r>
              <a:rPr lang="en-US" dirty="0" err="1">
                <a:solidFill>
                  <a:schemeClr val="accent1">
                    <a:lumMod val="50000"/>
                  </a:schemeClr>
                </a:solidFill>
              </a:rPr>
              <a:t>PoU</a:t>
            </a:r>
            <a:r>
              <a:rPr lang="mn-MN" dirty="0">
                <a:solidFill>
                  <a:schemeClr val="accent1">
                    <a:lumMod val="50000"/>
                  </a:schemeClr>
                </a:solidFill>
              </a:rPr>
              <a:t> нь</a:t>
            </a:r>
            <a:r>
              <a:rPr lang="en-US" dirty="0">
                <a:solidFill>
                  <a:schemeClr val="accent1">
                    <a:lumMod val="50000"/>
                  </a:schemeClr>
                </a:solidFill>
              </a:rPr>
              <a:t> </a:t>
            </a:r>
            <a:r>
              <a:rPr lang="mn-MN" dirty="0">
                <a:solidFill>
                  <a:schemeClr val="accent1">
                    <a:lumMod val="50000"/>
                  </a:schemeClr>
                </a:solidFill>
              </a:rPr>
              <a:t>хүн нэг бүрээр тоолж гаргах арга биш, өөрөөр хэлбэл, улсын хэмжээний хоол тэжээлийн дутагдлын тархалтыг  хүн амыг нь түүвэрлээд, хоол тэжээлийн дутагдалд орсон тохиолдлыг ялгаж, тоолоод  гэсэн  энгийн аргаар  гаргадаггүй. </a:t>
            </a:r>
          </a:p>
          <a:p>
            <a:pPr lvl="1" algn="just"/>
            <a:r>
              <a:rPr lang="mn-MN" dirty="0">
                <a:solidFill>
                  <a:schemeClr val="accent1">
                    <a:lumMod val="50000"/>
                  </a:schemeClr>
                </a:solidFill>
              </a:rPr>
              <a:t>Ерөнхийдөө,  энгийн процедуртай</a:t>
            </a:r>
          </a:p>
          <a:p>
            <a:pPr lvl="1" algn="just"/>
            <a:r>
              <a:rPr lang="mn-MN" dirty="0">
                <a:solidFill>
                  <a:schemeClr val="accent1">
                    <a:lumMod val="50000"/>
                  </a:schemeClr>
                </a:solidFill>
              </a:rPr>
              <a:t>Гэвч амьдрал дээр тооцоход хэцүү </a:t>
            </a:r>
            <a:endParaRPr lang="it-IT" dirty="0">
              <a:solidFill>
                <a:schemeClr val="accent1">
                  <a:lumMod val="50000"/>
                </a:schemeClr>
              </a:solidFill>
            </a:endParaRPr>
          </a:p>
          <a:p>
            <a:pPr lvl="2" algn="just"/>
            <a:r>
              <a:rPr lang="mn-MN" dirty="0">
                <a:solidFill>
                  <a:schemeClr val="accent1">
                    <a:lumMod val="50000"/>
                  </a:schemeClr>
                </a:solidFill>
              </a:rPr>
              <a:t>Хувь хүний хэрэглэж хэвшсэн хэрэглээг тогтоох, үнэлэх </a:t>
            </a:r>
          </a:p>
          <a:p>
            <a:pPr lvl="2" algn="just"/>
            <a:r>
              <a:rPr lang="mn-MN" dirty="0">
                <a:solidFill>
                  <a:schemeClr val="accent1">
                    <a:lumMod val="50000"/>
                  </a:schemeClr>
                </a:solidFill>
              </a:rPr>
              <a:t>Хувь хүний бодитоор авах шаардлагатай хэмжээг судлан тогтоох</a:t>
            </a:r>
            <a:endParaRPr lang="it-IT" dirty="0">
              <a:solidFill>
                <a:schemeClr val="accent1">
                  <a:lumMod val="50000"/>
                </a:schemeClr>
              </a:solidFill>
            </a:endParaRPr>
          </a:p>
        </p:txBody>
      </p:sp>
    </p:spTree>
    <p:extLst>
      <p:ext uri="{BB962C8B-B14F-4D97-AF65-F5344CB8AC3E}">
        <p14:creationId xmlns:p14="http://schemas.microsoft.com/office/powerpoint/2010/main" val="2718255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1651288"/>
            <a:ext cx="8737600" cy="3255530"/>
          </a:xfrm>
        </p:spPr>
        <p:txBody>
          <a:bodyPr>
            <a:normAutofit/>
          </a:bodyPr>
          <a:lstStyle/>
          <a:p>
            <a:pPr algn="ctr"/>
            <a:r>
              <a:rPr lang="mn-MN" sz="6000" b="1" i="1" dirty="0">
                <a:solidFill>
                  <a:schemeClr val="accent1">
                    <a:lumMod val="50000"/>
                  </a:schemeClr>
                </a:solidFill>
              </a:rPr>
              <a:t>Анхаарал тавьсанд баярлалаа</a:t>
            </a:r>
            <a:endParaRPr lang="en-US" sz="6000" b="1" i="1" dirty="0">
              <a:solidFill>
                <a:schemeClr val="accent1">
                  <a:lumMod val="50000"/>
                </a:schemeClr>
              </a:solidFill>
            </a:endParaRPr>
          </a:p>
        </p:txBody>
      </p:sp>
    </p:spTree>
    <p:extLst>
      <p:ext uri="{BB962C8B-B14F-4D97-AF65-F5344CB8AC3E}">
        <p14:creationId xmlns:p14="http://schemas.microsoft.com/office/powerpoint/2010/main" val="13725967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LATADDIN.CONTENTS.PAGE.COMPONENT.STATE.ENTIMAGE" val="&lt;?xml version=&quot;1.0&quot; encoding=&quot;utf-8&quot;?&gt;&#10;&lt;EntImage Tags=&quot;&quot; ExportFormat=&quot;PNG&quot; Compression=&quot;0&quot; /&gt;"/>
  <p:tag name="ELATADDIN.CONTENTS.PAGE.COMPONENT.ENTCOMPONENT" val="&lt;?xml version=&quot;1.0&quot; encoding=&quot;utf-8&quot;?&gt;&#10;&lt;EntComponent Id=&quot;290_75&quot;&gt;&#10;  &lt;Components /&gt;&#10;  &lt;States&gt;&#10;    &lt;State Id=&quot;364ba2ad-13eb-4bf4-9453-21fe34cc9143&quot; Label=&quot;Default&quot; X=&quot;946.968567&quot; Y=&quot;156.521576&quot; Width=&quot;142.162674&quot; Height=&quot;121.506538&quot; Visible=&quot;true&quot; TextAsImage=&quot;false&quot; HasEquation=&quot;false&quot; Required=&quot;true&quot; RotationAngle=&quot;0&quot;&gt;&#10;      &lt;Image Tags=&quot;&quot; ExportFormat=&quot;PNG&quot; Compression=&quot;0&quot; /&gt;&#10;      &lt;TextBoxes /&gt;&#10;    &lt;/State&gt;&#10;  &lt;/States&gt;&#10;  &lt;Actions /&gt;&#10;&lt;/EntComponent&gt;"/>
  <p:tag name="ELAT_SHAPE_COPY_CHEKER" val="290_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BE06FEB4A7C3C4EA18E596AA4A7A7C3" ma:contentTypeVersion="11" ma:contentTypeDescription="Creare un nuovo documento." ma:contentTypeScope="" ma:versionID="667ccbd3c74ce00ad7abbead1eaec61b">
  <xsd:schema xmlns:xsd="http://www.w3.org/2001/XMLSchema" xmlns:xs="http://www.w3.org/2001/XMLSchema" xmlns:p="http://schemas.microsoft.com/office/2006/metadata/properties" xmlns:ns3="dcd14a01-78ad-4e23-8249-c08fce1d3cd6" xmlns:ns4="a6d7e239-f0cf-4c81-a912-f788c612f727" targetNamespace="http://schemas.microsoft.com/office/2006/metadata/properties" ma:root="true" ma:fieldsID="eeaa25204af0a870d5e36957960a0b4a" ns3:_="" ns4:_="">
    <xsd:import namespace="dcd14a01-78ad-4e23-8249-c08fce1d3cd6"/>
    <xsd:import namespace="a6d7e239-f0cf-4c81-a912-f788c612f72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d14a01-78ad-4e23-8249-c08fce1d3cd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d7e239-f0cf-4c81-a912-f788c612f727" elementFormDefault="qualified">
    <xsd:import namespace="http://schemas.microsoft.com/office/2006/documentManagement/types"/>
    <xsd:import namespace="http://schemas.microsoft.com/office/infopath/2007/PartnerControls"/>
    <xsd:element name="SharedWithUsers" ma:index="13"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Condiviso con dettagli" ma:internalName="SharedWithDetails" ma:readOnly="true">
      <xsd:simpleType>
        <xsd:restriction base="dms:Note">
          <xsd:maxLength value="255"/>
        </xsd:restriction>
      </xsd:simpleType>
    </xsd:element>
    <xsd:element name="SharingHintHash" ma:index="15"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8F198C-4230-4D52-B31B-85555B34581E}">
  <ds:schemaRefs>
    <ds:schemaRef ds:uri="http://schemas.microsoft.com/sharepoint/v3/contenttype/forms"/>
  </ds:schemaRefs>
</ds:datastoreItem>
</file>

<file path=customXml/itemProps2.xml><?xml version="1.0" encoding="utf-8"?>
<ds:datastoreItem xmlns:ds="http://schemas.openxmlformats.org/officeDocument/2006/customXml" ds:itemID="{03FA1F3E-D746-4B38-A8AC-A74FDCEE98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d14a01-78ad-4e23-8249-c08fce1d3cd6"/>
    <ds:schemaRef ds:uri="a6d7e239-f0cf-4c81-a912-f788c612f7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C63158-52C8-4CBA-8F75-5D84E054D439}">
  <ds:schemaRefs>
    <ds:schemaRef ds:uri="http://schemas.microsoft.com/office/2006/documentManagement/types"/>
    <ds:schemaRef ds:uri="http://purl.org/dc/terms/"/>
    <ds:schemaRef ds:uri="http://schemas.microsoft.com/office/2006/metadata/properties"/>
    <ds:schemaRef ds:uri="http://schemas.openxmlformats.org/package/2006/metadata/core-properties"/>
    <ds:schemaRef ds:uri="http://schemas.microsoft.com/office/infopath/2007/PartnerControls"/>
    <ds:schemaRef ds:uri="dcd14a01-78ad-4e23-8249-c08fce1d3cd6"/>
    <ds:schemaRef ds:uri="http://purl.org/dc/elements/1.1/"/>
    <ds:schemaRef ds:uri="a6d7e239-f0cf-4c81-a912-f788c612f72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9154</TotalTime>
  <Words>3124</Words>
  <Application>Microsoft Office PowerPoint</Application>
  <PresentationFormat>Widescreen</PresentationFormat>
  <Paragraphs>186</Paragraphs>
  <Slides>24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vt:lpstr>
      <vt:lpstr>Cambria Math</vt:lpstr>
      <vt:lpstr>Office Theme</vt:lpstr>
      <vt:lpstr>Хоол тэжээлийн дутагдлын тархалт (PoU)</vt:lpstr>
      <vt:lpstr>Зорилго</vt:lpstr>
      <vt:lpstr>PoU үзүүлэлт:</vt:lpstr>
      <vt:lpstr>PoU-гийн үүсэл</vt:lpstr>
      <vt:lpstr>PoU-гийн үүсэл</vt:lpstr>
      <vt:lpstr>PoU-гийн үүсэл</vt:lpstr>
      <vt:lpstr>PoU-гийн үүсэл</vt:lpstr>
      <vt:lpstr>Хоол, тэжээлийн илчлэгийн хэрэглээ, шаардлага</vt:lpstr>
      <vt:lpstr>Хоол тэжээлийн илчлэгийн хэрэглээ (DEI)</vt:lpstr>
      <vt:lpstr>Хоол тэжээлээс авах шаардлагатай илчлэгийн хэмжээ (DER)</vt:lpstr>
      <vt:lpstr>Магадлалт тархалтын хүрээ</vt:lpstr>
      <vt:lpstr>Хоол тэжээлээс авах шаардлагатай илчлэгийн магадлалт тархалт</vt:lpstr>
      <vt:lpstr>Хоол тэжээлийн илчлэгийн хэрэглээний  магадлалт тархалт</vt:lpstr>
      <vt:lpstr>PoU=∫2_(x&lt;MDER)^ ▒f(x|DEC;CV)dx</vt:lpstr>
      <vt:lpstr>Тодорхойлолт</vt:lpstr>
      <vt:lpstr>PoU-гийн үндсэн элементүүд</vt:lpstr>
      <vt:lpstr>Хоол тэжээлийн илчлэгийн хэрэглээний дундаж (DEC)</vt:lpstr>
      <vt:lpstr>Вариацын коэффицент (CV)</vt:lpstr>
      <vt:lpstr>Хоол, тэжээлээс авах шаардлагатай илчлэгийн  хамгийн бага утга (MDER)</vt:lpstr>
      <vt:lpstr>PoU юуг хэмждэг вэ</vt:lpstr>
      <vt:lpstr>PoU юуг хэмждэг вэ</vt:lpstr>
      <vt:lpstr>Байнга тохиолддог  3 буруу  ойлголт</vt:lpstr>
      <vt:lpstr>Байнга тохиолддог 3 буруу ойлголт</vt:lpstr>
      <vt:lpstr>Анхаарал тавьсанд баярлалаа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FAO methodology to estimate the Prevalence of Undernourishment</dc:title>
  <dc:creator>Filippo Gheri</dc:creator>
  <cp:lastModifiedBy>Myagmarkhand</cp:lastModifiedBy>
  <cp:revision>262</cp:revision>
  <dcterms:created xsi:type="dcterms:W3CDTF">2017-04-20T14:04:06Z</dcterms:created>
  <dcterms:modified xsi:type="dcterms:W3CDTF">2019-11-03T09:47:20Z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0x010100ABE06FEB4A7C3C4EA18E596AA4A7A7C3</vt:lpwstr>
  </property>
</Properties>
</file>